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145cdb55374c04" /><Relationship Type="http://schemas.openxmlformats.org/officeDocument/2006/relationships/extended-properties" Target="/docProps/app.xml" Id="Re09bb2ab1acc4c18" /><Relationship Type="http://schemas.openxmlformats.org/officeDocument/2006/relationships/officeDocument" Target="/ppt/presentation.xml" Id="R5fe73d590b2045b1" /></Relationships>
</file>

<file path=ppt/presentation.xml><?xml version="1.0" encoding="utf-8"?>
<p:presentation xmlns:p="http://schemas.openxmlformats.org/presentationml/2006/main">
  <p:sldMasterIdLst>
    <p:sldMasterId xmlns:r="http://schemas.openxmlformats.org/officeDocument/2006/relationships" id="2147483648" r:id="R4a9c38db36ab4f54"/>
  </p:sldMasterIdLst>
  <p:notesMasterIdLst>
    <p:notesMasterId xmlns:r="http://schemas.openxmlformats.org/officeDocument/2006/relationships" r:id="R105a785ea4674d87"/>
  </p:notesMasterIdLst>
  <p:sldIdLst>
    <p:sldId xmlns:r="http://schemas.openxmlformats.org/officeDocument/2006/relationships" id="256" r:id="R3daacd0ac0c04b85"/>
    <p:sldId xmlns:r="http://schemas.openxmlformats.org/officeDocument/2006/relationships" id="257" r:id="R9d1dd8eb22ac4245"/>
    <p:sldId xmlns:r="http://schemas.openxmlformats.org/officeDocument/2006/relationships" id="258" r:id="Rab7c88783dd643e8"/>
    <p:sldId xmlns:r="http://schemas.openxmlformats.org/officeDocument/2006/relationships" id="259" r:id="R18af2e24442045de"/>
    <p:sldId xmlns:r="http://schemas.openxmlformats.org/officeDocument/2006/relationships" id="260" r:id="R3390e2ddbc3243c2"/>
    <p:sldId xmlns:r="http://schemas.openxmlformats.org/officeDocument/2006/relationships" id="261" r:id="R7310093f4b024878"/>
    <p:sldId xmlns:r="http://schemas.openxmlformats.org/officeDocument/2006/relationships" id="262" r:id="R0c4a475eaa6d4aec"/>
    <p:sldId xmlns:r="http://schemas.openxmlformats.org/officeDocument/2006/relationships" id="263" r:id="R049966d3ecf44e4e"/>
    <p:sldId xmlns:r="http://schemas.openxmlformats.org/officeDocument/2006/relationships" id="264" r:id="R7fb812c3f8234b94"/>
    <p:sldId xmlns:r="http://schemas.openxmlformats.org/officeDocument/2006/relationships" id="265" r:id="R52b74ae9762c4960"/>
    <p:sldId xmlns:r="http://schemas.openxmlformats.org/officeDocument/2006/relationships" id="266" r:id="R7d4494fc627f4645"/>
    <p:sldId xmlns:r="http://schemas.openxmlformats.org/officeDocument/2006/relationships" id="267" r:id="R9dae6ac2becf4062"/>
    <p:sldId xmlns:r="http://schemas.openxmlformats.org/officeDocument/2006/relationships" id="268" r:id="R82079b8b73c14e7c"/>
    <p:sldId xmlns:r="http://schemas.openxmlformats.org/officeDocument/2006/relationships" id="269" r:id="R127cca21fad344a9"/>
    <p:sldId xmlns:r="http://schemas.openxmlformats.org/officeDocument/2006/relationships" id="270" r:id="R6908e06259a644da"/>
    <p:sldId xmlns:r="http://schemas.openxmlformats.org/officeDocument/2006/relationships" id="271" r:id="R74aa3602eb2e4a11"/>
    <p:sldId xmlns:r="http://schemas.openxmlformats.org/officeDocument/2006/relationships" id="272" r:id="R446662f6d1ae4c0c"/>
    <p:sldId xmlns:r="http://schemas.openxmlformats.org/officeDocument/2006/relationships" id="273" r:id="Rcc067a73c5004afa"/>
    <p:sldId xmlns:r="http://schemas.openxmlformats.org/officeDocument/2006/relationships" id="274" r:id="R1e49120c02b74e9d"/>
    <p:sldId xmlns:r="http://schemas.openxmlformats.org/officeDocument/2006/relationships" id="275" r:id="Rf3ba640a0316450e"/>
    <p:sldId xmlns:r="http://schemas.openxmlformats.org/officeDocument/2006/relationships" id="276" r:id="R40c2c1d612b94e84"/>
    <p:sldId xmlns:r="http://schemas.openxmlformats.org/officeDocument/2006/relationships" id="277" r:id="R1d9e1bb9d7b0477c"/>
    <p:sldId xmlns:r="http://schemas.openxmlformats.org/officeDocument/2006/relationships" id="278" r:id="R37f419b77f494d20"/>
    <p:sldId xmlns:r="http://schemas.openxmlformats.org/officeDocument/2006/relationships" id="279" r:id="R2a82101c8db04f13"/>
    <p:sldId xmlns:r="http://schemas.openxmlformats.org/officeDocument/2006/relationships" id="280" r:id="R4a927b068cfe489d"/>
    <p:sldId xmlns:r="http://schemas.openxmlformats.org/officeDocument/2006/relationships" id="281" r:id="R81c6217057854a58"/>
    <p:sldId xmlns:r="http://schemas.openxmlformats.org/officeDocument/2006/relationships" id="282" r:id="R010f2efb355148bc"/>
    <p:sldId xmlns:r="http://schemas.openxmlformats.org/officeDocument/2006/relationships" id="283" r:id="R12d52cca45f64bf2"/>
    <p:sldId xmlns:r="http://schemas.openxmlformats.org/officeDocument/2006/relationships" id="284" r:id="R852effac2f62498c"/>
    <p:sldId xmlns:r="http://schemas.openxmlformats.org/officeDocument/2006/relationships" id="285" r:id="R36fe0021971440d1"/>
    <p:sldId xmlns:r="http://schemas.openxmlformats.org/officeDocument/2006/relationships" id="286" r:id="R00dfa71f685c49ab"/>
    <p:sldId xmlns:r="http://schemas.openxmlformats.org/officeDocument/2006/relationships" id="287" r:id="Rb01a95647b47458b"/>
    <p:sldId xmlns:r="http://schemas.openxmlformats.org/officeDocument/2006/relationships" id="288" r:id="R426e0578ce44475e"/>
    <p:sldId xmlns:r="http://schemas.openxmlformats.org/officeDocument/2006/relationships" id="289" r:id="Rc827d209317a4b0b"/>
    <p:sldId xmlns:r="http://schemas.openxmlformats.org/officeDocument/2006/relationships" id="290" r:id="Re72c5bc2073a4aa1"/>
    <p:sldId xmlns:r="http://schemas.openxmlformats.org/officeDocument/2006/relationships" id="291" r:id="R7a00a5a9171e4df2"/>
    <p:sldId xmlns:r="http://schemas.openxmlformats.org/officeDocument/2006/relationships" id="292" r:id="Ra7685208a5274e4a"/>
    <p:sldId xmlns:r="http://schemas.openxmlformats.org/officeDocument/2006/relationships" id="293" r:id="R35d7d42565da42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333cf6f3d74468" /><Relationship Type="http://schemas.openxmlformats.org/officeDocument/2006/relationships/slideMaster" Target="/ppt/slideMasters/slideMaster1.xml" Id="R4a9c38db36ab4f54" /><Relationship Type="http://schemas.openxmlformats.org/officeDocument/2006/relationships/notesMaster" Target="/ppt/notesMasters/notesMaster1.xml" Id="R105a785ea4674d87" /><Relationship Type="http://schemas.openxmlformats.org/officeDocument/2006/relationships/presProps" Target="/ppt/presProps.xml" Id="R33b9de92288a4085" /><Relationship Type="http://schemas.openxmlformats.org/officeDocument/2006/relationships/tableStyles" Target="/ppt/tableStyles.xml" Id="R3d23bd0fa0c04a29" /><Relationship Type="http://schemas.openxmlformats.org/officeDocument/2006/relationships/slide" Target="/ppt/slides/slide1.xml" Id="R3daacd0ac0c04b85" /><Relationship Type="http://schemas.openxmlformats.org/officeDocument/2006/relationships/slide" Target="/ppt/slides/slide2.xml" Id="R9d1dd8eb22ac4245" /><Relationship Type="http://schemas.openxmlformats.org/officeDocument/2006/relationships/slide" Target="/ppt/slides/slide3.xml" Id="Rab7c88783dd643e8" /><Relationship Type="http://schemas.openxmlformats.org/officeDocument/2006/relationships/slide" Target="/ppt/slides/slide4.xml" Id="R18af2e24442045de" /><Relationship Type="http://schemas.openxmlformats.org/officeDocument/2006/relationships/slide" Target="/ppt/slides/slide5.xml" Id="R3390e2ddbc3243c2" /><Relationship Type="http://schemas.openxmlformats.org/officeDocument/2006/relationships/slide" Target="/ppt/slides/slide6.xml" Id="R7310093f4b024878" /><Relationship Type="http://schemas.openxmlformats.org/officeDocument/2006/relationships/slide" Target="/ppt/slides/slide7.xml" Id="R0c4a475eaa6d4aec" /><Relationship Type="http://schemas.openxmlformats.org/officeDocument/2006/relationships/slide" Target="/ppt/slides/slide8.xml" Id="R049966d3ecf44e4e" /><Relationship Type="http://schemas.openxmlformats.org/officeDocument/2006/relationships/slide" Target="/ppt/slides/slide9.xml" Id="R7fb812c3f8234b94" /><Relationship Type="http://schemas.openxmlformats.org/officeDocument/2006/relationships/slide" Target="/ppt/slides/slide10.xml" Id="R52b74ae9762c4960" /><Relationship Type="http://schemas.openxmlformats.org/officeDocument/2006/relationships/slide" Target="/ppt/slides/slide11.xml" Id="R7d4494fc627f4645" /><Relationship Type="http://schemas.openxmlformats.org/officeDocument/2006/relationships/slide" Target="/ppt/slides/slide12.xml" Id="R9dae6ac2becf4062" /><Relationship Type="http://schemas.openxmlformats.org/officeDocument/2006/relationships/slide" Target="/ppt/slides/slide13.xml" Id="R82079b8b73c14e7c" /><Relationship Type="http://schemas.openxmlformats.org/officeDocument/2006/relationships/slide" Target="/ppt/slides/slide14.xml" Id="R127cca21fad344a9" /><Relationship Type="http://schemas.openxmlformats.org/officeDocument/2006/relationships/slide" Target="/ppt/slides/slide15.xml" Id="R6908e06259a644da" /><Relationship Type="http://schemas.openxmlformats.org/officeDocument/2006/relationships/slide" Target="/ppt/slides/slide16.xml" Id="R74aa3602eb2e4a11" /><Relationship Type="http://schemas.openxmlformats.org/officeDocument/2006/relationships/slide" Target="/ppt/slides/slide17.xml" Id="R446662f6d1ae4c0c" /><Relationship Type="http://schemas.openxmlformats.org/officeDocument/2006/relationships/slide" Target="/ppt/slides/slide18.xml" Id="Rcc067a73c5004afa" /><Relationship Type="http://schemas.openxmlformats.org/officeDocument/2006/relationships/slide" Target="/ppt/slides/slide19.xml" Id="R1e49120c02b74e9d" /><Relationship Type="http://schemas.openxmlformats.org/officeDocument/2006/relationships/slide" Target="/ppt/slides/slide20.xml" Id="Rf3ba640a0316450e" /><Relationship Type="http://schemas.openxmlformats.org/officeDocument/2006/relationships/slide" Target="/ppt/slides/slide21.xml" Id="R40c2c1d612b94e84" /><Relationship Type="http://schemas.openxmlformats.org/officeDocument/2006/relationships/slide" Target="/ppt/slides/slide22.xml" Id="R1d9e1bb9d7b0477c" /><Relationship Type="http://schemas.openxmlformats.org/officeDocument/2006/relationships/slide" Target="/ppt/slides/slide23.xml" Id="R37f419b77f494d20" /><Relationship Type="http://schemas.openxmlformats.org/officeDocument/2006/relationships/slide" Target="/ppt/slides/slide24.xml" Id="R2a82101c8db04f13" /><Relationship Type="http://schemas.openxmlformats.org/officeDocument/2006/relationships/slide" Target="/ppt/slides/slide25.xml" Id="R4a927b068cfe489d" /><Relationship Type="http://schemas.openxmlformats.org/officeDocument/2006/relationships/slide" Target="/ppt/slides/slide26.xml" Id="R81c6217057854a58" /><Relationship Type="http://schemas.openxmlformats.org/officeDocument/2006/relationships/slide" Target="/ppt/slides/slide27.xml" Id="R010f2efb355148bc" /><Relationship Type="http://schemas.openxmlformats.org/officeDocument/2006/relationships/slide" Target="/ppt/slides/slide28.xml" Id="R12d52cca45f64bf2" /><Relationship Type="http://schemas.openxmlformats.org/officeDocument/2006/relationships/slide" Target="/ppt/slides/slide29.xml" Id="R852effac2f62498c" /><Relationship Type="http://schemas.openxmlformats.org/officeDocument/2006/relationships/slide" Target="/ppt/slides/slide30.xml" Id="R36fe0021971440d1" /><Relationship Type="http://schemas.openxmlformats.org/officeDocument/2006/relationships/slide" Target="/ppt/slides/slide31.xml" Id="R00dfa71f685c49ab" /><Relationship Type="http://schemas.openxmlformats.org/officeDocument/2006/relationships/slide" Target="/ppt/slides/slide32.xml" Id="Rb01a95647b47458b" /><Relationship Type="http://schemas.openxmlformats.org/officeDocument/2006/relationships/slide" Target="/ppt/slides/slide33.xml" Id="R426e0578ce44475e" /><Relationship Type="http://schemas.openxmlformats.org/officeDocument/2006/relationships/slide" Target="/ppt/slides/slide34.xml" Id="Rc827d209317a4b0b" /><Relationship Type="http://schemas.openxmlformats.org/officeDocument/2006/relationships/slide" Target="/ppt/slides/slide35.xml" Id="Re72c5bc2073a4aa1" /><Relationship Type="http://schemas.openxmlformats.org/officeDocument/2006/relationships/slide" Target="/ppt/slides/slide36.xml" Id="R7a00a5a9171e4df2" /><Relationship Type="http://schemas.openxmlformats.org/officeDocument/2006/relationships/slide" Target="/ppt/slides/slide37.xml" Id="Ra7685208a5274e4a" /><Relationship Type="http://schemas.openxmlformats.org/officeDocument/2006/relationships/slide" Target="/ppt/slides/slide38.xml" Id="R35d7d42565da42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784faccb2c42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07b056d1c342c6" /><Relationship Type="http://schemas.openxmlformats.org/officeDocument/2006/relationships/notesMaster" Target="/ppt/notesMasters/notesMaster1.xml" Id="R0ee8cab1e26c4c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be8a23b6044dbe" /><Relationship Type="http://schemas.openxmlformats.org/officeDocument/2006/relationships/notesMaster" Target="/ppt/notesMasters/notesMaster1.xml" Id="R7586ee49b8ad43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b97251c13b4c19" /><Relationship Type="http://schemas.openxmlformats.org/officeDocument/2006/relationships/notesMaster" Target="/ppt/notesMasters/notesMaster1.xml" Id="R64ff963d1c104a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05cf66f0e6472c" /><Relationship Type="http://schemas.openxmlformats.org/officeDocument/2006/relationships/notesMaster" Target="/ppt/notesMasters/notesMaster1.xml" Id="Rb1fde4e778a34c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bb2eda3b044a07" /><Relationship Type="http://schemas.openxmlformats.org/officeDocument/2006/relationships/notesMaster" Target="/ppt/notesMasters/notesMaster1.xml" Id="Rce8a6679bf304e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3e5f947ec84ac4" /><Relationship Type="http://schemas.openxmlformats.org/officeDocument/2006/relationships/notesMaster" Target="/ppt/notesMasters/notesMaster1.xml" Id="R85ceb8cfe74846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7af6fb52044c0e" /><Relationship Type="http://schemas.openxmlformats.org/officeDocument/2006/relationships/notesMaster" Target="/ppt/notesMasters/notesMaster1.xml" Id="R7547519666874f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a2af9490aa4566" /><Relationship Type="http://schemas.openxmlformats.org/officeDocument/2006/relationships/notesMaster" Target="/ppt/notesMasters/notesMaster1.xml" Id="Red02d05d78bf4f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b144227850415a" /><Relationship Type="http://schemas.openxmlformats.org/officeDocument/2006/relationships/notesMaster" Target="/ppt/notesMasters/notesMaster1.xml" Id="R9df2095363984b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d09ce576714151" /><Relationship Type="http://schemas.openxmlformats.org/officeDocument/2006/relationships/notesMaster" Target="/ppt/notesMasters/notesMaster1.xml" Id="R47c6bb77eb9647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2868457c514d38" /><Relationship Type="http://schemas.openxmlformats.org/officeDocument/2006/relationships/notesMaster" Target="/ppt/notesMasters/notesMaster1.xml" Id="R98a0625fbe334a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7b0025658e4695" /><Relationship Type="http://schemas.openxmlformats.org/officeDocument/2006/relationships/notesMaster" Target="/ppt/notesMasters/notesMaster1.xml" Id="R328877576a0644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bdfe16c04c48e3" /><Relationship Type="http://schemas.openxmlformats.org/officeDocument/2006/relationships/notesMaster" Target="/ppt/notesMasters/notesMaster1.xml" Id="R48c198600b8e45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dbef1c686a4f4c" /><Relationship Type="http://schemas.openxmlformats.org/officeDocument/2006/relationships/notesMaster" Target="/ppt/notesMasters/notesMaster1.xml" Id="Raffe3c35d72146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fe3d5e5a0848d5" /><Relationship Type="http://schemas.openxmlformats.org/officeDocument/2006/relationships/notesMaster" Target="/ppt/notesMasters/notesMaster1.xml" Id="R3859e024bb94464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684f162b3c4569" /><Relationship Type="http://schemas.openxmlformats.org/officeDocument/2006/relationships/notesMaster" Target="/ppt/notesMasters/notesMaster1.xml" Id="Rca0fa7a5a22347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eaea081985453b" /><Relationship Type="http://schemas.openxmlformats.org/officeDocument/2006/relationships/notesMaster" Target="/ppt/notesMasters/notesMaster1.xml" Id="Rd2847187226548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e2e149393e4fdb" /><Relationship Type="http://schemas.openxmlformats.org/officeDocument/2006/relationships/notesMaster" Target="/ppt/notesMasters/notesMaster1.xml" Id="R933219b5e18949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7323a1825344c4" /><Relationship Type="http://schemas.openxmlformats.org/officeDocument/2006/relationships/notesMaster" Target="/ppt/notesMasters/notesMaster1.xml" Id="Rbb0e0a645d2f4e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39a4f2440c4a33" /><Relationship Type="http://schemas.openxmlformats.org/officeDocument/2006/relationships/notesMaster" Target="/ppt/notesMasters/notesMaster1.xml" Id="Re5243a04051742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8c302b1a234820" /><Relationship Type="http://schemas.openxmlformats.org/officeDocument/2006/relationships/notesMaster" Target="/ppt/notesMasters/notesMaster1.xml" Id="R4570b628d82746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96956b8c5d4da6" /><Relationship Type="http://schemas.openxmlformats.org/officeDocument/2006/relationships/notesMaster" Target="/ppt/notesMasters/notesMaster1.xml" Id="Rad06ca9a47da43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8ca1b0c49b408d" /><Relationship Type="http://schemas.openxmlformats.org/officeDocument/2006/relationships/notesMaster" Target="/ppt/notesMasters/notesMaster1.xml" Id="R9f768acd2f1746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e7fc39096d4a5b" /><Relationship Type="http://schemas.openxmlformats.org/officeDocument/2006/relationships/notesMaster" Target="/ppt/notesMasters/notesMaster1.xml" Id="Rbc0881320fb4483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3110821e67d4abe" /><Relationship Type="http://schemas.openxmlformats.org/officeDocument/2006/relationships/notesMaster" Target="/ppt/notesMasters/notesMaster1.xml" Id="R86d0b1f2f95a49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69778d251d4e3e" /><Relationship Type="http://schemas.openxmlformats.org/officeDocument/2006/relationships/notesMaster" Target="/ppt/notesMasters/notesMaster1.xml" Id="Rc0c5b423dec247a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8564e758c149c8" /><Relationship Type="http://schemas.openxmlformats.org/officeDocument/2006/relationships/notesMaster" Target="/ppt/notesMasters/notesMaster1.xml" Id="Rfe24861bfcfa4f2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79f16a5dc8c4d45" /><Relationship Type="http://schemas.openxmlformats.org/officeDocument/2006/relationships/notesMaster" Target="/ppt/notesMasters/notesMaster1.xml" Id="R971c93748e2a45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47be0aee3574f8d" /><Relationship Type="http://schemas.openxmlformats.org/officeDocument/2006/relationships/notesMaster" Target="/ppt/notesMasters/notesMaster1.xml" Id="R61ae9f32bbc040e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27a94d266f84a38" /><Relationship Type="http://schemas.openxmlformats.org/officeDocument/2006/relationships/notesMaster" Target="/ppt/notesMasters/notesMaster1.xml" Id="R336ab4fde22d472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7d17f76288b4edc" /><Relationship Type="http://schemas.openxmlformats.org/officeDocument/2006/relationships/notesMaster" Target="/ppt/notesMasters/notesMaster1.xml" Id="Rfcf9f4c998d646c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d610e738b6f4b23" /><Relationship Type="http://schemas.openxmlformats.org/officeDocument/2006/relationships/notesMaster" Target="/ppt/notesMasters/notesMaster1.xml" Id="R6c25cd1c93c641c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da9a05780e94b9c" /><Relationship Type="http://schemas.openxmlformats.org/officeDocument/2006/relationships/notesMaster" Target="/ppt/notesMasters/notesMaster1.xml" Id="R8862e91d3b294eb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cf41ae8b986421f" /><Relationship Type="http://schemas.openxmlformats.org/officeDocument/2006/relationships/notesMaster" Target="/ppt/notesMasters/notesMaster1.xml" Id="R5db00dd4dc774c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33c8ab9dbdc433a" /><Relationship Type="http://schemas.openxmlformats.org/officeDocument/2006/relationships/notesMaster" Target="/ppt/notesMasters/notesMaster1.xml" Id="Rf822d6a8c8e2434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647c07f4b8d4107" /><Relationship Type="http://schemas.openxmlformats.org/officeDocument/2006/relationships/notesMaster" Target="/ppt/notesMasters/notesMaster1.xml" Id="R799b55a943e14df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2ffef55bbc940a4" /><Relationship Type="http://schemas.openxmlformats.org/officeDocument/2006/relationships/notesMaster" Target="/ppt/notesMasters/notesMaster1.xml" Id="Rd4983d4853bc4ac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af52e35862c4bae" /><Relationship Type="http://schemas.openxmlformats.org/officeDocument/2006/relationships/notesMaster" Target="/ppt/notesMasters/notesMaster1.xml" Id="R9a63359f532843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S01 complex numbers and phase. Allow two sessions of about 60 minutes, or one extended session with a break after slide 17. The 28 core slides cover linear algebra needed for qubit simulation. Four appendices supply notation, a proof, practice answers and run commands. Define each new symbol before using it. QuTiP stays the simulation framework. Formulas are compiled from LaTeX and embedded as rendered images; formulas.tex and Markdown retain the editable equation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each component to S01 scalar complex numbers. C denotes the complex numbers, and the superscript 2 by 1 describes the shape. Order matters: exchanging entries generally changes the vector. A ket notation such as |psi&gt; names a vector in an abstract Hilbert space; its displayed components depend on the chosen basis. In NumPy a one-dimensional array has shape (2,), so use an explicit column shape when comparing with QuTiP full(), whose ket shape is (2,1).</a:t>
            </a:r>
          </a:p>
          <a:p xmlns:a="http://schemas.openxmlformats.org/drawingml/2006/main">
            <a:r>
              <a:t/>
            </a:r>
          </a:p>
          <a:p xmlns:a="http://schemas.openxmlformats.org/drawingml/2006/main">
            <a:r>
              <a:t>LaTeX:</a:t>
            </a:r>
          </a:p>
          <a:p xmlns:a="http://schemas.openxmlformats.org/drawingml/2006/main">
            <a:r>
              <a:t>v=\begin{pmatrix}v_1\\v_2\end{pmatrix}\in\mathbb C^{2\times1},\qquad v_1,v_2\in\mathbb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m as the number of matrix rows and n as columns. Show a 2 by 2 matrix acting on a two-component column. Each output is a sum over the shared index j. This is a linear map: A(cu+dv)=cAu+dAv for complex scalars c and d. Matrix multiplication is not entrywise multiplication. In NumPy use @ for the linear-algebra product. In QuTiP, multiplication between Qobj instances uses *. This difference is revisited in the code walkthrough.</a:t>
            </a:r>
          </a:p>
          <a:p xmlns:a="http://schemas.openxmlformats.org/drawingml/2006/main">
            <a:r>
              <a:t/>
            </a:r>
          </a:p>
          <a:p xmlns:a="http://schemas.openxmlformats.org/drawingml/2006/main">
            <a:r>
              <a:t>LaTeX:</a:t>
            </a:r>
          </a:p>
          <a:p xmlns:a="http://schemas.openxmlformats.org/drawingml/2006/main">
            <a:r>
              <a:t>A\in\mathbb C^{m\times n},\quad v\in\mathbb C^{n\times1},\quad Av\in\mathbb C^{m\times1}\\[12pt](Av)_i=\sum_{j=1}^{n}A_{ij}v_j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1. Use |i|²=1 from S01. A raw vector is not automatically a normalized state. Dividing by sqrt(2) leaves relative phase and component ratios intact while setting total squared magnitude to one. This example anticipates the formal inner-product norm in slide 8. Ask learners to check the two squared magnitudes separately. A zero vector has norm zero, so division is undefined. QuTiP .unit() and a NumPy division by the norm are numerical counterparts for a nonzero vector.</a:t>
            </a:r>
          </a:p>
          <a:p xmlns:a="http://schemas.openxmlformats.org/drawingml/2006/main">
            <a:r>
              <a:t/>
            </a:r>
          </a:p>
          <a:p xmlns:a="http://schemas.openxmlformats.org/drawingml/2006/main">
            <a:r>
              <a:t>LaTeX:</a:t>
            </a:r>
          </a:p>
          <a:p xmlns:a="http://schemas.openxmlformats.org/drawingml/2006/main">
            <a:r>
              <a:t>v=\begin{pmatrix}1\\ i\end{pmatrix},\qquad \|v\|=\sqrt{|1|^2+|i|^2}=\sqrt2\\[12pt]u=\frac{v}{\|v\|}=\frac1{\sqrt2}\begin{pmatrix}1\\ i\end{pmatrix},\qquad\|u\|=1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component magnitudes, not coordinates of a real two-dimensional arrow. The vector in Example 1 has complex entries 1 and i. Its two magnitudes are both one before normalization and 1/sqrt(2) afterward. The relative phase remains pi/2. Bars are deterministic values, not measurement samples. Ask learners to square and sum the bars. Source: plot_illustrations.py, normalization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superscript T means transpose. Here A* means entrywise complex conjugation and dagger means conjugate transpose. This convention must be stated because some texts use a star for the adjoint. In NumPy use A.conj().T; A.T alone is insufficient for complex data. In QuTiP use A.dag(). The adjoint reverses multiplication order. A column becomes a row, enabling a scalar inner product. In Dirac notation the adjoint of a ket is a bra.</a:t>
            </a:r>
          </a:p>
          <a:p xmlns:a="http://schemas.openxmlformats.org/drawingml/2006/main">
            <a:r>
              <a:t/>
            </a:r>
          </a:p>
          <a:p xmlns:a="http://schemas.openxmlformats.org/drawingml/2006/main">
            <a:r>
              <a:t>LaTeX:</a:t>
            </a:r>
          </a:p>
          <a:p xmlns:a="http://schemas.openxmlformats.org/drawingml/2006/main">
            <a:r>
              <a:t>v=\begin{pmatrix}1\\i\end{pmatrix},\quad v^{\mathsf T}=\begin{pmatrix}1&amp;i\end{pmatrix},\quad v^\dagger=\begin{pmatrix}1&amp;-i\end{pmatrix}\\[12pt]A^\dagger=(A^*)^{\mathsf T},\qquad (AB)^\dagger=B^\dagger A^\dagger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physicists’ convention: the first argument is conjugate linear and the second is linear. Conjugation is essential to get a nonnegative self-inner-product. Orthogonal means u†v=0. Zero vectors are orthogonal algebraically but do not represent normalized quantum states. In NumPy, np.vdot(u,v) conjugates the first flattened argument; use it for vector inputs here. Do not call np.dot a complex inner product without explicitly conjugating its first argument.</a:t>
            </a:r>
          </a:p>
          <a:p xmlns:a="http://schemas.openxmlformats.org/drawingml/2006/main">
            <a:r>
              <a:t/>
            </a:r>
          </a:p>
          <a:p xmlns:a="http://schemas.openxmlformats.org/drawingml/2006/main">
            <a:r>
              <a:t>LaTeX:</a:t>
            </a:r>
          </a:p>
          <a:p xmlns:a="http://schemas.openxmlformats.org/drawingml/2006/main">
            <a:r>
              <a:t>\langle u,v\rangle=u^\dagger v=\sum_{j=1}^{n}u_j^*v_j\\[12pt]\langle v,u\rangle=\langle u,v\rangle^*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formula is Cauchy–Schwarz. It ensures |u†v|²&lt;=1 for normalized vectors and supports probability interpretations. Norm zero occurs only for the zero vector. A normalized overlap is an amplitude; its squared magnitude can become a measurement probability in the appropriate rank-one projection setting. The norm defined here is the vector 2-norm. Later validation uses the Frobenius norm for matrices, which should be named separately.</a:t>
            </a:r>
          </a:p>
          <a:p xmlns:a="http://schemas.openxmlformats.org/drawingml/2006/main">
            <a:r>
              <a:t/>
            </a:r>
          </a:p>
          <a:p xmlns:a="http://schemas.openxmlformats.org/drawingml/2006/main">
            <a:r>
              <a:t>LaTeX:</a:t>
            </a:r>
          </a:p>
          <a:p xmlns:a="http://schemas.openxmlformats.org/drawingml/2006/main">
            <a:r>
              <a:t>\|v\|^2=\langle v,v\rangle=\sum_j|v_j|^2\geq0\\[12pt]|\langle u,v\rangle|\leq\|u\|\,\|v\|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2. Write u†=(1,−i)/sqrt(2) explicitly before multiplying. The two terms cancel. Without conjugation u transpose times v equals i, which falsely reports nonorthogonality. This is a concrete reason for the dagger. Ask students to compute v†u as a second check. It is the conjugate of zero and is still zero. examples.py checks this independent hand calculation and the unit norms.</a:t>
            </a:r>
          </a:p>
          <a:p xmlns:a="http://schemas.openxmlformats.org/drawingml/2006/main">
            <a:r>
              <a:t/>
            </a:r>
          </a:p>
          <a:p xmlns:a="http://schemas.openxmlformats.org/drawingml/2006/main">
            <a:r>
              <a:t>LaTeX:</a:t>
            </a:r>
          </a:p>
          <a:p xmlns:a="http://schemas.openxmlformats.org/drawingml/2006/main">
            <a:r>
              <a:t>u=\frac1{\sqrt2}\begin{pmatrix}1\\ i\end{pmatrix},\quad v=\frac1{\sqrt2}\begin{pmatrix}i\\1\end{pmatrix}\\[12pt]u^\dagger v=\frac12\bigl(1\cdot i+(-i)\cdot1\bigr)=0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multiplication shapes. The same vectors in reversed order produce different objects: u†v is 1 by 1 while uv† is n by n. A rank-one outer product need not be Hermitian unless the two vectors coincide up to suitable factors. For unit u, P=uu† maps w to u(u†w), extracting the coefficient in the direction u. This linear operator is a projector. np.outer(u,u.conj()) is the explicit NumPy form for one-dimensional inputs.</a:t>
            </a:r>
          </a:p>
          <a:p xmlns:a="http://schemas.openxmlformats.org/drawingml/2006/main">
            <a:r>
              <a:t/>
            </a:r>
          </a:p>
          <a:p xmlns:a="http://schemas.openxmlformats.org/drawingml/2006/main">
            <a:r>
              <a:t>LaTeX:</a:t>
            </a:r>
          </a:p>
          <a:p xmlns:a="http://schemas.openxmlformats.org/drawingml/2006/main">
            <a:r>
              <a:t>u\in\mathbb C^{n\times1},\quad v^\dagger\in\mathbb C^{1\times n}\\[12pt]uv^\dagger\in\mathbb C^{n\times n},\qquad (uv^\dagger)_{ij}=u_i v_j^*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3. Use the u and v from slide 9. Expand the outer product entry by entry, including i times −i =1. Show P²= u(u†u)u†=uu† because u is normalized. Show Pv=u(u†v)=0 using the prior calculation. The diagonal entries sum to one. A normalized pure-state density matrix also has the form uu†; S08 develops that interpretation. Here the focus is shape, Hermiticity and idempotence.</a:t>
            </a:r>
          </a:p>
          <a:p xmlns:a="http://schemas.openxmlformats.org/drawingml/2006/main">
            <a:r>
              <a:t/>
            </a:r>
          </a:p>
          <a:p xmlns:a="http://schemas.openxmlformats.org/drawingml/2006/main">
            <a:r>
              <a:t>LaTeX:</a:t>
            </a:r>
          </a:p>
          <a:p xmlns:a="http://schemas.openxmlformats.org/drawingml/2006/main">
            <a:r>
              <a:t>P=uu^\dagger=\frac12\begin{pmatrix}1&amp;-i\\i&amp;1\end{pmatrix}\\[12pt]P^\dagger=P,\quad P^2=P,\quad Pu=u,\quad Pv=0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additional real-coordinate example, not a plot of the complex vector u from Example 3. Use u=(1,1)/sqrt(2), w=(2,1), and P=uu transpose, giving P=[[1,1],[1,1]]/2. The output is (1.5,1.5). The residual (0.5,−0.5) has zero dot product with the line direction. Projecting again changes nothing, showing idempotence geometrically. Source: plot_illustrations.py, projection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examples Z and Y are Pauli operators. Hermitian does not mean every entry is real: the imaginary off-diagonal entries of Y demonstrate this. For a finite complex Hermitian matrix the spectral theorem supplies a complete orthonormal eigenbasis with real eigenvalues. Quantum observables use Hermitian operators in this finite-dimensional course. Avoid introducing infinite-dimensional domain issues here. Validate with A.conj().T or Qobj.dag(), not with transpose alone.</a:t>
            </a:r>
          </a:p>
          <a:p xmlns:a="http://schemas.openxmlformats.org/drawingml/2006/main">
            <a:r>
              <a:t/>
            </a:r>
          </a:p>
          <a:p xmlns:a="http://schemas.openxmlformats.org/drawingml/2006/main">
            <a:r>
              <a:t>LaTeX:</a:t>
            </a:r>
          </a:p>
          <a:p xmlns:a="http://schemas.openxmlformats.org/drawingml/2006/main">
            <a:r>
              <a:t>A^\dagger=A\\[12pt]Z=\begin{pmatrix}1&amp;0\\0&amp;-1\end{pmatrix},\qquad Y=\begin{pmatrix}0&amp;-i\\i&amp;0\end{pmatrix}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adjoint of a scalar is its conjugate. Reverse product order and use the fact that the adjoint of v† is v. Hermiticity then makes a equal to a*. Normalization is not needed for the algebraic reality claim, but it is needed for the stated expectation interpretation without dividing by v†v. An expectation is an average, and does not have to equal an eigenvalue. Tiny computed imaginary residues may result from roundoff; inspect their size before discarding them.</a:t>
            </a:r>
          </a:p>
          <a:p xmlns:a="http://schemas.openxmlformats.org/drawingml/2006/main">
            <a:r>
              <a:t/>
            </a:r>
          </a:p>
          <a:p xmlns:a="http://schemas.openxmlformats.org/drawingml/2006/main">
            <a:r>
              <a:t>LaTeX:</a:t>
            </a:r>
          </a:p>
          <a:p xmlns:a="http://schemas.openxmlformats.org/drawingml/2006/main">
            <a:r>
              <a:t>a=v^\dagger Av\\[10pt]a^*=(v^\dagger Av)^\dagger=v^\dagger A^\dagger v=v^\dagger 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square-matrix assumption is important for the inverse statement. For a square matrix, U†U=I implies UU†=I as well. Substituting u=v gives norm preservation. Unitary evolution therefore preserves normalization of closed-system states. Rectangular matrices can satisfy U†U=I without being invertible on the larger space; those are isometries and are outside this slide’s definition. Later gate matrices are unitary.</a:t>
            </a:r>
          </a:p>
          <a:p xmlns:a="http://schemas.openxmlformats.org/drawingml/2006/main">
            <a:r>
              <a:t/>
            </a:r>
          </a:p>
          <a:p xmlns:a="http://schemas.openxmlformats.org/drawingml/2006/main">
            <a:r>
              <a:t>LaTeX:</a:t>
            </a:r>
          </a:p>
          <a:p xmlns:a="http://schemas.openxmlformats.org/drawingml/2006/main">
            <a:r>
              <a:t>U^\dagger U=I,\qquad U^{-1}=U^\dagger\\[12pt]\langle Uu,Uv\rangle=u^\dagger U^\dagger Uv=u^\dagger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R=[[cos(phi),−sin(phi)],[sin(phi),cos(phi)]] with phi=pi/4. Since R is real, its adjoint is its transpose, and R transpose R=I. The unit circle illustrates norm preservation. This is not the complex X rotation introduced later, and the arrows do not depict a general complex two-component state. Show how a general unitary preserves inner products as well as this one norm. Source: plot_illustrations.py, unitarity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examples instead of conflating the two properties. Z is both, which can mislead beginners if it is the only example shown. The real scalar multiple 2Z remains Hermitian but stretches every vector norm by two. The phase-diagonal U is unitary for every real theta; it is Hermitian only when sin(theta)=0. There is no general implication from one property to the other. Ask learners to explain each conclusion using the defining product or adjoint rather than appearance.</a:t>
            </a:r>
          </a:p>
          <a:p xmlns:a="http://schemas.openxmlformats.org/drawingml/2006/main">
            <a:r>
              <a:t/>
            </a:r>
          </a:p>
          <a:p xmlns:a="http://schemas.openxmlformats.org/drawingml/2006/main">
            <a:r>
              <a:t>LaTeX:</a:t>
            </a:r>
          </a:p>
          <a:p xmlns:a="http://schemas.openxmlformats.org/drawingml/2006/main">
            <a:r>
              <a:t>Z^\dagger=Z,\quad Z^\dagger Z=I\\[10pt](2Z)^\dagger=2Z,\quad (2Z)^\dagger(2Z)=4I\\[10pt]U=\operatorname{diag}(e^{-i\theta},e^{i\theta}),\quad U^\dagger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eigenvector must be nonzero or every lambda would satisfy the equation trivially. For a finite square matrix, a nonzero solution exists when A−lambda I is singular. For a general matrix eigenvalues may be complex and a full basis of eigenvectors may not exist. Hermitian matrices avoid that defect. An eigenvector is defined up to nonzero scalar scaling, and a normalized eigenvector still has arbitrary unit global phase. Compare eigenvectors with this freedom in mind.</a:t>
            </a:r>
          </a:p>
          <a:p xmlns:a="http://schemas.openxmlformats.org/drawingml/2006/main">
            <a:r>
              <a:t/>
            </a:r>
          </a:p>
          <a:p xmlns:a="http://schemas.openxmlformats.org/drawingml/2006/main">
            <a:r>
              <a:t>LaTeX:</a:t>
            </a:r>
          </a:p>
          <a:p xmlns:a="http://schemas.openxmlformats.org/drawingml/2006/main">
            <a:r>
              <a:t>Av=\lambda v,\qquad v\neq0\\[12pt](A-\lambda I)v=0,\qquad \det(A-\lambda I)=0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 exploits the Hermitian problem and returns real eigenvalues within numerical precision. The eigenvectors are columns, not rows. Confirm the residual A@Q−Q@diag(values) and Q†Q−I. Degeneracy means the basis within a repeated-eigenvalue subspace is not unique. Even nondegenerate eigenvectors can differ by a unit phase. Do not grade eigenvectors by exact component equality. A matrix accidentally made non-Hermitian should not be passed blindly to eigh; check A≈A† first.</a:t>
            </a:r>
          </a:p>
          <a:p xmlns:a="http://schemas.openxmlformats.org/drawingml/2006/main">
            <a:r>
              <a:t/>
            </a:r>
          </a:p>
          <a:p xmlns:a="http://schemas.openxmlformats.org/drawingml/2006/main">
            <a:r>
              <a:t>LaTeX:</a:t>
            </a:r>
          </a:p>
          <a:p xmlns:a="http://schemas.openxmlformats.org/drawingml/2006/main">
            <a:r>
              <a:t>AQ=Q\Lambda,\qquad Q^\dagger Q=I,\qquad \Lambda=\operatorname{diag}(\lambda_1,\ldots,\lambda_n)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 Q Lambda Q† by columns to obtain the sum. Completeness of the orthonormal basis gives the identity resolution. For a degenerate eigenvalue one may combine its rank-one terms into a projector onto the whole eigenspace; the combined projector is independent of the chosen basis. The Hermitian assumption provides a unitary Q. A general diagonalizable matrix instead has a potentially nonunitary inverse, and a defective matrix does not admit this eigenvector expansion.</a:t>
            </a:r>
          </a:p>
          <a:p xmlns:a="http://schemas.openxmlformats.org/drawingml/2006/main">
            <a:r>
              <a:t/>
            </a:r>
          </a:p>
          <a:p xmlns:a="http://schemas.openxmlformats.org/drawingml/2006/main">
            <a:r>
              <a:t>LaTeX:</a:t>
            </a:r>
          </a:p>
          <a:p xmlns:a="http://schemas.openxmlformats.org/drawingml/2006/main">
            <a:r>
              <a:t>A=Q\Lambda Q^\dagger=\sum_{k=1}^{n}\lambda_k\,|q_k\rangle\langle q_k|\\[12pt]I=\sum_{k=1}^{n}|q_k\rangle\langle q_k|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4. Direct multiplication swaps the vector entries. For the plus vector this changes nothing. For the minus vector the swapped result is its negative. Form Pplus and Pminus from their outer products and subtract to recover X. Add them to recover I. This example becomes an independent spectral reference for the exponential in slide 27. No numerical eigensolver is needed to derive these particular eigenvectors.</a:t>
            </a:r>
          </a:p>
          <a:p xmlns:a="http://schemas.openxmlformats.org/drawingml/2006/main">
            <a:r>
              <a:t/>
            </a:r>
          </a:p>
          <a:p xmlns:a="http://schemas.openxmlformats.org/drawingml/2006/main">
            <a:r>
              <a:t>LaTeX:</a:t>
            </a:r>
          </a:p>
          <a:p xmlns:a="http://schemas.openxmlformats.org/drawingml/2006/main">
            <a:r>
              <a:t>X=\begin{pmatrix}0&amp;1\\1&amp;0\end{pmatrix},\quad |+\rangle=\frac1{\sqrt2}\begin{pmatrix}1\\1\end{pmatrix},\quad |-\rangle=\frac1{\sqrt2}\begin{pmatrix}1\\-1\end{pmatrix}\\[12pt]X|+\rangle=|+\rangle,\quad X|-\rangle=-|-\rangle,\quad X=P_+-P_-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qplus=(1,1)/sqrt(2) and qminus=(1,−1)/sqrt(2) are real, so a real coordinate plane faithfully represents these examples. X swaps coordinates. The plus vector is unchanged and the minus vector reverses direction. The two eigendirections are perpendicular. Ask learners why a vector off these eigendirections generally moves to a different line. Source: plot_illustrations.py, eigenvectors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polynomial, A^k=Q Lambda^k Q† follows because adjacent Q†Q factors cancel. The exponential follows by its convergent series. More general functions can be defined on the finite spectrum when their scalar values are defined. Do not treat branch-dependent functions such as logarithms as automatically unambiguous. Distinguish the matrix function from elementwise NumPy ufuncs. In this lesson f(A)=exp(A) is the target.</a:t>
            </a:r>
          </a:p>
          <a:p xmlns:a="http://schemas.openxmlformats.org/drawingml/2006/main">
            <a:r>
              <a:t/>
            </a:r>
          </a:p>
          <a:p xmlns:a="http://schemas.openxmlformats.org/drawingml/2006/main">
            <a:r>
              <a:t>LaTeX:</a:t>
            </a:r>
          </a:p>
          <a:p xmlns:a="http://schemas.openxmlformats.org/drawingml/2006/main">
            <a:r>
              <a:t>A=Q\Lambda Q^\dagger\quad\Longrightarrow\quad f(A)=Qf(\Lambda)Q^\dagger\\[12pt]f(\Lambda)=\operatorname{diag}\bigl(f(\lambda_1),\ldots,f(\lambda_n)\bigr)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exponential is defined even when A has no eigenbasis. A^0 is the identity with the same square dimension. A^2 means A@A, not entrywise squaring. Factorials rapidly damp high-order terms for a fixed finite matrix, but naively truncating the series is not the preferred general numerical algorithm. SciPy expm uses dedicated matrix algorithms. np.exp(A) applies scalar exponentials entry by entry and is not a replacement. The next slides derive a special exact formula from powers of X.</a:t>
            </a:r>
          </a:p>
          <a:p xmlns:a="http://schemas.openxmlformats.org/drawingml/2006/main">
            <a:r>
              <a:t/>
            </a:r>
          </a:p>
          <a:p xmlns:a="http://schemas.openxmlformats.org/drawingml/2006/main">
            <a:r>
              <a:t>LaTeX:</a:t>
            </a:r>
          </a:p>
          <a:p xmlns:a="http://schemas.openxmlformats.org/drawingml/2006/main">
            <a:r>
              <a:t>e^A=\sum_{k=0}^{\infty}\frac{A^k}{k!}=I+A+\frac{A^2}{2!}+\frac{A^3}{3!}+\cdots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numerical counterexample to treating np.exp(A) as a matrix exponential. For A=0, the series has only the identity term, so expm(A)=I. Elementwise exp(0)=1 fills every entry with one. Colors encode literal entries zero and one, with numbers printed for clarity. This example supplies an immediate check independent of an eigensolver. Source: plot_illustrations.py, exponential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as a real scalar in this derivation. Start with e^(−iaX)=sum(−ia)^n X^n/n!. For n=2k the factor (−i)^(2k)=(-1)^k and X^(2k)=I. For n=2k+1 it is −i(-1)^k times X. This yields the two displayed scalar series. Both converge absolutely, allowing even and odd regrouping. For k=0 the even power is X^0=I. Compare the scalar pattern with the Euler derivation in S01.</a:t>
            </a:r>
          </a:p>
          <a:p xmlns:a="http://schemas.openxmlformats.org/drawingml/2006/main">
            <a:r>
              <a:t/>
            </a:r>
          </a:p>
          <a:p xmlns:a="http://schemas.openxmlformats.org/drawingml/2006/main">
            <a:r>
              <a:t>LaTeX:</a:t>
            </a:r>
          </a:p>
          <a:p xmlns:a="http://schemas.openxmlformats.org/drawingml/2006/main">
            <a:r>
              <a:t>X^2=I,\qquad X^{2k}=I,\qquad X^{2k+1}=X\\[12pt]e^{-iaX}=\left[\sum_{k=0}^\infty\frac{(-1)^ka^{2k}}{(2k)!}\right]I-i\left[\sum_{k=0}^\infty\frac{(-1)^ka^{2k+1}}{(2k+1)!}\right]X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a=theta/2 in the previous slide. At theta=0 sine vanishes and cosine is one. At theta=pi the identity term vanishes and −iX sends basis zero to −i times basis one. Multiplying by a common phase does not change measurement probabilities. The spectral derivation gives exp(−i theta/2)Pplus+exp(+i theta/2)Pminus, providing an independent reference. examples.py compares that reference and the trigonometric formula with scipy.linalg.expm and QuTiP .expm().</a:t>
            </a:r>
          </a:p>
          <a:p xmlns:a="http://schemas.openxmlformats.org/drawingml/2006/main">
            <a:r>
              <a:t/>
            </a:r>
          </a:p>
          <a:p xmlns:a="http://schemas.openxmlformats.org/drawingml/2006/main">
            <a:r>
              <a:t>LaTeX:</a:t>
            </a:r>
          </a:p>
          <a:p xmlns:a="http://schemas.openxmlformats.org/drawingml/2006/main">
            <a:r>
              <a:t>R_x(\theta)=e^{-i\theta X/2}=\cos\!\left(\frac\theta2\right)I-i\sin\!\left(\frac\theta2\right)X\\[12pt]R_x(\pi)|0\rangle=-i|1\rangle,\qquad R_x(0)=I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curves are analytic probabilities cos²(theta/2) and sin²(theta/2) after Rx(theta) acts on basis zero. They are not finite-shot observations. The global factor −i at theta=pi changes no probability. At 2pi the state returns up to global phase. Ask learners to identify angles where both probabilities equal one half. Source: plot_illustrations.py, rotation figure; examples.py verifies the probability with QuTiP.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exponent must be dimensionless. In physical units H is an energy and H/hbar is an angular-frequency operator. The course sets hbar=1 numerically, so Hamiltonian coefficients carry angular-frequency units. Omega is in radians per microsecond and time is in microseconds. Real time and Hermitian H imply a unitary U, since the generator is anti-Hermitian. This equation prepares S07 dynamics; it does not claim that open-system noise is unitary. A time-dependent noncommuting Hamiltonian needs time ordering rather than simply inserting H(t)t.</a:t>
            </a:r>
          </a:p>
          <a:p xmlns:a="http://schemas.openxmlformats.org/drawingml/2006/main">
            <a:r>
              <a:t/>
            </a:r>
          </a:p>
          <a:p xmlns:a="http://schemas.openxmlformats.org/drawingml/2006/main">
            <a:r>
              <a:t>LaTeX:</a:t>
            </a:r>
          </a:p>
          <a:p xmlns:a="http://schemas.openxmlformats.org/drawingml/2006/main">
            <a:r>
              <a:t>U(t)=e^{-iHt/\hbar},\qquad H^\dagger=H,\qquad \hbar=1\\[12pt]H=\frac{\Omega}{2}X\quad\Longrightarrow\quad U(t)=R_x(\Omega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commutator by the displayed difference. Multiply XZ and ZX explicitly to confirm the sign: XZ=[[0,−1],[1,0]] and ZX=[[0,1],[−1,0]], so the commutator is −2iY with the Y convention shown earlier. Commutation is a sufficient condition for the exponential splitting rule; special noncommuting cases may coincide, so do not state it as a universal if-and-only-if. Products of unitary factors remain unitary but need not equal the exponential of their summed generators. This distinction matters for pulse composition and simulation approximations.</a:t>
            </a:r>
          </a:p>
          <a:p xmlns:a="http://schemas.openxmlformats.org/drawingml/2006/main">
            <a:r>
              <a:t/>
            </a:r>
          </a:p>
          <a:p xmlns:a="http://schemas.openxmlformats.org/drawingml/2006/main">
            <a:r>
              <a:t>LaTeX:</a:t>
            </a:r>
          </a:p>
          <a:p xmlns:a="http://schemas.openxmlformats.org/drawingml/2006/main">
            <a:r>
              <a:t>XZ=-ZX,\qquad [X,Z]=XZ-ZX=-2iY\\[12pt]e^{A+B}=e^Ae^B\quad\text{is guaranteed when }AB=BA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code walkthrough 1. Run examples.py and stop at the spectral exponential comparison. Explain np.diag builds a diagonal matrix from the scalar exponentials of the eigenvalues. eigh places eigenvectors in columns, matching Q Lambda Q†. np.exp is correct on the one-dimensional eigenvalue array but not on the entries of the full X matrix as a matrix-function substitute. Use dtype=complex to preserve imaginary components. A tolerance test compares matrices up to floating-point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 2 continues the same Python process or examples.py. QuTiP Qobj multiplication uses *, unlike NumPy’s elementwise * between arrays. .expm() gives the matrix exponential, .dag() gives the adjoint and .full() gives a two-dimensional NumPy array. The probability for outcome one is sin²(theta/2), obtained by acting with the closed-form rotation on basis zero. This QuTiP implementation stays compatible with the course’s later Hamiltonian and noise simulations. The standalone examples.py includes all imports and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Frobenius norm as the square root of the sum of squared magnitudes of all matrix entries. It differs from the vector 2-norm used in r_k. An incorrect rotation angle still produces a unitary, so structural checks alone do not establish semantic correctness. For this two-dimensional double-precision example, examples.py uses errors below 1e−12 for deterministic references. That is an example-specific threshold, not a universal accuracy promise for large systems or optimizers. Print residuals and investigate scale and solver settings when adapting the code.</a:t>
            </a:r>
          </a:p>
          <a:p xmlns:a="http://schemas.openxmlformats.org/drawingml/2006/main">
            <a:r>
              <a:t/>
            </a:r>
          </a:p>
          <a:p xmlns:a="http://schemas.openxmlformats.org/drawingml/2006/main">
            <a:r>
              <a:t>LaTeX:</a:t>
            </a:r>
          </a:p>
          <a:p xmlns:a="http://schemas.openxmlformats.org/drawingml/2006/main">
            <a:r>
              <a:t>\epsilon_U=\|U^\dagger U-I\|_{\mathrm F},\qquad\epsilon_{\rm ref}=\|U-U_{\rm analytic}\|_{\mathrm F}\\[12pt]r_k=\|Aq_k-\lambda_kq_k\|_2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ten minutes for written work, then use the standalone starter.py task to implement a projector and an X rotation without using expm in the rotation implementation. Answers: v†=(1,−i), norm sqrt(2); u=v/sqrt(2). The projector is one half times [[1,−i],[i,1]]. exp(−iaZ)=diag(exp(−ia),exp(ia))=cos(a)I−i sin(a)Z. An incorrect angle can retain exact unitarity, so an analytic or independent reference is needed. Appendix 31 summarizes these answers. Next S03 uses this mathematics for qubit states and Bloch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notation without adding a new mathematical topic. The dimension n refers to the size of the chosen basis. The scalar inner product is customarily treated as a complex number even if a strict array implementation represents it with a 1 by 1 shape. All components are in the same fixed orthonormal basis in this lecture. Indexing in the displayed sums is mathematical 1 through n; code arrays start at zero. A ket is an abstract vector; the shown column is its representation.</a:t>
            </a:r>
          </a:p>
          <a:p xmlns:a="http://schemas.openxmlformats.org/drawingml/2006/main">
            <a:r>
              <a:t/>
            </a:r>
          </a:p>
          <a:p xmlns:a="http://schemas.openxmlformats.org/drawingml/2006/main">
            <a:r>
              <a:t>LaTeX:</a:t>
            </a:r>
          </a:p>
          <a:p xmlns:a="http://schemas.openxmlformats.org/drawingml/2006/main">
            <a:r>
              <a:t>|v\rangle:\ n\times1,\qquad \langle v|=|v\rangle^\dagger:\ 1\times n\\[12pt]\langle u|v\rangle:\ 1\times1,\qquad |u\rangle\langle v|:\ n\times 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Multiply A qk=lambda_k qk on the left by qj†. For the other expression, use qj†A=(Aqj)† because A is Hermitian, then real lambda_j gives lambda_j qj†. Subtract. When lambda_k differs from lambda_j the scalar factor is nonzero, forcing orthogonality. If eigenvalues coincide the equation gives no orthogonality constraint, but Gram–Schmidt can choose an orthonormal basis within that eigenspace. This proof relies on Hermiticity and real eigenvalues, not on arbitrary matrix eigenvectors.</a:t>
            </a:r>
          </a:p>
          <a:p xmlns:a="http://schemas.openxmlformats.org/drawingml/2006/main">
            <a:r>
              <a:t/>
            </a:r>
          </a:p>
          <a:p xmlns:a="http://schemas.openxmlformats.org/drawingml/2006/main">
            <a:r>
              <a:t>LaTeX:</a:t>
            </a:r>
          </a:p>
          <a:p xmlns:a="http://schemas.openxmlformats.org/drawingml/2006/main">
            <a:r>
              <a:t>Aq_j=\lambda_jq_j,\quad Aq_k=\lambda_kq_k,\quad A^\dagger=A\\[12pt]\lambda_k\,q_j^\dagger q_k=q_j^\dagger A q_k=\lambda_j\,q_j^\dagger q_k\\[12pt](\lambda_k-\lambda_j)\,q_j^\dagger q_k=0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each practice question. For the projector use the orthogonal vector from slide 9 to check Pv=0 as well. The diagonal exponential follows either from the power series on a diagonal matrix or its two eigenvalues ±1. The formula requires real a for unitarity, though the matrix-function identity itself also extends to complex a. The exit-check answer about angle validation is conceptual: several different rotations satisfy U†U=I. Use a hand-derived special-angle action or a full analytic reference.</a:t>
            </a:r>
          </a:p>
          <a:p xmlns:a="http://schemas.openxmlformats.org/drawingml/2006/main">
            <a:r>
              <a:t/>
            </a:r>
          </a:p>
          <a:p xmlns:a="http://schemas.openxmlformats.org/drawingml/2006/main">
            <a:r>
              <a:t>LaTeX:</a:t>
            </a:r>
          </a:p>
          <a:p xmlns:a="http://schemas.openxmlformats.org/drawingml/2006/main">
            <a:r>
              <a:t>u=\frac1{\sqrt2}\begin{pmatrix}1\\i\end{pmatrix},\qquad P=\frac12\begin{pmatrix}1&amp;-i\\i&amp;1\end{pmatrix}\\[12pt]e^{-iaZ}=\begin{pmatrix}e^{-ia}&amp;0\\0&amp;e^{ia}\end{pmatrix}=\cos(a)I-i\sin(a)Z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virtual environment created in S00. The Python exercises need only course dependencies already installed. No LaTeX installation is required to run them or view the exported slides. The untouched starter raises NotImplementedError intentionally. Complete its two functions and rerun. The reference solution prints S02 exercises: PASSED. The examples print numerical errors and S02 examples: PASSED. The standalone exercises are not entries in qubit_course.labs. Rebuilding formula images additionally requires a TeX distribution and Poppler; see the lecture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9074b6aff040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bfcf35566849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3407dd05b44a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0b708866c24d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088b8c977242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3284796b114f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4E4E3-3FAC-4637-BEE3-47DB72D480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5AB5887-F957-41C9-8C71-A11DB0DA82F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8C1339-8048-4D94-9020-A9ADABB093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295B71-1C73-40B6-B041-2684296850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E2EEDC-1290-44D8-8795-9DD25F544C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CC19EA-A0EE-48D5-B6B8-CDD77AF3B6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858202-92EF-40F3-9FEF-C62949DE74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1EF978-3C6F-4B66-A3B4-2AFA28BFA7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20B565-E703-4EA5-B384-98E9FCB3A9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3AB328-7A0B-4605-89EA-4F15244235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3aae0ba27249ea" /><Relationship Type="http://schemas.openxmlformats.org/officeDocument/2006/relationships/slideLayout" Target="/ppt/slideLayouts/slideLayout1.xml" Id="Rd6b29d3f8d9046aa" /><Relationship Type="http://schemas.openxmlformats.org/officeDocument/2006/relationships/slideLayout" Target="/ppt/slideLayouts/slideLayout2.xml" Id="R1fffbc179dfa48f5" /><Relationship Type="http://schemas.openxmlformats.org/officeDocument/2006/relationships/slideLayout" Target="/ppt/slideLayouts/slideLayout3.xml" Id="R639d70b2dcb1494b" /><Relationship Type="http://schemas.openxmlformats.org/officeDocument/2006/relationships/slideLayout" Target="/ppt/slideLayouts/slideLayout4.xml" Id="R8f425a304a05473f" /><Relationship Type="http://schemas.openxmlformats.org/officeDocument/2006/relationships/slideLayout" Target="/ppt/slideLayouts/slideLayout5.xml" Id="Raf178ed813454168" /><Relationship Type="http://schemas.openxmlformats.org/officeDocument/2006/relationships/slideLayout" Target="/ppt/slideLayouts/slideLayout6.xml" Id="R413a433a3b5f40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b29d3f8d9046aa"/>
    <p:sldLayoutId xmlns:r="http://schemas.openxmlformats.org/officeDocument/2006/relationships" id="2147483650" r:id="R1fffbc179dfa48f5"/>
    <p:sldLayoutId xmlns:r="http://schemas.openxmlformats.org/officeDocument/2006/relationships" id="2147483651" r:id="R639d70b2dcb1494b"/>
    <p:sldLayoutId xmlns:r="http://schemas.openxmlformats.org/officeDocument/2006/relationships" id="2147483652" r:id="R8f425a304a05473f"/>
    <p:sldLayoutId xmlns:r="http://schemas.openxmlformats.org/officeDocument/2006/relationships" id="2147483653" r:id="Raf178ed813454168"/>
    <p:sldLayoutId xmlns:r="http://schemas.openxmlformats.org/officeDocument/2006/relationships" id="2147483654" r:id="R413a433a3b5f40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b661b18d3c4b25" /><Relationship Type="http://schemas.openxmlformats.org/officeDocument/2006/relationships/notesSlide" Target="/ppt/notesSlides/notesSlide1.xml" Id="R5c9047289e2b47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2b96b24f624451" /><Relationship Type="http://schemas.openxmlformats.org/officeDocument/2006/relationships/image" Target="/ppt/media/image.png" Id="Rb06304dd14e842ad" /><Relationship Type="http://schemas.openxmlformats.org/officeDocument/2006/relationships/notesSlide" Target="/ppt/notesSlides/notesSlide2.xml" Id="R8b435781537f4b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7f7a8063e64b74" /><Relationship Type="http://schemas.openxmlformats.org/officeDocument/2006/relationships/image" Target="/ppt/media/image2.png" Id="R3678133f0b8f48d3" /><Relationship Type="http://schemas.openxmlformats.org/officeDocument/2006/relationships/notesSlide" Target="/ppt/notesSlides/notesSlide3.xml" Id="R4a8927bedbc945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5a32bfbf6447d1" /><Relationship Type="http://schemas.openxmlformats.org/officeDocument/2006/relationships/image" Target="/ppt/media/image3.png" Id="Rfbbcc6bbfbd2444b" /><Relationship Type="http://schemas.openxmlformats.org/officeDocument/2006/relationships/notesSlide" Target="/ppt/notesSlides/notesSlide4.xml" Id="R2179d531750243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29b56ed6754fe3" /><Relationship Type="http://schemas.openxmlformats.org/officeDocument/2006/relationships/image" Target="/ppt/media/image4.png" Id="R0df472706dc643ce" /><Relationship Type="http://schemas.openxmlformats.org/officeDocument/2006/relationships/notesSlide" Target="/ppt/notesSlides/notesSlide5.xml" Id="R30a55100c1174d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e6f9b521724ae9" /><Relationship Type="http://schemas.openxmlformats.org/officeDocument/2006/relationships/image" Target="/ppt/media/image5.png" Id="Rf9f6b260f29647a3" /><Relationship Type="http://schemas.openxmlformats.org/officeDocument/2006/relationships/notesSlide" Target="/ppt/notesSlides/notesSlide6.xml" Id="R503dd04e77b34b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868fa37fc549a9" /><Relationship Type="http://schemas.openxmlformats.org/officeDocument/2006/relationships/image" Target="/ppt/media/image6.png" Id="Raf43375dc8244477" /><Relationship Type="http://schemas.openxmlformats.org/officeDocument/2006/relationships/notesSlide" Target="/ppt/notesSlides/notesSlide7.xml" Id="R5f8e7a29c0c64e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cdccfe061342ee" /><Relationship Type="http://schemas.openxmlformats.org/officeDocument/2006/relationships/image" Target="/ppt/media/image7.png" Id="Ref2161e9af494172" /><Relationship Type="http://schemas.openxmlformats.org/officeDocument/2006/relationships/notesSlide" Target="/ppt/notesSlides/notesSlide8.xml" Id="Rcb11b565b3d445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7f3c6f88cd4823" /><Relationship Type="http://schemas.openxmlformats.org/officeDocument/2006/relationships/image" Target="/ppt/media/image8.png" Id="Rb7930d5f11c946ec" /><Relationship Type="http://schemas.openxmlformats.org/officeDocument/2006/relationships/notesSlide" Target="/ppt/notesSlides/notesSlide9.xml" Id="R4f04631989d441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4156e99f30437a" /><Relationship Type="http://schemas.openxmlformats.org/officeDocument/2006/relationships/image" Target="/ppt/media/image9.png" Id="Ra4004cd3c5ac46fd" /><Relationship Type="http://schemas.openxmlformats.org/officeDocument/2006/relationships/notesSlide" Target="/ppt/notesSlides/notesSlide10.xml" Id="R3bab6484ed3547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0d7ff9182e4526" /><Relationship Type="http://schemas.openxmlformats.org/officeDocument/2006/relationships/image" Target="/ppt/media/image10.png" Id="Rfad18fd24ebc4ba2" /><Relationship Type="http://schemas.openxmlformats.org/officeDocument/2006/relationships/notesSlide" Target="/ppt/notesSlides/notesSlide11.xml" Id="R6352b3f3f07547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e878a6828f342cb" /><Relationship Type="http://schemas.openxmlformats.org/officeDocument/2006/relationships/image" Target="/ppt/media/image11.png" Id="R49b5775a0a4643f2" /><Relationship Type="http://schemas.openxmlformats.org/officeDocument/2006/relationships/notesSlide" Target="/ppt/notesSlides/notesSlide12.xml" Id="Rc3c31af5dcde42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f397d7882054fec" /><Relationship Type="http://schemas.openxmlformats.org/officeDocument/2006/relationships/image" Target="/ppt/media/image12.png" Id="Rb56e60b278564b64" /><Relationship Type="http://schemas.openxmlformats.org/officeDocument/2006/relationships/notesSlide" Target="/ppt/notesSlides/notesSlide13.xml" Id="R38c127e7e79e48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c36351515ae48d1" /><Relationship Type="http://schemas.openxmlformats.org/officeDocument/2006/relationships/image" Target="/ppt/media/image13.png" Id="R494d789f11a14fda" /><Relationship Type="http://schemas.openxmlformats.org/officeDocument/2006/relationships/notesSlide" Target="/ppt/notesSlides/notesSlide14.xml" Id="R0239a42a192947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07acc0b16749ff" /><Relationship Type="http://schemas.openxmlformats.org/officeDocument/2006/relationships/image" Target="/ppt/media/image14.png" Id="R713f573195d945c0" /><Relationship Type="http://schemas.openxmlformats.org/officeDocument/2006/relationships/notesSlide" Target="/ppt/notesSlides/notesSlide15.xml" Id="Ra4f96836c3844b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a426ee7fe9f42a6" /><Relationship Type="http://schemas.openxmlformats.org/officeDocument/2006/relationships/image" Target="/ppt/media/image15.png" Id="R40864b7ce6614335" /><Relationship Type="http://schemas.openxmlformats.org/officeDocument/2006/relationships/notesSlide" Target="/ppt/notesSlides/notesSlide16.xml" Id="R6570f677c4534f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7d5d26d75cc4e61" /><Relationship Type="http://schemas.openxmlformats.org/officeDocument/2006/relationships/image" Target="/ppt/media/image16.png" Id="Rdd596eaaef874a3d" /><Relationship Type="http://schemas.openxmlformats.org/officeDocument/2006/relationships/notesSlide" Target="/ppt/notesSlides/notesSlide17.xml" Id="R61df64d80a9b44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40d4af81f5c45a6" /><Relationship Type="http://schemas.openxmlformats.org/officeDocument/2006/relationships/image" Target="/ppt/media/image17.png" Id="R98b530fd1bb144cf" /><Relationship Type="http://schemas.openxmlformats.org/officeDocument/2006/relationships/notesSlide" Target="/ppt/notesSlides/notesSlide18.xml" Id="R9bf8673f976c47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c6cfa8f3d8a48d3" /><Relationship Type="http://schemas.openxmlformats.org/officeDocument/2006/relationships/image" Target="/ppt/media/image18.png" Id="R07f78b753c734cb2" /><Relationship Type="http://schemas.openxmlformats.org/officeDocument/2006/relationships/notesSlide" Target="/ppt/notesSlides/notesSlide19.xml" Id="Rd2bc19ff5b6b4cd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896326f6fcf4221" /><Relationship Type="http://schemas.openxmlformats.org/officeDocument/2006/relationships/image" Target="/ppt/media/image19.png" Id="R2cca0d0ee2d34efc" /><Relationship Type="http://schemas.openxmlformats.org/officeDocument/2006/relationships/notesSlide" Target="/ppt/notesSlides/notesSlide20.xml" Id="R62e1f9cd5d0b4a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a84b7afaecd4a5e" /><Relationship Type="http://schemas.openxmlformats.org/officeDocument/2006/relationships/image" Target="/ppt/media/image20.png" Id="R77273cd1c72c45de" /><Relationship Type="http://schemas.openxmlformats.org/officeDocument/2006/relationships/notesSlide" Target="/ppt/notesSlides/notesSlide21.xml" Id="R9e762543bc994c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17c330888284235" /><Relationship Type="http://schemas.openxmlformats.org/officeDocument/2006/relationships/image" Target="/ppt/media/image21.png" Id="R66f8bcfdab8343f4" /><Relationship Type="http://schemas.openxmlformats.org/officeDocument/2006/relationships/notesSlide" Target="/ppt/notesSlides/notesSlide22.xml" Id="Rf361a334b8a14c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f2d21b628dc4175" /><Relationship Type="http://schemas.openxmlformats.org/officeDocument/2006/relationships/image" Target="/ppt/media/image22.png" Id="R01fc5f3aaedb45df" /><Relationship Type="http://schemas.openxmlformats.org/officeDocument/2006/relationships/notesSlide" Target="/ppt/notesSlides/notesSlide23.xml" Id="R569989f1201048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7b50cb839874829" /><Relationship Type="http://schemas.openxmlformats.org/officeDocument/2006/relationships/image" Target="/ppt/media/image23.png" Id="R07d07994db684fc2" /><Relationship Type="http://schemas.openxmlformats.org/officeDocument/2006/relationships/notesSlide" Target="/ppt/notesSlides/notesSlide24.xml" Id="R0f10d5848a1f4fb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eb2513adc324279" /><Relationship Type="http://schemas.openxmlformats.org/officeDocument/2006/relationships/image" Target="/ppt/media/image24.png" Id="R07d8e287f7554653" /><Relationship Type="http://schemas.openxmlformats.org/officeDocument/2006/relationships/notesSlide" Target="/ppt/notesSlides/notesSlide25.xml" Id="R38110033029645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f86e3c670424f4a" /><Relationship Type="http://schemas.openxmlformats.org/officeDocument/2006/relationships/image" Target="/ppt/media/image25.png" Id="R5ae7131c83a04989" /><Relationship Type="http://schemas.openxmlformats.org/officeDocument/2006/relationships/notesSlide" Target="/ppt/notesSlides/notesSlide26.xml" Id="R2d349d0d0e774b3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259b93084224629" /><Relationship Type="http://schemas.openxmlformats.org/officeDocument/2006/relationships/image" Target="/ppt/media/image26.png" Id="Rc1386a4a04cd44ef" /><Relationship Type="http://schemas.openxmlformats.org/officeDocument/2006/relationships/notesSlide" Target="/ppt/notesSlides/notesSlide27.xml" Id="R6f3bc1a591aa40b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abce2b6d67440c5" /><Relationship Type="http://schemas.openxmlformats.org/officeDocument/2006/relationships/image" Target="/ppt/media/image27.png" Id="R5a6591dcec574588" /><Relationship Type="http://schemas.openxmlformats.org/officeDocument/2006/relationships/notesSlide" Target="/ppt/notesSlides/notesSlide28.xml" Id="R761098138d78492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52bcb897b524413" /><Relationship Type="http://schemas.openxmlformats.org/officeDocument/2006/relationships/image" Target="/ppt/media/image28.png" Id="R2fefa96ec2324811" /><Relationship Type="http://schemas.openxmlformats.org/officeDocument/2006/relationships/notesSlide" Target="/ppt/notesSlides/notesSlide29.xml" Id="Rd2ece0028462498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886c6554fbb4b43" /><Relationship Type="http://schemas.openxmlformats.org/officeDocument/2006/relationships/image" Target="/ppt/media/image29.png" Id="R5c0ee2412b8c4a0a" /><Relationship Type="http://schemas.openxmlformats.org/officeDocument/2006/relationships/notesSlide" Target="/ppt/notesSlides/notesSlide30.xml" Id="Re30a87fc4e7846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1794b6902ee4c16" /><Relationship Type="http://schemas.openxmlformats.org/officeDocument/2006/relationships/notesSlide" Target="/ppt/notesSlides/notesSlide31.xml" Id="R2229b2ffbf60460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3f28aef851b4b45" /><Relationship Type="http://schemas.openxmlformats.org/officeDocument/2006/relationships/notesSlide" Target="/ppt/notesSlides/notesSlide32.xml" Id="R5f05c5bfa6b2409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5608927a0ba4097" /><Relationship Type="http://schemas.openxmlformats.org/officeDocument/2006/relationships/image" Target="/ppt/media/image30.png" Id="R81298289c45642d4" /><Relationship Type="http://schemas.openxmlformats.org/officeDocument/2006/relationships/notesSlide" Target="/ppt/notesSlides/notesSlide33.xml" Id="R3bf8a4117dd3446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a402c0bccd14b28" /><Relationship Type="http://schemas.openxmlformats.org/officeDocument/2006/relationships/notesSlide" Target="/ppt/notesSlides/notesSlide34.xml" Id="Ra7d85670da7f4d8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07a610d17234780" /><Relationship Type="http://schemas.openxmlformats.org/officeDocument/2006/relationships/image" Target="/ppt/media/image31.png" Id="R981e4c2234704048" /><Relationship Type="http://schemas.openxmlformats.org/officeDocument/2006/relationships/notesSlide" Target="/ppt/notesSlides/notesSlide35.xml" Id="Rf489c8a7a8d649d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490f1feb124aa7" /><Relationship Type="http://schemas.openxmlformats.org/officeDocument/2006/relationships/image" Target="/ppt/media/image32.png" Id="R3bc0525477cf4cc9" /><Relationship Type="http://schemas.openxmlformats.org/officeDocument/2006/relationships/notesSlide" Target="/ppt/notesSlides/notesSlide36.xml" Id="R61df309d91bc4f5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33efe53d3a44f6d" /><Relationship Type="http://schemas.openxmlformats.org/officeDocument/2006/relationships/image" Target="/ppt/media/image33.png" Id="R135e4b7d13db43b7" /><Relationship Type="http://schemas.openxmlformats.org/officeDocument/2006/relationships/notesSlide" Target="/ppt/notesSlides/notesSlide37.xml" Id="R803511c10d8c4f2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fc6ecd3192b4cd8" /><Relationship Type="http://schemas.openxmlformats.org/officeDocument/2006/relationships/notesSlide" Target="/ppt/notesSlides/notesSlide38.xml" Id="Rec7b8f313e034873" /></Relationships>
</file>

<file path=ppt/slides/slide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BC9913D-03B7-4112-BF2E-B3ADBC5A172C}"/>
              </a:ext>
            </a:extLst>
          </p:cNvPr>
          <p:cNvSpPr>
            <a:spLocks xmlns:a="http://schemas.openxmlformats.org/drawingml/2006/main" noGrp="1"/>
          </p:cNvSpPr>
          <p:nvPr/>
        </p:nvSpPr>
        <p:spPr>
          <a:xfrm xmlns:a="http://schemas.openxmlformats.org/drawingml/2006/main">
            <a:off x="609600" y="628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68A84"/>
                </a:solidFill>
                <a:latin typeface="Arial"/>
                <a:ea typeface="Arial"/>
                <a:cs typeface="Arial"/>
              </a:defRPr>
            </a:defPPr>
            <a:lvl1pPr algn="l">
              <a:defRPr sz="1725" b="1">
                <a:solidFill>
                  <a:srgbClr val="168A84"/>
                </a:solidFill>
                <a:latin typeface="Arial"/>
                <a:ea typeface="Arial"/>
                <a:cs typeface="Arial"/>
              </a:defRPr>
            </a:lvl1pPr>
            <a:lvl2pPr algn="l">
              <a:defRPr sz="1725" b="1">
                <a:solidFill>
                  <a:srgbClr val="168A84"/>
                </a:solidFill>
                <a:latin typeface="Arial"/>
                <a:ea typeface="Arial"/>
                <a:cs typeface="Arial"/>
              </a:defRPr>
            </a:lvl2pPr>
            <a:lvl3pPr algn="l">
              <a:defRPr sz="1725" b="1">
                <a:solidFill>
                  <a:srgbClr val="168A84"/>
                </a:solidFill>
                <a:latin typeface="Arial"/>
                <a:ea typeface="Arial"/>
                <a:cs typeface="Arial"/>
              </a:defRPr>
            </a:lvl3pPr>
            <a:lvl4pPr algn="l">
              <a:defRPr sz="1725" b="1">
                <a:solidFill>
                  <a:srgbClr val="168A84"/>
                </a:solidFill>
                <a:latin typeface="Arial"/>
                <a:ea typeface="Arial"/>
                <a:cs typeface="Arial"/>
              </a:defRPr>
            </a:lvl4pPr>
            <a:lvl5pPr algn="l">
              <a:defRPr sz="1725" b="1">
                <a:solidFill>
                  <a:srgbClr val="168A84"/>
                </a:solidFill>
                <a:latin typeface="Arial"/>
                <a:ea typeface="Arial"/>
                <a:cs typeface="Arial"/>
              </a:defRPr>
            </a:lvl5pPr>
            <a:lvl6pPr algn="l">
              <a:defRPr sz="1725" b="1">
                <a:solidFill>
                  <a:srgbClr val="168A84"/>
                </a:solidFill>
                <a:latin typeface="Arial"/>
                <a:ea typeface="Arial"/>
                <a:cs typeface="Arial"/>
              </a:defRPr>
            </a:lvl6pPr>
            <a:lvl7pPr algn="l">
              <a:defRPr sz="1725" b="1">
                <a:solidFill>
                  <a:srgbClr val="168A84"/>
                </a:solidFill>
                <a:latin typeface="Arial"/>
                <a:ea typeface="Arial"/>
                <a:cs typeface="Arial"/>
              </a:defRPr>
            </a:lvl7pPr>
            <a:lvl8pPr algn="l">
              <a:defRPr sz="1725" b="1">
                <a:solidFill>
                  <a:srgbClr val="168A84"/>
                </a:solidFill>
                <a:latin typeface="Arial"/>
                <a:ea typeface="Arial"/>
                <a:cs typeface="Arial"/>
              </a:defRPr>
            </a:lvl8pPr>
            <a:lvl9pPr algn="l">
              <a:defRPr sz="1725" b="1">
                <a:solidFill>
                  <a:srgbClr val="168A84"/>
                </a:solidFill>
                <a:latin typeface="Arial"/>
                <a:ea typeface="Arial"/>
                <a:cs typeface="Arial"/>
              </a:defRPr>
            </a:lvl9pPr>
          </a:lstStyle>
          <a:p xmlns:a="http://schemas.openxmlformats.org/drawingml/2006/main">
            <a:pPr algn="l">
              <a:defRPr sz="1725" b="1">
                <a:solidFill>
                  <a:srgbClr val="168A84"/>
                </a:solidFill>
                <a:latin typeface="Arial"/>
                <a:ea typeface="Arial"/>
                <a:cs typeface="Arial"/>
              </a:defRPr>
            </a:pPr>
            <a:r>
              <a:rPr sz="1725" b="1">
                <a:solidFill>
                  <a:srgbClr val="168A84"/>
                </a:solidFill>
                <a:latin typeface="Arial"/>
                <a:ea typeface="Arial"/>
                <a:cs typeface="Arial"/>
              </a:rPr>
              <a:t>QUBIT ZERO TO HERO</a:t>
            </a:r>
          </a:p>
        </p:txBody>
      </p:sp>
      <p:sp>
        <p:nvSpPr>
          <p:cNvPr id="3" name="">
            <a:extLst xmlns:a="http://schemas.openxmlformats.org/drawingml/2006/main">
              <a:ext uri="{FF2B5EF4-FFF2-40B4-BE49-F238E27FC236}">
                <a16:creationId xmlns:a16="http://schemas.microsoft.com/office/drawing/2014/main" id="{13C12032-BD95-4DC7-A0FC-05840AC71120}"/>
              </a:ext>
            </a:extLst>
          </p:cNvPr>
          <p:cNvSpPr>
            <a:spLocks xmlns:a="http://schemas.openxmlformats.org/drawingml/2006/main" noGrp="1"/>
          </p:cNvSpPr>
          <p:nvPr/>
        </p:nvSpPr>
        <p:spPr>
          <a:xfrm xmlns:a="http://schemas.openxmlformats.org/drawingml/2006/main">
            <a:off x="609600" y="1695450"/>
            <a:ext cx="10972800" cy="8420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33B"/>
                </a:solidFill>
                <a:latin typeface="Arial"/>
                <a:ea typeface="Arial"/>
                <a:cs typeface="Arial"/>
              </a:defRPr>
            </a:defPPr>
            <a:lvl1pPr algn="l">
              <a:defRPr sz="5100" b="1">
                <a:solidFill>
                  <a:srgbClr val="14233B"/>
                </a:solidFill>
                <a:latin typeface="Arial"/>
                <a:ea typeface="Arial"/>
                <a:cs typeface="Arial"/>
              </a:defRPr>
            </a:lvl1pPr>
            <a:lvl2pPr algn="l">
              <a:defRPr sz="5100" b="1">
                <a:solidFill>
                  <a:srgbClr val="14233B"/>
                </a:solidFill>
                <a:latin typeface="Arial"/>
                <a:ea typeface="Arial"/>
                <a:cs typeface="Arial"/>
              </a:defRPr>
            </a:lvl2pPr>
            <a:lvl3pPr algn="l">
              <a:defRPr sz="5100" b="1">
                <a:solidFill>
                  <a:srgbClr val="14233B"/>
                </a:solidFill>
                <a:latin typeface="Arial"/>
                <a:ea typeface="Arial"/>
                <a:cs typeface="Arial"/>
              </a:defRPr>
            </a:lvl3pPr>
            <a:lvl4pPr algn="l">
              <a:defRPr sz="5100" b="1">
                <a:solidFill>
                  <a:srgbClr val="14233B"/>
                </a:solidFill>
                <a:latin typeface="Arial"/>
                <a:ea typeface="Arial"/>
                <a:cs typeface="Arial"/>
              </a:defRPr>
            </a:lvl4pPr>
            <a:lvl5pPr algn="l">
              <a:defRPr sz="5100" b="1">
                <a:solidFill>
                  <a:srgbClr val="14233B"/>
                </a:solidFill>
                <a:latin typeface="Arial"/>
                <a:ea typeface="Arial"/>
                <a:cs typeface="Arial"/>
              </a:defRPr>
            </a:lvl5pPr>
            <a:lvl6pPr algn="l">
              <a:defRPr sz="5100" b="1">
                <a:solidFill>
                  <a:srgbClr val="14233B"/>
                </a:solidFill>
                <a:latin typeface="Arial"/>
                <a:ea typeface="Arial"/>
                <a:cs typeface="Arial"/>
              </a:defRPr>
            </a:lvl6pPr>
            <a:lvl7pPr algn="l">
              <a:defRPr sz="5100" b="1">
                <a:solidFill>
                  <a:srgbClr val="14233B"/>
                </a:solidFill>
                <a:latin typeface="Arial"/>
                <a:ea typeface="Arial"/>
                <a:cs typeface="Arial"/>
              </a:defRPr>
            </a:lvl7pPr>
            <a:lvl8pPr algn="l">
              <a:defRPr sz="5100" b="1">
                <a:solidFill>
                  <a:srgbClr val="14233B"/>
                </a:solidFill>
                <a:latin typeface="Arial"/>
                <a:ea typeface="Arial"/>
                <a:cs typeface="Arial"/>
              </a:defRPr>
            </a:lvl8pPr>
            <a:lvl9pPr algn="l">
              <a:defRPr sz="5100" b="1">
                <a:solidFill>
                  <a:srgbClr val="14233B"/>
                </a:solidFill>
                <a:latin typeface="Arial"/>
                <a:ea typeface="Arial"/>
                <a:cs typeface="Arial"/>
              </a:defRPr>
            </a:lvl9pPr>
          </a:lstStyle>
          <a:p xmlns:a="http://schemas.openxmlformats.org/drawingml/2006/main">
            <a:pPr algn="l">
              <a:defRPr sz="5100" b="1">
                <a:solidFill>
                  <a:srgbClr val="14233B"/>
                </a:solidFill>
                <a:latin typeface="Arial"/>
                <a:ea typeface="Arial"/>
                <a:cs typeface="Arial"/>
              </a:defRPr>
            </a:pPr>
            <a:r>
              <a:rPr sz="5100" b="1">
                <a:solidFill>
                  <a:srgbClr val="14233B"/>
                </a:solidFill>
                <a:latin typeface="Arial"/>
                <a:ea typeface="Arial"/>
                <a:cs typeface="Arial"/>
              </a:rPr>
              <a:t>Vectors, matrices</a:t>
            </a:r>
          </a:p>
        </p:txBody>
      </p:sp>
      <p:sp>
        <p:nvSpPr>
          <p:cNvPr id="4" name="">
            <a:extLst xmlns:a="http://schemas.openxmlformats.org/drawingml/2006/main">
              <a:ext uri="{FF2B5EF4-FFF2-40B4-BE49-F238E27FC236}">
                <a16:creationId xmlns:a16="http://schemas.microsoft.com/office/drawing/2014/main" id="{50E336A0-3F45-4AF7-8E26-33643F27C97D}"/>
              </a:ext>
            </a:extLst>
          </p:cNvPr>
          <p:cNvSpPr>
            <a:spLocks xmlns:a="http://schemas.openxmlformats.org/drawingml/2006/main" noGrp="1"/>
          </p:cNvSpPr>
          <p:nvPr/>
        </p:nvSpPr>
        <p:spPr>
          <a:xfrm xmlns:a="http://schemas.openxmlformats.org/drawingml/2006/main">
            <a:off x="609600" y="2537460"/>
            <a:ext cx="10972800" cy="8420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33B"/>
                </a:solidFill>
                <a:latin typeface="Arial"/>
                <a:ea typeface="Arial"/>
                <a:cs typeface="Arial"/>
              </a:defRPr>
            </a:defPPr>
            <a:lvl1pPr algn="l">
              <a:defRPr sz="5100" b="1">
                <a:solidFill>
                  <a:srgbClr val="14233B"/>
                </a:solidFill>
                <a:latin typeface="Arial"/>
                <a:ea typeface="Arial"/>
                <a:cs typeface="Arial"/>
              </a:defRPr>
            </a:lvl1pPr>
            <a:lvl2pPr algn="l">
              <a:defRPr sz="5100" b="1">
                <a:solidFill>
                  <a:srgbClr val="14233B"/>
                </a:solidFill>
                <a:latin typeface="Arial"/>
                <a:ea typeface="Arial"/>
                <a:cs typeface="Arial"/>
              </a:defRPr>
            </a:lvl2pPr>
            <a:lvl3pPr algn="l">
              <a:defRPr sz="5100" b="1">
                <a:solidFill>
                  <a:srgbClr val="14233B"/>
                </a:solidFill>
                <a:latin typeface="Arial"/>
                <a:ea typeface="Arial"/>
                <a:cs typeface="Arial"/>
              </a:defRPr>
            </a:lvl3pPr>
            <a:lvl4pPr algn="l">
              <a:defRPr sz="5100" b="1">
                <a:solidFill>
                  <a:srgbClr val="14233B"/>
                </a:solidFill>
                <a:latin typeface="Arial"/>
                <a:ea typeface="Arial"/>
                <a:cs typeface="Arial"/>
              </a:defRPr>
            </a:lvl4pPr>
            <a:lvl5pPr algn="l">
              <a:defRPr sz="5100" b="1">
                <a:solidFill>
                  <a:srgbClr val="14233B"/>
                </a:solidFill>
                <a:latin typeface="Arial"/>
                <a:ea typeface="Arial"/>
                <a:cs typeface="Arial"/>
              </a:defRPr>
            </a:lvl5pPr>
            <a:lvl6pPr algn="l">
              <a:defRPr sz="5100" b="1">
                <a:solidFill>
                  <a:srgbClr val="14233B"/>
                </a:solidFill>
                <a:latin typeface="Arial"/>
                <a:ea typeface="Arial"/>
                <a:cs typeface="Arial"/>
              </a:defRPr>
            </a:lvl6pPr>
            <a:lvl7pPr algn="l">
              <a:defRPr sz="5100" b="1">
                <a:solidFill>
                  <a:srgbClr val="14233B"/>
                </a:solidFill>
                <a:latin typeface="Arial"/>
                <a:ea typeface="Arial"/>
                <a:cs typeface="Arial"/>
              </a:defRPr>
            </a:lvl7pPr>
            <a:lvl8pPr algn="l">
              <a:defRPr sz="5100" b="1">
                <a:solidFill>
                  <a:srgbClr val="14233B"/>
                </a:solidFill>
                <a:latin typeface="Arial"/>
                <a:ea typeface="Arial"/>
                <a:cs typeface="Arial"/>
              </a:defRPr>
            </a:lvl8pPr>
            <a:lvl9pPr algn="l">
              <a:defRPr sz="5100" b="1">
                <a:solidFill>
                  <a:srgbClr val="14233B"/>
                </a:solidFill>
                <a:latin typeface="Arial"/>
                <a:ea typeface="Arial"/>
                <a:cs typeface="Arial"/>
              </a:defRPr>
            </a:lvl9pPr>
          </a:lstStyle>
          <a:p xmlns:a="http://schemas.openxmlformats.org/drawingml/2006/main">
            <a:pPr algn="l">
              <a:defRPr sz="5100" b="1">
                <a:solidFill>
                  <a:srgbClr val="14233B"/>
                </a:solidFill>
                <a:latin typeface="Arial"/>
                <a:ea typeface="Arial"/>
                <a:cs typeface="Arial"/>
              </a:defRPr>
            </a:pPr>
            <a:r>
              <a:rPr sz="5100" b="1">
                <a:solidFill>
                  <a:srgbClr val="14233B"/>
                </a:solidFill>
                <a:latin typeface="Arial"/>
                <a:ea typeface="Arial"/>
                <a:cs typeface="Arial"/>
              </a:rPr>
              <a:t>and operators</a:t>
            </a:r>
          </a:p>
        </p:txBody>
      </p:sp>
      <p:sp>
        <p:nvSpPr>
          <p:cNvPr id="5" name="">
            <a:extLst xmlns:a="http://schemas.openxmlformats.org/drawingml/2006/main">
              <a:ext uri="{FF2B5EF4-FFF2-40B4-BE49-F238E27FC236}">
                <a16:creationId xmlns:a16="http://schemas.microsoft.com/office/drawing/2014/main" id="{AB95D725-F4A9-49B6-9584-03B9C52300D1}"/>
              </a:ext>
            </a:extLst>
          </p:cNvPr>
          <p:cNvSpPr>
            <a:spLocks xmlns:a="http://schemas.openxmlformats.org/drawingml/2006/main" noGrp="1"/>
          </p:cNvSpPr>
          <p:nvPr/>
        </p:nvSpPr>
        <p:spPr>
          <a:xfrm xmlns:a="http://schemas.openxmlformats.org/drawingml/2006/main">
            <a:off x="609600" y="45720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S02 · Mathematical foundations</a:t>
            </a:r>
          </a:p>
        </p:txBody>
      </p:sp>
      <p:sp>
        <p:nvSpPr>
          <p:cNvPr id="6" name="">
            <a:extLst xmlns:a="http://schemas.openxmlformats.org/drawingml/2006/main">
              <a:ext uri="{FF2B5EF4-FFF2-40B4-BE49-F238E27FC236}">
                <a16:creationId xmlns:a16="http://schemas.microsoft.com/office/drawing/2014/main" id="{FE315A3E-19A2-416D-A065-D6DD19A9CC38}"/>
              </a:ext>
            </a:extLst>
          </p:cNvPr>
          <p:cNvSpPr>
            <a:spLocks xmlns:a="http://schemas.openxmlformats.org/drawingml/2006/main" noGrp="1"/>
          </p:cNvSpPr>
          <p:nvPr/>
        </p:nvSpPr>
        <p:spPr>
          <a:xfrm xmlns:a="http://schemas.openxmlformats.org/drawingml/2006/main">
            <a:off x="609600" y="49434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LaTeX derivations with NumPy and QuTiP checks</a:t>
            </a:r>
          </a:p>
        </p:txBody>
      </p:sp>
      <p:sp>
        <p:nvSpPr>
          <p:cNvPr id="7" name="">
            <a:extLst xmlns:a="http://schemas.openxmlformats.org/drawingml/2006/main">
              <a:ext uri="{FF2B5EF4-FFF2-40B4-BE49-F238E27FC236}">
                <a16:creationId xmlns:a16="http://schemas.microsoft.com/office/drawing/2014/main" id="{C2869235-7A26-4FBB-86C7-1A8075FFB70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01 / 38</a:t>
            </a:r>
          </a:p>
        </p:txBody>
      </p:sp>
    </p:spTree>
    <p:extLst>
      <p:ext uri="{BB962C8B-B14F-4D97-AF65-F5344CB8AC3E}">
        <p14:creationId xmlns:p14="http://schemas.microsoft.com/office/powerpoint/2010/main" val="757387295"/>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ABBD05-3C88-4CE3-BBA9-527128143FB4}"/>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2081B956-40EB-4E34-BAAE-1E2CDAA5D101}"/>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Column vectors and components</a:t>
            </a:r>
          </a:p>
        </p:txBody>
      </p:sp>
      <p:pic>
        <p:nvPicPr>
          <p:cNvPr id="4" name="">
            <a:extLst xmlns:a="http://schemas.openxmlformats.org/drawingml/2006/main">
              <a:ext uri="{FF2B5EF4-FFF2-40B4-BE49-F238E27FC236}">
                <a16:creationId xmlns:a16="http://schemas.microsoft.com/office/drawing/2014/main" id="{B42A9FA2-FC33-461A-9C98-BB70346F0DE9}"/>
              </a:ext>
            </a:extLst>
          </p:cNvPr>
          <p:cNvPicPr>
            <a:picLocks xmlns:a="http://schemas.openxmlformats.org/drawingml/2006/main" noChangeAspect="1"/>
          </p:cNvPicPr>
          <p:nvPr/>
        </p:nvPicPr>
        <p:blipFill>
          <a:blip xmlns:r="http://schemas.openxmlformats.org/officeDocument/2006/relationships" xmlns:a="http://schemas.openxmlformats.org/drawingml/2006/main" r:embed="Rb06304dd14e842ad"/>
          <a:stretch xmlns:a="http://schemas.openxmlformats.org/drawingml/2006/main"/>
        </p:blipFill>
        <p:spPr>
          <a:xfrm xmlns:a="http://schemas.openxmlformats.org/drawingml/2006/main">
            <a:off x="609600" y="2129790"/>
            <a:ext cx="10972800" cy="126492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5EEA0FC-1E3F-4E73-B3F5-02EF72D58FEE}"/>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column vector stores ordered complex components.</a:t>
            </a:r>
          </a:p>
        </p:txBody>
      </p:sp>
      <p:sp>
        <p:nvSpPr>
          <p:cNvPr id="6" name="">
            <a:extLst xmlns:a="http://schemas.openxmlformats.org/drawingml/2006/main">
              <a:ext uri="{FF2B5EF4-FFF2-40B4-BE49-F238E27FC236}">
                <a16:creationId xmlns:a16="http://schemas.microsoft.com/office/drawing/2014/main" id="{E997E5BD-0BD7-447E-8EE9-38F7216BE50B}"/>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Its shape records two rows and one column.</a:t>
            </a:r>
          </a:p>
        </p:txBody>
      </p:sp>
      <p:sp>
        <p:nvSpPr>
          <p:cNvPr id="7" name="">
            <a:extLst xmlns:a="http://schemas.openxmlformats.org/drawingml/2006/main">
              <a:ext uri="{FF2B5EF4-FFF2-40B4-BE49-F238E27FC236}">
                <a16:creationId xmlns:a16="http://schemas.microsoft.com/office/drawing/2014/main" id="{16FD9100-F7BF-4D22-9C9C-7916D68E19F4}"/>
              </a:ext>
            </a:extLst>
          </p:cNvPr>
          <p:cNvSpPr>
            <a:spLocks xmlns:a="http://schemas.openxmlformats.org/drawingml/2006/main" noGrp="1"/>
          </p:cNvSpPr>
          <p:nvPr/>
        </p:nvSpPr>
        <p:spPr>
          <a:xfrm xmlns:a="http://schemas.openxmlformats.org/drawingml/2006/main">
            <a:off x="609600" y="56007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ket is a quantum-state column vector with a specified basis.</a:t>
            </a:r>
          </a:p>
        </p:txBody>
      </p:sp>
      <p:sp>
        <p:nvSpPr>
          <p:cNvPr id="8" name="">
            <a:extLst xmlns:a="http://schemas.openxmlformats.org/drawingml/2006/main">
              <a:ext uri="{FF2B5EF4-FFF2-40B4-BE49-F238E27FC236}">
                <a16:creationId xmlns:a16="http://schemas.microsoft.com/office/drawing/2014/main" id="{E4F7D585-D049-415F-B00C-40BBD65B042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02 / 38</a:t>
            </a:r>
          </a:p>
        </p:txBody>
      </p:sp>
    </p:spTree>
    <p:extLst>
      <p:ext uri="{BB962C8B-B14F-4D97-AF65-F5344CB8AC3E}">
        <p14:creationId xmlns:p14="http://schemas.microsoft.com/office/powerpoint/2010/main" val="2140156055"/>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CC69C79-E446-4705-8201-D4C5F643CBF6}"/>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7D05520D-9C79-493B-BA5F-1A8A796D2808}"/>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Matrix shapes and multiplication</a:t>
            </a:r>
          </a:p>
        </p:txBody>
      </p:sp>
      <p:pic>
        <p:nvPicPr>
          <p:cNvPr id="4" name="">
            <a:extLst xmlns:a="http://schemas.openxmlformats.org/drawingml/2006/main">
              <a:ext uri="{FF2B5EF4-FFF2-40B4-BE49-F238E27FC236}">
                <a16:creationId xmlns:a16="http://schemas.microsoft.com/office/drawing/2014/main" id="{A47502FB-BCCA-47AC-BCA2-8A601847B90E}"/>
              </a:ext>
            </a:extLst>
          </p:cNvPr>
          <p:cNvPicPr>
            <a:picLocks xmlns:a="http://schemas.openxmlformats.org/drawingml/2006/main" noChangeAspect="1"/>
          </p:cNvPicPr>
          <p:nvPr/>
        </p:nvPicPr>
        <p:blipFill>
          <a:blip xmlns:r="http://schemas.openxmlformats.org/officeDocument/2006/relationships" xmlns:a="http://schemas.openxmlformats.org/drawingml/2006/main" r:embed="R3678133f0b8f48d3"/>
          <a:stretch xmlns:a="http://schemas.openxmlformats.org/drawingml/2006/main"/>
        </p:blipFill>
        <p:spPr>
          <a:xfrm xmlns:a="http://schemas.openxmlformats.org/drawingml/2006/main">
            <a:off x="609600" y="1741170"/>
            <a:ext cx="10972800" cy="20421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D9015E2-DE2B-4846-8C10-C3C5F246048B}"/>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shared dimension n must agree.</a:t>
            </a:r>
          </a:p>
        </p:txBody>
      </p:sp>
      <p:sp>
        <p:nvSpPr>
          <p:cNvPr id="6" name="">
            <a:extLst xmlns:a="http://schemas.openxmlformats.org/drawingml/2006/main">
              <a:ext uri="{FF2B5EF4-FFF2-40B4-BE49-F238E27FC236}">
                <a16:creationId xmlns:a16="http://schemas.microsoft.com/office/drawing/2014/main" id="{7B877AF4-D5F5-4F9D-9F7D-5A3B4B43754D}"/>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Each output component is a row of A multiplied by the column v.</a:t>
            </a:r>
          </a:p>
        </p:txBody>
      </p:sp>
      <p:sp>
        <p:nvSpPr>
          <p:cNvPr id="7" name="">
            <a:extLst xmlns:a="http://schemas.openxmlformats.org/drawingml/2006/main">
              <a:ext uri="{FF2B5EF4-FFF2-40B4-BE49-F238E27FC236}">
                <a16:creationId xmlns:a16="http://schemas.microsoft.com/office/drawing/2014/main" id="{F914E214-E932-4757-915C-EE0058C284B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03 / 38</a:t>
            </a:r>
          </a:p>
        </p:txBody>
      </p:sp>
    </p:spTree>
    <p:extLst>
      <p:ext uri="{BB962C8B-B14F-4D97-AF65-F5344CB8AC3E}">
        <p14:creationId xmlns:p14="http://schemas.microsoft.com/office/powerpoint/2010/main" val="1716192873"/>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E773F97-59EB-4182-92EA-DE3131D49E7C}"/>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D8C3B772-0C12-4FC4-87FA-EF8F1F407CCB}"/>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Example 1 · Normalizing a vector</a:t>
            </a:r>
          </a:p>
        </p:txBody>
      </p:sp>
      <p:pic>
        <p:nvPicPr>
          <p:cNvPr id="4" name="">
            <a:extLst xmlns:a="http://schemas.openxmlformats.org/drawingml/2006/main">
              <a:ext uri="{FF2B5EF4-FFF2-40B4-BE49-F238E27FC236}">
                <a16:creationId xmlns:a16="http://schemas.microsoft.com/office/drawing/2014/main" id="{269D2350-4E96-4305-9C58-8A893BD6F9C6}"/>
              </a:ext>
            </a:extLst>
          </p:cNvPr>
          <p:cNvPicPr>
            <a:picLocks xmlns:a="http://schemas.openxmlformats.org/drawingml/2006/main" noChangeAspect="1"/>
          </p:cNvPicPr>
          <p:nvPr/>
        </p:nvPicPr>
        <p:blipFill>
          <a:blip xmlns:r="http://schemas.openxmlformats.org/officeDocument/2006/relationships" xmlns:a="http://schemas.openxmlformats.org/drawingml/2006/main" r:embed="Rfbbcc6bbfbd2444b"/>
          <a:stretch xmlns:a="http://schemas.openxmlformats.org/drawingml/2006/main"/>
        </p:blipFill>
        <p:spPr>
          <a:xfrm xmlns:a="http://schemas.openxmlformats.org/drawingml/2006/main">
            <a:off x="786581" y="1619250"/>
            <a:ext cx="10618839"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6FEA25E-85D8-43A4-8F04-87B84E28106B}"/>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Normalization divides every component by the same positive norm.</a:t>
            </a:r>
          </a:p>
        </p:txBody>
      </p:sp>
      <p:sp>
        <p:nvSpPr>
          <p:cNvPr id="6" name="">
            <a:extLst xmlns:a="http://schemas.openxmlformats.org/drawingml/2006/main">
              <a:ext uri="{FF2B5EF4-FFF2-40B4-BE49-F238E27FC236}">
                <a16:creationId xmlns:a16="http://schemas.microsoft.com/office/drawing/2014/main" id="{F0C93CCE-E6E2-4CA1-A1BA-9B33D67740EC}"/>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zero vector cannot be normalized.</a:t>
            </a:r>
          </a:p>
        </p:txBody>
      </p:sp>
      <p:sp>
        <p:nvSpPr>
          <p:cNvPr id="7" name="">
            <a:extLst xmlns:a="http://schemas.openxmlformats.org/drawingml/2006/main">
              <a:ext uri="{FF2B5EF4-FFF2-40B4-BE49-F238E27FC236}">
                <a16:creationId xmlns:a16="http://schemas.microsoft.com/office/drawing/2014/main" id="{0718EF30-1F8C-4DFB-8C03-EAB041AF53A6}"/>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04 / 38</a:t>
            </a:r>
          </a:p>
        </p:txBody>
      </p:sp>
    </p:spTree>
    <p:extLst>
      <p:ext uri="{BB962C8B-B14F-4D97-AF65-F5344CB8AC3E}">
        <p14:creationId xmlns:p14="http://schemas.microsoft.com/office/powerpoint/2010/main" val="318037782"/>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8EA8A25-8A7E-4143-AF3A-8FFFFB6EFB2D}"/>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ECAE55E2-D0A7-4A14-9846-E78AAF306E14}"/>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Normalization preserves component ratios</a:t>
            </a:r>
          </a:p>
        </p:txBody>
      </p:sp>
      <p:pic>
        <p:nvPicPr>
          <p:cNvPr id="4" name="">
            <a:extLst xmlns:a="http://schemas.openxmlformats.org/drawingml/2006/main">
              <a:ext uri="{FF2B5EF4-FFF2-40B4-BE49-F238E27FC236}">
                <a16:creationId xmlns:a16="http://schemas.microsoft.com/office/drawing/2014/main" id="{E34AF756-1305-46FA-8E87-38BB8B184774}"/>
              </a:ext>
            </a:extLst>
          </p:cNvPr>
          <p:cNvPicPr>
            <a:picLocks xmlns:a="http://schemas.openxmlformats.org/drawingml/2006/main" noChangeAspect="1"/>
          </p:cNvPicPr>
          <p:nvPr/>
        </p:nvPicPr>
        <p:blipFill>
          <a:blip xmlns:r="http://schemas.openxmlformats.org/officeDocument/2006/relationships" xmlns:a="http://schemas.openxmlformats.org/drawingml/2006/main" r:embed="R0df472706dc643ce"/>
          <a:stretch xmlns:a="http://schemas.openxmlformats.org/drawingml/2006/main"/>
        </p:blipFill>
        <p:spPr>
          <a:xfrm xmlns:a="http://schemas.openxmlformats.org/drawingml/2006/main">
            <a:off x="609600" y="1642237"/>
            <a:ext cx="6953250" cy="42402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4E5BE70-63BE-4A2F-9168-95C4EBF61E7C}"/>
              </a:ext>
            </a:extLst>
          </p:cNvPr>
          <p:cNvSpPr>
            <a:spLocks xmlns:a="http://schemas.openxmlformats.org/drawingml/2006/main" noGrp="1"/>
          </p:cNvSpPr>
          <p:nvPr/>
        </p:nvSpPr>
        <p:spPr>
          <a:xfrm xmlns:a="http://schemas.openxmlformats.org/drawingml/2006/main">
            <a:off x="7905750" y="1809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example vector has component magnitudes 1 and 1.</a:t>
            </a:r>
          </a:p>
        </p:txBody>
      </p:sp>
      <p:sp>
        <p:nvSpPr>
          <p:cNvPr id="6" name="">
            <a:extLst xmlns:a="http://schemas.openxmlformats.org/drawingml/2006/main">
              <a:ext uri="{FF2B5EF4-FFF2-40B4-BE49-F238E27FC236}">
                <a16:creationId xmlns:a16="http://schemas.microsoft.com/office/drawing/2014/main" id="{D6BF120B-02D0-407D-9D6F-A01F666E0242}"/>
              </a:ext>
            </a:extLst>
          </p:cNvPr>
          <p:cNvSpPr>
            <a:spLocks xmlns:a="http://schemas.openxmlformats.org/drawingml/2006/main" noGrp="1"/>
          </p:cNvSpPr>
          <p:nvPr/>
        </p:nvSpPr>
        <p:spPr>
          <a:xfrm xmlns:a="http://schemas.openxmlformats.org/drawingml/2006/main">
            <a:off x="7905750" y="31432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Dividing by √2 scales both magnitudes equally.</a:t>
            </a:r>
          </a:p>
        </p:txBody>
      </p:sp>
      <p:sp>
        <p:nvSpPr>
          <p:cNvPr id="7" name="">
            <a:extLst xmlns:a="http://schemas.openxmlformats.org/drawingml/2006/main">
              <a:ext uri="{FF2B5EF4-FFF2-40B4-BE49-F238E27FC236}">
                <a16:creationId xmlns:a16="http://schemas.microsoft.com/office/drawing/2014/main" id="{61B9A718-0A53-43B4-8C8D-3978698B12C7}"/>
              </a:ext>
            </a:extLst>
          </p:cNvPr>
          <p:cNvSpPr>
            <a:spLocks xmlns:a="http://schemas.openxmlformats.org/drawingml/2006/main" noGrp="1"/>
          </p:cNvSpPr>
          <p:nvPr/>
        </p:nvSpPr>
        <p:spPr>
          <a:xfrm xmlns:a="http://schemas.openxmlformats.org/drawingml/2006/main">
            <a:off x="7905750" y="4476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sum of squared magnitudes changes from 2 to 1.</a:t>
            </a:r>
          </a:p>
        </p:txBody>
      </p:sp>
      <p:sp>
        <p:nvSpPr>
          <p:cNvPr id="8" name="">
            <a:extLst xmlns:a="http://schemas.openxmlformats.org/drawingml/2006/main">
              <a:ext uri="{FF2B5EF4-FFF2-40B4-BE49-F238E27FC236}">
                <a16:creationId xmlns:a16="http://schemas.microsoft.com/office/drawing/2014/main" id="{3D5A3A0F-0167-4DFC-8C61-F8C63C1F1ED2}"/>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05 / 38</a:t>
            </a:r>
          </a:p>
        </p:txBody>
      </p:sp>
    </p:spTree>
    <p:extLst>
      <p:ext uri="{BB962C8B-B14F-4D97-AF65-F5344CB8AC3E}">
        <p14:creationId xmlns:p14="http://schemas.microsoft.com/office/powerpoint/2010/main" val="1238506362"/>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824F6E0-B4D7-4CA6-BFD9-7A555EEC2051}"/>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7AF100F9-5647-492E-8261-9559B36EB8B4}"/>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Transpose, conjugate and adjoint</a:t>
            </a:r>
          </a:p>
        </p:txBody>
      </p:sp>
      <p:pic>
        <p:nvPicPr>
          <p:cNvPr id="4" name="">
            <a:extLst xmlns:a="http://schemas.openxmlformats.org/drawingml/2006/main">
              <a:ext uri="{FF2B5EF4-FFF2-40B4-BE49-F238E27FC236}">
                <a16:creationId xmlns:a16="http://schemas.microsoft.com/office/drawing/2014/main" id="{0CB7E0A4-B1FC-4DF4-B94D-D1964DCF56EB}"/>
              </a:ext>
            </a:extLst>
          </p:cNvPr>
          <p:cNvPicPr>
            <a:picLocks xmlns:a="http://schemas.openxmlformats.org/drawingml/2006/main" noChangeAspect="1"/>
          </p:cNvPicPr>
          <p:nvPr/>
        </p:nvPicPr>
        <p:blipFill>
          <a:blip xmlns:r="http://schemas.openxmlformats.org/officeDocument/2006/relationships" xmlns:a="http://schemas.openxmlformats.org/drawingml/2006/main" r:embed="Rf9f6b260f29647a3"/>
          <a:stretch xmlns:a="http://schemas.openxmlformats.org/drawingml/2006/main"/>
        </p:blipFill>
        <p:spPr>
          <a:xfrm xmlns:a="http://schemas.openxmlformats.org/drawingml/2006/main">
            <a:off x="609600" y="1822450"/>
            <a:ext cx="10972800" cy="1879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4C2AE9-C97C-4291-96F9-5BE9CB2C8ABB}"/>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Transpose exchanges rows and columns.</a:t>
            </a:r>
          </a:p>
        </p:txBody>
      </p:sp>
      <p:sp>
        <p:nvSpPr>
          <p:cNvPr id="6" name="">
            <a:extLst xmlns:a="http://schemas.openxmlformats.org/drawingml/2006/main">
              <a:ext uri="{FF2B5EF4-FFF2-40B4-BE49-F238E27FC236}">
                <a16:creationId xmlns:a16="http://schemas.microsoft.com/office/drawing/2014/main" id="{E226AEDC-D111-438A-9A47-BBAA7A0B650B}"/>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Adjoint conjugates every entry and then transposes.</a:t>
            </a:r>
          </a:p>
        </p:txBody>
      </p:sp>
      <p:sp>
        <p:nvSpPr>
          <p:cNvPr id="7" name="">
            <a:extLst xmlns:a="http://schemas.openxmlformats.org/drawingml/2006/main">
              <a:ext uri="{FF2B5EF4-FFF2-40B4-BE49-F238E27FC236}">
                <a16:creationId xmlns:a16="http://schemas.microsoft.com/office/drawing/2014/main" id="{1758DAF7-0858-4CAE-8E64-07D7F5C3EFE3}"/>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06 / 38</a:t>
            </a:r>
          </a:p>
        </p:txBody>
      </p:sp>
    </p:spTree>
    <p:extLst>
      <p:ext uri="{BB962C8B-B14F-4D97-AF65-F5344CB8AC3E}">
        <p14:creationId xmlns:p14="http://schemas.microsoft.com/office/powerpoint/2010/main" val="202378414"/>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DA55FB-1794-419F-92A5-0FD29E38DBAE}"/>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BF8CE076-C9D2-472A-81A3-BF0E7B945281}"/>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The complex inner product</a:t>
            </a:r>
          </a:p>
        </p:txBody>
      </p:sp>
      <p:pic>
        <p:nvPicPr>
          <p:cNvPr id="4" name="">
            <a:extLst xmlns:a="http://schemas.openxmlformats.org/drawingml/2006/main">
              <a:ext uri="{FF2B5EF4-FFF2-40B4-BE49-F238E27FC236}">
                <a16:creationId xmlns:a16="http://schemas.microsoft.com/office/drawing/2014/main" id="{B10E4E18-8585-48A6-930E-C13EE4369E9A}"/>
              </a:ext>
            </a:extLst>
          </p:cNvPr>
          <p:cNvPicPr>
            <a:picLocks xmlns:a="http://schemas.openxmlformats.org/drawingml/2006/main" noChangeAspect="1"/>
          </p:cNvPicPr>
          <p:nvPr/>
        </p:nvPicPr>
        <p:blipFill>
          <a:blip xmlns:r="http://schemas.openxmlformats.org/officeDocument/2006/relationships" xmlns:a="http://schemas.openxmlformats.org/drawingml/2006/main" r:embed="Raf43375dc8244477"/>
          <a:stretch xmlns:a="http://schemas.openxmlformats.org/drawingml/2006/main"/>
        </p:blipFill>
        <p:spPr>
          <a:xfrm xmlns:a="http://schemas.openxmlformats.org/drawingml/2006/main">
            <a:off x="609600" y="1751330"/>
            <a:ext cx="10972800" cy="20218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69DED5-7DAC-42EA-BB15-73C8283E9753}"/>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first vector is conjugated in this convention.</a:t>
            </a:r>
          </a:p>
        </p:txBody>
      </p:sp>
      <p:sp>
        <p:nvSpPr>
          <p:cNvPr id="6" name="">
            <a:extLst xmlns:a="http://schemas.openxmlformats.org/drawingml/2006/main">
              <a:ext uri="{FF2B5EF4-FFF2-40B4-BE49-F238E27FC236}">
                <a16:creationId xmlns:a16="http://schemas.microsoft.com/office/drawing/2014/main" id="{4DF36CB4-B32C-434B-8421-0D1E74467F6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inner product is a complex scalar.</a:t>
            </a:r>
          </a:p>
        </p:txBody>
      </p:sp>
      <p:sp>
        <p:nvSpPr>
          <p:cNvPr id="7" name="">
            <a:extLst xmlns:a="http://schemas.openxmlformats.org/drawingml/2006/main">
              <a:ext uri="{FF2B5EF4-FFF2-40B4-BE49-F238E27FC236}">
                <a16:creationId xmlns:a16="http://schemas.microsoft.com/office/drawing/2014/main" id="{C7B47D83-A557-46D3-A95C-1D7DB80DD30F}"/>
              </a:ext>
            </a:extLst>
          </p:cNvPr>
          <p:cNvSpPr>
            <a:spLocks xmlns:a="http://schemas.openxmlformats.org/drawingml/2006/main" noGrp="1"/>
          </p:cNvSpPr>
          <p:nvPr/>
        </p:nvSpPr>
        <p:spPr>
          <a:xfrm xmlns:a="http://schemas.openxmlformats.org/drawingml/2006/main">
            <a:off x="609600" y="56007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Orthogonal vectors have inner product zero.</a:t>
            </a:r>
          </a:p>
        </p:txBody>
      </p:sp>
      <p:sp>
        <p:nvSpPr>
          <p:cNvPr id="8" name="">
            <a:extLst xmlns:a="http://schemas.openxmlformats.org/drawingml/2006/main">
              <a:ext uri="{FF2B5EF4-FFF2-40B4-BE49-F238E27FC236}">
                <a16:creationId xmlns:a16="http://schemas.microsoft.com/office/drawing/2014/main" id="{AA99AAEA-E2EA-4D11-9CA5-62FEC42C609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07 / 38</a:t>
            </a:r>
          </a:p>
        </p:txBody>
      </p:sp>
    </p:spTree>
    <p:extLst>
      <p:ext uri="{BB962C8B-B14F-4D97-AF65-F5344CB8AC3E}">
        <p14:creationId xmlns:p14="http://schemas.microsoft.com/office/powerpoint/2010/main" val="1334551571"/>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4A174E5-CD2A-4399-877A-E8587120E124}"/>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E7963E31-713F-400A-BF2F-F00ABC26CE8A}"/>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Norm and overlap bound</a:t>
            </a:r>
          </a:p>
        </p:txBody>
      </p:sp>
      <p:pic>
        <p:nvPicPr>
          <p:cNvPr id="4" name="">
            <a:extLst xmlns:a="http://schemas.openxmlformats.org/drawingml/2006/main">
              <a:ext uri="{FF2B5EF4-FFF2-40B4-BE49-F238E27FC236}">
                <a16:creationId xmlns:a16="http://schemas.microsoft.com/office/drawing/2014/main" id="{A532B5A7-6C8A-4092-8529-0E96C936D12C}"/>
              </a:ext>
            </a:extLst>
          </p:cNvPr>
          <p:cNvPicPr>
            <a:picLocks xmlns:a="http://schemas.openxmlformats.org/drawingml/2006/main" noChangeAspect="1"/>
          </p:cNvPicPr>
          <p:nvPr/>
        </p:nvPicPr>
        <p:blipFill>
          <a:blip xmlns:r="http://schemas.openxmlformats.org/officeDocument/2006/relationships" xmlns:a="http://schemas.openxmlformats.org/drawingml/2006/main" r:embed="Ref2161e9af494172"/>
          <a:stretch xmlns:a="http://schemas.openxmlformats.org/drawingml/2006/main"/>
        </p:blipFill>
        <p:spPr>
          <a:xfrm xmlns:a="http://schemas.openxmlformats.org/drawingml/2006/main">
            <a:off x="609600" y="1832610"/>
            <a:ext cx="10972800" cy="18592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8B6743E-9CA4-4C88-9E5D-4F4D58613638}"/>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Euclidean norm is the nonnegative square root.</a:t>
            </a:r>
          </a:p>
        </p:txBody>
      </p:sp>
      <p:sp>
        <p:nvSpPr>
          <p:cNvPr id="6" name="">
            <a:extLst xmlns:a="http://schemas.openxmlformats.org/drawingml/2006/main">
              <a:ext uri="{FF2B5EF4-FFF2-40B4-BE49-F238E27FC236}">
                <a16:creationId xmlns:a16="http://schemas.microsoft.com/office/drawing/2014/main" id="{1FB02E34-7A4D-4A11-B566-3D5E6364EC6C}"/>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For normalized vectors, the squared overlap lies between zero and one.</a:t>
            </a:r>
          </a:p>
        </p:txBody>
      </p:sp>
      <p:sp>
        <p:nvSpPr>
          <p:cNvPr id="7" name="">
            <a:extLst xmlns:a="http://schemas.openxmlformats.org/drawingml/2006/main">
              <a:ext uri="{FF2B5EF4-FFF2-40B4-BE49-F238E27FC236}">
                <a16:creationId xmlns:a16="http://schemas.microsoft.com/office/drawing/2014/main" id="{148A89C8-E496-41D5-82A0-6C07FABD43E3}"/>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08 / 38</a:t>
            </a:r>
          </a:p>
        </p:txBody>
      </p:sp>
    </p:spTree>
    <p:extLst>
      <p:ext uri="{BB962C8B-B14F-4D97-AF65-F5344CB8AC3E}">
        <p14:creationId xmlns:p14="http://schemas.microsoft.com/office/powerpoint/2010/main" val="457281713"/>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A32B87-A9D3-4713-81C6-2882D072F929}"/>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3CAA7510-4810-4619-A7D9-EDBDE77C6BEF}"/>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Example 2 · A complex orthogonality check</a:t>
            </a:r>
          </a:p>
        </p:txBody>
      </p:sp>
      <p:pic>
        <p:nvPicPr>
          <p:cNvPr id="4" name="">
            <a:extLst xmlns:a="http://schemas.openxmlformats.org/drawingml/2006/main">
              <a:ext uri="{FF2B5EF4-FFF2-40B4-BE49-F238E27FC236}">
                <a16:creationId xmlns:a16="http://schemas.microsoft.com/office/drawing/2014/main" id="{6FF51D42-B493-4DE0-913E-04C331E1BA86}"/>
              </a:ext>
            </a:extLst>
          </p:cNvPr>
          <p:cNvPicPr>
            <a:picLocks xmlns:a="http://schemas.openxmlformats.org/drawingml/2006/main" noChangeAspect="1"/>
          </p:cNvPicPr>
          <p:nvPr/>
        </p:nvPicPr>
        <p:blipFill>
          <a:blip xmlns:r="http://schemas.openxmlformats.org/officeDocument/2006/relationships" xmlns:a="http://schemas.openxmlformats.org/drawingml/2006/main" r:embed="Rb7930d5f11c946ec"/>
          <a:stretch xmlns:a="http://schemas.openxmlformats.org/drawingml/2006/main"/>
        </p:blipFill>
        <p:spPr>
          <a:xfrm xmlns:a="http://schemas.openxmlformats.org/drawingml/2006/main">
            <a:off x="609600" y="1626870"/>
            <a:ext cx="10972800" cy="22707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046FAAC-C0E2-479F-AE99-C33AC6DBF80B}"/>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Both vectors have norm one, and their inner product vanishes.</a:t>
            </a:r>
          </a:p>
        </p:txBody>
      </p:sp>
      <p:sp>
        <p:nvSpPr>
          <p:cNvPr id="6" name="">
            <a:extLst xmlns:a="http://schemas.openxmlformats.org/drawingml/2006/main">
              <a:ext uri="{FF2B5EF4-FFF2-40B4-BE49-F238E27FC236}">
                <a16:creationId xmlns:a16="http://schemas.microsoft.com/office/drawing/2014/main" id="{9BAC54FB-D9ED-4EB5-9C6D-DE4EBE78E75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Without conjugation, the same component sum would give i.</a:t>
            </a:r>
          </a:p>
        </p:txBody>
      </p:sp>
      <p:sp>
        <p:nvSpPr>
          <p:cNvPr id="7" name="">
            <a:extLst xmlns:a="http://schemas.openxmlformats.org/drawingml/2006/main">
              <a:ext uri="{FF2B5EF4-FFF2-40B4-BE49-F238E27FC236}">
                <a16:creationId xmlns:a16="http://schemas.microsoft.com/office/drawing/2014/main" id="{D027BC0A-7399-4074-8E8F-394231CFA981}"/>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09 / 38</a:t>
            </a:r>
          </a:p>
        </p:txBody>
      </p:sp>
    </p:spTree>
    <p:extLst>
      <p:ext uri="{BB962C8B-B14F-4D97-AF65-F5344CB8AC3E}">
        <p14:creationId xmlns:p14="http://schemas.microsoft.com/office/powerpoint/2010/main" val="402920857"/>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095940F-928D-4581-AF85-1FAEFE87772B}"/>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8B68E364-4ADD-4879-B469-C1A88F70E343}"/>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Outer products are operators</a:t>
            </a:r>
          </a:p>
        </p:txBody>
      </p:sp>
      <p:pic>
        <p:nvPicPr>
          <p:cNvPr id="4" name="">
            <a:extLst xmlns:a="http://schemas.openxmlformats.org/drawingml/2006/main">
              <a:ext uri="{FF2B5EF4-FFF2-40B4-BE49-F238E27FC236}">
                <a16:creationId xmlns:a16="http://schemas.microsoft.com/office/drawing/2014/main" id="{8ECF1F66-F8D5-44AA-B7A5-991362912EE2}"/>
              </a:ext>
            </a:extLst>
          </p:cNvPr>
          <p:cNvPicPr>
            <a:picLocks xmlns:a="http://schemas.openxmlformats.org/drawingml/2006/main" noChangeAspect="1"/>
          </p:cNvPicPr>
          <p:nvPr/>
        </p:nvPicPr>
        <p:blipFill>
          <a:blip xmlns:r="http://schemas.openxmlformats.org/officeDocument/2006/relationships" xmlns:a="http://schemas.openxmlformats.org/drawingml/2006/main" r:embed="Ra4004cd3c5ac46fd"/>
          <a:stretch xmlns:a="http://schemas.openxmlformats.org/drawingml/2006/main"/>
        </p:blipFill>
        <p:spPr>
          <a:xfrm xmlns:a="http://schemas.openxmlformats.org/drawingml/2006/main">
            <a:off x="609600" y="2038350"/>
            <a:ext cx="10972800" cy="1447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B8373C-CD51-4840-9199-912B454B69FD}"/>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An inner product gives a scalar. An outer product gives a matrix.</a:t>
            </a:r>
          </a:p>
        </p:txBody>
      </p:sp>
      <p:sp>
        <p:nvSpPr>
          <p:cNvPr id="6" name="">
            <a:extLst xmlns:a="http://schemas.openxmlformats.org/drawingml/2006/main">
              <a:ext uri="{FF2B5EF4-FFF2-40B4-BE49-F238E27FC236}">
                <a16:creationId xmlns:a16="http://schemas.microsoft.com/office/drawing/2014/main" id="{62855900-DF01-4911-B023-15E21B6B1CDD}"/>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normalized vector defines a projector onto its direction.</a:t>
            </a:r>
          </a:p>
        </p:txBody>
      </p:sp>
      <p:sp>
        <p:nvSpPr>
          <p:cNvPr id="7" name="">
            <a:extLst xmlns:a="http://schemas.openxmlformats.org/drawingml/2006/main">
              <a:ext uri="{FF2B5EF4-FFF2-40B4-BE49-F238E27FC236}">
                <a16:creationId xmlns:a16="http://schemas.microsoft.com/office/drawing/2014/main" id="{384A5EC2-E666-447E-A2D6-6D2F93CE5B77}"/>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10 / 38</a:t>
            </a:r>
          </a:p>
        </p:txBody>
      </p:sp>
    </p:spTree>
    <p:extLst>
      <p:ext uri="{BB962C8B-B14F-4D97-AF65-F5344CB8AC3E}">
        <p14:creationId xmlns:p14="http://schemas.microsoft.com/office/powerpoint/2010/main" val="1153529742"/>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C7DF7BD-E088-4AF8-8300-5E826CEC551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1BB1971B-14FA-4D2C-95EE-1A20A7F26404}"/>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Example 3 · A rank-one projector</a:t>
            </a:r>
          </a:p>
        </p:txBody>
      </p:sp>
      <p:pic>
        <p:nvPicPr>
          <p:cNvPr id="4" name="">
            <a:extLst xmlns:a="http://schemas.openxmlformats.org/drawingml/2006/main">
              <a:ext uri="{FF2B5EF4-FFF2-40B4-BE49-F238E27FC236}">
                <a16:creationId xmlns:a16="http://schemas.microsoft.com/office/drawing/2014/main" id="{408A4567-9FB5-4878-9D52-56086A1838ED}"/>
              </a:ext>
            </a:extLst>
          </p:cNvPr>
          <p:cNvPicPr>
            <a:picLocks xmlns:a="http://schemas.openxmlformats.org/drawingml/2006/main" noChangeAspect="1"/>
          </p:cNvPicPr>
          <p:nvPr/>
        </p:nvPicPr>
        <p:blipFill>
          <a:blip xmlns:r="http://schemas.openxmlformats.org/officeDocument/2006/relationships" xmlns:a="http://schemas.openxmlformats.org/drawingml/2006/main" r:embed="Rfad18fd24ebc4ba2"/>
          <a:stretch xmlns:a="http://schemas.openxmlformats.org/drawingml/2006/main"/>
        </p:blipFill>
        <p:spPr>
          <a:xfrm xmlns:a="http://schemas.openxmlformats.org/drawingml/2006/main">
            <a:off x="609600" y="1822450"/>
            <a:ext cx="10972800" cy="1879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7E6A85-4702-4AF6-9FB6-46C2BD3BF173}"/>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projector keeps u and removes its orthogonal direction v.</a:t>
            </a:r>
          </a:p>
        </p:txBody>
      </p:sp>
      <p:sp>
        <p:nvSpPr>
          <p:cNvPr id="6" name="">
            <a:extLst xmlns:a="http://schemas.openxmlformats.org/drawingml/2006/main">
              <a:ext uri="{FF2B5EF4-FFF2-40B4-BE49-F238E27FC236}">
                <a16:creationId xmlns:a16="http://schemas.microsoft.com/office/drawing/2014/main" id="{6A03D313-EBE3-4B46-834A-4B603C8B6CAD}"/>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Its trace is one, matching its one-dimensional range.</a:t>
            </a:r>
          </a:p>
        </p:txBody>
      </p:sp>
      <p:sp>
        <p:nvSpPr>
          <p:cNvPr id="7" name="">
            <a:extLst xmlns:a="http://schemas.openxmlformats.org/drawingml/2006/main">
              <a:ext uri="{FF2B5EF4-FFF2-40B4-BE49-F238E27FC236}">
                <a16:creationId xmlns:a16="http://schemas.microsoft.com/office/drawing/2014/main" id="{421F9A58-BF91-4139-874B-D6F2595E15D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11 / 38</a:t>
            </a:r>
          </a:p>
        </p:txBody>
      </p:sp>
    </p:spTree>
    <p:extLst>
      <p:ext uri="{BB962C8B-B14F-4D97-AF65-F5344CB8AC3E}">
        <p14:creationId xmlns:p14="http://schemas.microsoft.com/office/powerpoint/2010/main" val="411345800"/>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17E400-BD14-4C81-BB5E-90DBD81A53FD}"/>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7C6024A7-CC1E-4D04-A24E-18C728804E43}"/>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Projection in a real plane</a:t>
            </a:r>
          </a:p>
        </p:txBody>
      </p:sp>
      <p:pic>
        <p:nvPicPr>
          <p:cNvPr id="4" name="">
            <a:extLst xmlns:a="http://schemas.openxmlformats.org/drawingml/2006/main">
              <a:ext uri="{FF2B5EF4-FFF2-40B4-BE49-F238E27FC236}">
                <a16:creationId xmlns:a16="http://schemas.microsoft.com/office/drawing/2014/main" id="{ECEEB6E1-F3A3-4485-B5B0-55AA9084F284}"/>
              </a:ext>
            </a:extLst>
          </p:cNvPr>
          <p:cNvPicPr>
            <a:picLocks xmlns:a="http://schemas.openxmlformats.org/drawingml/2006/main" noChangeAspect="1"/>
          </p:cNvPicPr>
          <p:nvPr/>
        </p:nvPicPr>
        <p:blipFill>
          <a:blip xmlns:r="http://schemas.openxmlformats.org/officeDocument/2006/relationships" xmlns:a="http://schemas.openxmlformats.org/drawingml/2006/main" r:embed="R49b5775a0a4643f2"/>
          <a:stretch xmlns:a="http://schemas.openxmlformats.org/drawingml/2006/main"/>
        </p:blipFill>
        <p:spPr>
          <a:xfrm xmlns:a="http://schemas.openxmlformats.org/drawingml/2006/main">
            <a:off x="1671401" y="1619250"/>
            <a:ext cx="4829649" cy="428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B51360-4A03-4A47-B48C-C2832B432C65}"/>
              </a:ext>
            </a:extLst>
          </p:cNvPr>
          <p:cNvSpPr>
            <a:spLocks xmlns:a="http://schemas.openxmlformats.org/drawingml/2006/main" noGrp="1"/>
          </p:cNvSpPr>
          <p:nvPr/>
        </p:nvSpPr>
        <p:spPr>
          <a:xfrm xmlns:a="http://schemas.openxmlformats.org/drawingml/2006/main">
            <a:off x="7905750" y="1809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Additional real example: project onto the line y = x.</a:t>
            </a:r>
          </a:p>
        </p:txBody>
      </p:sp>
      <p:sp>
        <p:nvSpPr>
          <p:cNvPr id="6" name="">
            <a:extLst xmlns:a="http://schemas.openxmlformats.org/drawingml/2006/main">
              <a:ext uri="{FF2B5EF4-FFF2-40B4-BE49-F238E27FC236}">
                <a16:creationId xmlns:a16="http://schemas.microsoft.com/office/drawing/2014/main" id="{278C14F4-7CE2-4E21-AFA3-08A24A6B856C}"/>
              </a:ext>
            </a:extLst>
          </p:cNvPr>
          <p:cNvSpPr>
            <a:spLocks xmlns:a="http://schemas.openxmlformats.org/drawingml/2006/main" noGrp="1"/>
          </p:cNvSpPr>
          <p:nvPr/>
        </p:nvSpPr>
        <p:spPr>
          <a:xfrm xmlns:a="http://schemas.openxmlformats.org/drawingml/2006/main">
            <a:off x="7905750" y="31432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vector (2, 1) projects to (1.5, 1.5).</a:t>
            </a:r>
          </a:p>
        </p:txBody>
      </p:sp>
      <p:sp>
        <p:nvSpPr>
          <p:cNvPr id="7" name="">
            <a:extLst xmlns:a="http://schemas.openxmlformats.org/drawingml/2006/main">
              <a:ext uri="{FF2B5EF4-FFF2-40B4-BE49-F238E27FC236}">
                <a16:creationId xmlns:a16="http://schemas.microsoft.com/office/drawing/2014/main" id="{E56C4C94-A153-487E-8D48-94671701E14A}"/>
              </a:ext>
            </a:extLst>
          </p:cNvPr>
          <p:cNvSpPr>
            <a:spLocks xmlns:a="http://schemas.openxmlformats.org/drawingml/2006/main" noGrp="1"/>
          </p:cNvSpPr>
          <p:nvPr/>
        </p:nvSpPr>
        <p:spPr>
          <a:xfrm xmlns:a="http://schemas.openxmlformats.org/drawingml/2006/main">
            <a:off x="7905750" y="4476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dashed residual is perpendicular to that line.</a:t>
            </a:r>
          </a:p>
        </p:txBody>
      </p:sp>
      <p:sp>
        <p:nvSpPr>
          <p:cNvPr id="8" name="">
            <a:extLst xmlns:a="http://schemas.openxmlformats.org/drawingml/2006/main">
              <a:ext uri="{FF2B5EF4-FFF2-40B4-BE49-F238E27FC236}">
                <a16:creationId xmlns:a16="http://schemas.microsoft.com/office/drawing/2014/main" id="{045F1071-394B-49B7-AF2C-78E7CCADF466}"/>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12 / 38</a:t>
            </a:r>
          </a:p>
        </p:txBody>
      </p:sp>
    </p:spTree>
    <p:extLst>
      <p:ext uri="{BB962C8B-B14F-4D97-AF65-F5344CB8AC3E}">
        <p14:creationId xmlns:p14="http://schemas.microsoft.com/office/powerpoint/2010/main" val="1754774120"/>
      </p:ext>
    </p:extLst>
  </p:cSld>
</p:sld>
</file>

<file path=ppt/slides/slide1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C8E43E-38A0-4D5A-82F6-5FC6E6B446D3}"/>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A1CEB0F4-6FA7-4B80-94E2-E8C69BD4602C}"/>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Hermitian operators</a:t>
            </a:r>
          </a:p>
        </p:txBody>
      </p:sp>
      <p:pic>
        <p:nvPicPr>
          <p:cNvPr id="4" name="">
            <a:extLst xmlns:a="http://schemas.openxmlformats.org/drawingml/2006/main">
              <a:ext uri="{FF2B5EF4-FFF2-40B4-BE49-F238E27FC236}">
                <a16:creationId xmlns:a16="http://schemas.microsoft.com/office/drawing/2014/main" id="{E907E834-A8BA-46EC-81C4-480D0D42F8CC}"/>
              </a:ext>
            </a:extLst>
          </p:cNvPr>
          <p:cNvPicPr>
            <a:picLocks xmlns:a="http://schemas.openxmlformats.org/drawingml/2006/main" noChangeAspect="1"/>
          </p:cNvPicPr>
          <p:nvPr/>
        </p:nvPicPr>
        <p:blipFill>
          <a:blip xmlns:r="http://schemas.openxmlformats.org/officeDocument/2006/relationships" xmlns:a="http://schemas.openxmlformats.org/drawingml/2006/main" r:embed="Rb56e60b278564b64"/>
          <a:stretch xmlns:a="http://schemas.openxmlformats.org/drawingml/2006/main"/>
        </p:blipFill>
        <p:spPr>
          <a:xfrm xmlns:a="http://schemas.openxmlformats.org/drawingml/2006/main">
            <a:off x="609600" y="1870710"/>
            <a:ext cx="10972800" cy="17830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EEBFF0C-319E-4510-B873-36F47E46B007}"/>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Hermitian matrix equals its own adjoint.</a:t>
            </a:r>
          </a:p>
        </p:txBody>
      </p:sp>
      <p:sp>
        <p:nvSpPr>
          <p:cNvPr id="6" name="">
            <a:extLst xmlns:a="http://schemas.openxmlformats.org/drawingml/2006/main">
              <a:ext uri="{FF2B5EF4-FFF2-40B4-BE49-F238E27FC236}">
                <a16:creationId xmlns:a16="http://schemas.microsoft.com/office/drawing/2014/main" id="{650482B0-F0A9-4899-B27B-2DD65A35D85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Its eigenvalues are real, and it has an orthonormal eigenbasis.</a:t>
            </a:r>
          </a:p>
        </p:txBody>
      </p:sp>
      <p:sp>
        <p:nvSpPr>
          <p:cNvPr id="7" name="">
            <a:extLst xmlns:a="http://schemas.openxmlformats.org/drawingml/2006/main">
              <a:ext uri="{FF2B5EF4-FFF2-40B4-BE49-F238E27FC236}">
                <a16:creationId xmlns:a16="http://schemas.microsoft.com/office/drawing/2014/main" id="{31C1D611-D4A3-416F-8F03-470372BBD2AC}"/>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13 / 38</a:t>
            </a:r>
          </a:p>
        </p:txBody>
      </p:sp>
    </p:spTree>
    <p:extLst>
      <p:ext uri="{BB962C8B-B14F-4D97-AF65-F5344CB8AC3E}">
        <p14:creationId xmlns:p14="http://schemas.microsoft.com/office/powerpoint/2010/main" val="774907323"/>
      </p:ext>
    </p:extLst>
  </p:cSld>
</p:sld>
</file>

<file path=ppt/slides/slide1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96F752B-2AA5-49EB-B44E-DD02ED627720}"/>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004131F1-2348-4673-A864-4DEE8665545F}"/>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Why Hermitian expectations are real</a:t>
            </a:r>
          </a:p>
        </p:txBody>
      </p:sp>
      <p:pic>
        <p:nvPicPr>
          <p:cNvPr id="4" name="">
            <a:extLst xmlns:a="http://schemas.openxmlformats.org/drawingml/2006/main">
              <a:ext uri="{FF2B5EF4-FFF2-40B4-BE49-F238E27FC236}">
                <a16:creationId xmlns:a16="http://schemas.microsoft.com/office/drawing/2014/main" id="{C3DE7473-FDF7-4C03-B2F2-B160BE4347DE}"/>
              </a:ext>
            </a:extLst>
          </p:cNvPr>
          <p:cNvPicPr>
            <a:picLocks xmlns:a="http://schemas.openxmlformats.org/drawingml/2006/main" noChangeAspect="1"/>
          </p:cNvPicPr>
          <p:nvPr/>
        </p:nvPicPr>
        <p:blipFill>
          <a:blip xmlns:r="http://schemas.openxmlformats.org/officeDocument/2006/relationships" xmlns:a="http://schemas.openxmlformats.org/drawingml/2006/main" r:embed="R494d789f11a14fda"/>
          <a:stretch xmlns:a="http://schemas.openxmlformats.org/drawingml/2006/main"/>
        </p:blipFill>
        <p:spPr>
          <a:xfrm xmlns:a="http://schemas.openxmlformats.org/drawingml/2006/main">
            <a:off x="609600" y="2089150"/>
            <a:ext cx="10972800" cy="1346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710C34B-B64A-4DE8-B425-A4FA129250B2}"/>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scalar equal to its own conjugate is real.</a:t>
            </a:r>
          </a:p>
        </p:txBody>
      </p:sp>
      <p:sp>
        <p:nvSpPr>
          <p:cNvPr id="6" name="">
            <a:extLst xmlns:a="http://schemas.openxmlformats.org/drawingml/2006/main">
              <a:ext uri="{FF2B5EF4-FFF2-40B4-BE49-F238E27FC236}">
                <a16:creationId xmlns:a16="http://schemas.microsoft.com/office/drawing/2014/main" id="{173DDBFF-CF30-4280-8ED9-E1579DAB9E9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For a normalized state, this is the expectation of the observable A.</a:t>
            </a:r>
          </a:p>
        </p:txBody>
      </p:sp>
      <p:sp>
        <p:nvSpPr>
          <p:cNvPr id="7" name="">
            <a:extLst xmlns:a="http://schemas.openxmlformats.org/drawingml/2006/main">
              <a:ext uri="{FF2B5EF4-FFF2-40B4-BE49-F238E27FC236}">
                <a16:creationId xmlns:a16="http://schemas.microsoft.com/office/drawing/2014/main" id="{EC1F3AEF-A548-4A84-AF56-746D905EAB92}"/>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14 / 38</a:t>
            </a:r>
          </a:p>
        </p:txBody>
      </p:sp>
    </p:spTree>
    <p:extLst>
      <p:ext uri="{BB962C8B-B14F-4D97-AF65-F5344CB8AC3E}">
        <p14:creationId xmlns:p14="http://schemas.microsoft.com/office/powerpoint/2010/main" val="1873821521"/>
      </p:ext>
    </p:extLst>
  </p:cSld>
</p:sld>
</file>

<file path=ppt/slides/slide1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B24A6E0-2E54-449C-BC80-D7DCEDFA966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53E0929A-8772-46D6-BD46-83DAD49B599E}"/>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Unitary operators preserve inner products</a:t>
            </a:r>
          </a:p>
        </p:txBody>
      </p:sp>
      <p:pic>
        <p:nvPicPr>
          <p:cNvPr id="4" name="">
            <a:extLst xmlns:a="http://schemas.openxmlformats.org/drawingml/2006/main">
              <a:ext uri="{FF2B5EF4-FFF2-40B4-BE49-F238E27FC236}">
                <a16:creationId xmlns:a16="http://schemas.microsoft.com/office/drawing/2014/main" id="{AC481513-2FA4-479F-BB25-4B9912311082}"/>
              </a:ext>
            </a:extLst>
          </p:cNvPr>
          <p:cNvPicPr>
            <a:picLocks xmlns:a="http://schemas.openxmlformats.org/drawingml/2006/main" noChangeAspect="1"/>
          </p:cNvPicPr>
          <p:nvPr/>
        </p:nvPicPr>
        <p:blipFill>
          <a:blip xmlns:r="http://schemas.openxmlformats.org/officeDocument/2006/relationships" xmlns:a="http://schemas.openxmlformats.org/drawingml/2006/main" r:embed="R713f573195d945c0"/>
          <a:stretch xmlns:a="http://schemas.openxmlformats.org/drawingml/2006/main"/>
        </p:blipFill>
        <p:spPr>
          <a:xfrm xmlns:a="http://schemas.openxmlformats.org/drawingml/2006/main">
            <a:off x="609600" y="2076450"/>
            <a:ext cx="10972800" cy="1371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513D95-B707-4705-B9F0-D4B40DB26405}"/>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square unitary matrix preserves lengths and overlaps.</a:t>
            </a:r>
          </a:p>
        </p:txBody>
      </p:sp>
      <p:sp>
        <p:nvSpPr>
          <p:cNvPr id="6" name="">
            <a:extLst xmlns:a="http://schemas.openxmlformats.org/drawingml/2006/main">
              <a:ext uri="{FF2B5EF4-FFF2-40B4-BE49-F238E27FC236}">
                <a16:creationId xmlns:a16="http://schemas.microsoft.com/office/drawing/2014/main" id="{22809BE0-FDFC-415E-B9AC-AAF90271F0B9}"/>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Its columns form an orthonormal basis.</a:t>
            </a:r>
          </a:p>
        </p:txBody>
      </p:sp>
      <p:sp>
        <p:nvSpPr>
          <p:cNvPr id="7" name="">
            <a:extLst xmlns:a="http://schemas.openxmlformats.org/drawingml/2006/main">
              <a:ext uri="{FF2B5EF4-FFF2-40B4-BE49-F238E27FC236}">
                <a16:creationId xmlns:a16="http://schemas.microsoft.com/office/drawing/2014/main" id="{ABDB7D38-2C0E-4D1F-ADA7-81B9F8BB6627}"/>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15 / 38</a:t>
            </a:r>
          </a:p>
        </p:txBody>
      </p:sp>
    </p:spTree>
    <p:extLst>
      <p:ext uri="{BB962C8B-B14F-4D97-AF65-F5344CB8AC3E}">
        <p14:creationId xmlns:p14="http://schemas.microsoft.com/office/powerpoint/2010/main" val="1439192871"/>
      </p:ext>
    </p:extLst>
  </p:cSld>
</p:sld>
</file>

<file path=ppt/slides/slide1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D3EE4CB-91A2-4D90-8F3A-DF1519661F89}"/>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9364A1E5-0EC5-4A54-B3DA-C091AA1BBE0E}"/>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 real rotation is a unitary example</a:t>
            </a:r>
          </a:p>
        </p:txBody>
      </p:sp>
      <p:pic>
        <p:nvPicPr>
          <p:cNvPr id="4" name="">
            <a:extLst xmlns:a="http://schemas.openxmlformats.org/drawingml/2006/main">
              <a:ext uri="{FF2B5EF4-FFF2-40B4-BE49-F238E27FC236}">
                <a16:creationId xmlns:a16="http://schemas.microsoft.com/office/drawing/2014/main" id="{3801B507-634D-45F9-BF91-C7DFE7182E04}"/>
              </a:ext>
            </a:extLst>
          </p:cNvPr>
          <p:cNvPicPr>
            <a:picLocks xmlns:a="http://schemas.openxmlformats.org/drawingml/2006/main" noChangeAspect="1"/>
          </p:cNvPicPr>
          <p:nvPr/>
        </p:nvPicPr>
        <p:blipFill>
          <a:blip xmlns:r="http://schemas.openxmlformats.org/officeDocument/2006/relationships" xmlns:a="http://schemas.openxmlformats.org/drawingml/2006/main" r:embed="R40864b7ce6614335"/>
          <a:stretch xmlns:a="http://schemas.openxmlformats.org/drawingml/2006/main"/>
        </p:blipFill>
        <p:spPr>
          <a:xfrm xmlns:a="http://schemas.openxmlformats.org/drawingml/2006/main">
            <a:off x="1719646" y="1619250"/>
            <a:ext cx="4733158" cy="428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DD3CA0-34BF-4A4D-A706-E75A2D92571F}"/>
              </a:ext>
            </a:extLst>
          </p:cNvPr>
          <p:cNvSpPr>
            <a:spLocks xmlns:a="http://schemas.openxmlformats.org/drawingml/2006/main" noGrp="1"/>
          </p:cNvSpPr>
          <p:nvPr/>
        </p:nvSpPr>
        <p:spPr>
          <a:xfrm xmlns:a="http://schemas.openxmlformats.org/drawingml/2006/main">
            <a:off x="7905750" y="1809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real rotation turns (1, 0) by π/4.</a:t>
            </a:r>
          </a:p>
        </p:txBody>
      </p:sp>
      <p:sp>
        <p:nvSpPr>
          <p:cNvPr id="6" name="">
            <a:extLst xmlns:a="http://schemas.openxmlformats.org/drawingml/2006/main">
              <a:ext uri="{FF2B5EF4-FFF2-40B4-BE49-F238E27FC236}">
                <a16:creationId xmlns:a16="http://schemas.microsoft.com/office/drawing/2014/main" id="{DD162875-7438-45C8-A8D9-301B8C268F83}"/>
              </a:ext>
            </a:extLst>
          </p:cNvPr>
          <p:cNvSpPr>
            <a:spLocks xmlns:a="http://schemas.openxmlformats.org/drawingml/2006/main" noGrp="1"/>
          </p:cNvSpPr>
          <p:nvPr/>
        </p:nvSpPr>
        <p:spPr>
          <a:xfrm xmlns:a="http://schemas.openxmlformats.org/drawingml/2006/main">
            <a:off x="7905750" y="31432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Both endpoints lie on the unit circle.</a:t>
            </a:r>
          </a:p>
        </p:txBody>
      </p:sp>
      <p:sp>
        <p:nvSpPr>
          <p:cNvPr id="7" name="">
            <a:extLst xmlns:a="http://schemas.openxmlformats.org/drawingml/2006/main">
              <a:ext uri="{FF2B5EF4-FFF2-40B4-BE49-F238E27FC236}">
                <a16:creationId xmlns:a16="http://schemas.microsoft.com/office/drawing/2014/main" id="{1C1F0569-6C51-4BD6-BF3B-1B0362822A74}"/>
              </a:ext>
            </a:extLst>
          </p:cNvPr>
          <p:cNvSpPr>
            <a:spLocks xmlns:a="http://schemas.openxmlformats.org/drawingml/2006/main" noGrp="1"/>
          </p:cNvSpPr>
          <p:nvPr/>
        </p:nvSpPr>
        <p:spPr>
          <a:xfrm xmlns:a="http://schemas.openxmlformats.org/drawingml/2006/main">
            <a:off x="7905750" y="4476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A real orthogonal rotation is a special case of a unitary matrix.</a:t>
            </a:r>
          </a:p>
        </p:txBody>
      </p:sp>
      <p:sp>
        <p:nvSpPr>
          <p:cNvPr id="8" name="">
            <a:extLst xmlns:a="http://schemas.openxmlformats.org/drawingml/2006/main">
              <a:ext uri="{FF2B5EF4-FFF2-40B4-BE49-F238E27FC236}">
                <a16:creationId xmlns:a16="http://schemas.microsoft.com/office/drawing/2014/main" id="{1727F82F-705C-4BBD-B54B-AC9A8939CED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16 / 38</a:t>
            </a:r>
          </a:p>
        </p:txBody>
      </p:sp>
    </p:spTree>
    <p:extLst>
      <p:ext uri="{BB962C8B-B14F-4D97-AF65-F5344CB8AC3E}">
        <p14:creationId xmlns:p14="http://schemas.microsoft.com/office/powerpoint/2010/main" val="2125292936"/>
      </p:ext>
    </p:extLst>
  </p:cSld>
</p:sld>
</file>

<file path=ppt/slides/slide1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1509D5-687D-4703-BE16-7F021B674C18}"/>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2C245CDC-7AA4-4D7F-9A53-B36A409C30CE}"/>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Hermitian and unitary are different tests</a:t>
            </a:r>
          </a:p>
        </p:txBody>
      </p:sp>
      <p:pic>
        <p:nvPicPr>
          <p:cNvPr id="4" name="">
            <a:extLst xmlns:a="http://schemas.openxmlformats.org/drawingml/2006/main">
              <a:ext uri="{FF2B5EF4-FFF2-40B4-BE49-F238E27FC236}">
                <a16:creationId xmlns:a16="http://schemas.microsoft.com/office/drawing/2014/main" id="{525029A3-9F42-465B-8ABD-2602C5F1C48D}"/>
              </a:ext>
            </a:extLst>
          </p:cNvPr>
          <p:cNvPicPr>
            <a:picLocks xmlns:a="http://schemas.openxmlformats.org/drawingml/2006/main" noChangeAspect="1"/>
          </p:cNvPicPr>
          <p:nvPr/>
        </p:nvPicPr>
        <p:blipFill>
          <a:blip xmlns:r="http://schemas.openxmlformats.org/officeDocument/2006/relationships" xmlns:a="http://schemas.openxmlformats.org/drawingml/2006/main" r:embed="Rdd596eaaef874a3d"/>
          <a:stretch xmlns:a="http://schemas.openxmlformats.org/drawingml/2006/main"/>
        </p:blipFill>
        <p:spPr>
          <a:xfrm xmlns:a="http://schemas.openxmlformats.org/drawingml/2006/main">
            <a:off x="609600" y="1776730"/>
            <a:ext cx="10972800" cy="19710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CF1A32-4925-4958-8C78-A830D65F66C6}"/>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Z passes both tests. 2Z is Hermitian but fails unitarity.</a:t>
            </a:r>
          </a:p>
        </p:txBody>
      </p:sp>
      <p:sp>
        <p:nvSpPr>
          <p:cNvPr id="6" name="">
            <a:extLst xmlns:a="http://schemas.openxmlformats.org/drawingml/2006/main">
              <a:ext uri="{FF2B5EF4-FFF2-40B4-BE49-F238E27FC236}">
                <a16:creationId xmlns:a16="http://schemas.microsoft.com/office/drawing/2014/main" id="{7EB56711-CBA8-4CA2-A498-B2BCACE7C4D6}"/>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diagonal U is unitary for real θ and generally is not Hermitian.</a:t>
            </a:r>
          </a:p>
        </p:txBody>
      </p:sp>
      <p:sp>
        <p:nvSpPr>
          <p:cNvPr id="7" name="">
            <a:extLst xmlns:a="http://schemas.openxmlformats.org/drawingml/2006/main">
              <a:ext uri="{FF2B5EF4-FFF2-40B4-BE49-F238E27FC236}">
                <a16:creationId xmlns:a16="http://schemas.microsoft.com/office/drawing/2014/main" id="{7250AA07-2023-4455-A56E-4B3E5D814834}"/>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17 / 38</a:t>
            </a:r>
          </a:p>
        </p:txBody>
      </p:sp>
    </p:spTree>
    <p:extLst>
      <p:ext uri="{BB962C8B-B14F-4D97-AF65-F5344CB8AC3E}">
        <p14:creationId xmlns:p14="http://schemas.microsoft.com/office/powerpoint/2010/main" val="370201978"/>
      </p:ext>
    </p:extLst>
  </p:cSld>
</p:sld>
</file>

<file path=ppt/slides/slide1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413FCAA-1F1C-4BF2-A3E0-22A0EDB38CDD}"/>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ECD46008-0862-46CB-AE68-DAD46F17DD91}"/>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Eigenvalues and eigenvectors</a:t>
            </a:r>
          </a:p>
        </p:txBody>
      </p:sp>
      <p:pic>
        <p:nvPicPr>
          <p:cNvPr id="4" name="">
            <a:extLst xmlns:a="http://schemas.openxmlformats.org/drawingml/2006/main">
              <a:ext uri="{FF2B5EF4-FFF2-40B4-BE49-F238E27FC236}">
                <a16:creationId xmlns:a16="http://schemas.microsoft.com/office/drawing/2014/main" id="{CBA831DA-BAE9-4A89-B43D-31E923509F19}"/>
              </a:ext>
            </a:extLst>
          </p:cNvPr>
          <p:cNvPicPr>
            <a:picLocks xmlns:a="http://schemas.openxmlformats.org/drawingml/2006/main" noChangeAspect="1"/>
          </p:cNvPicPr>
          <p:nvPr/>
        </p:nvPicPr>
        <p:blipFill>
          <a:blip xmlns:r="http://schemas.openxmlformats.org/officeDocument/2006/relationships" xmlns:a="http://schemas.openxmlformats.org/drawingml/2006/main" r:embed="R98b530fd1bb144cf"/>
          <a:stretch xmlns:a="http://schemas.openxmlformats.org/drawingml/2006/main"/>
        </p:blipFill>
        <p:spPr>
          <a:xfrm xmlns:a="http://schemas.openxmlformats.org/drawingml/2006/main">
            <a:off x="609600" y="2122170"/>
            <a:ext cx="10972800" cy="12801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B7C6A5-550A-45E6-9E91-80E63DA08315}"/>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An eigenvector keeps its direction under the linear map.</a:t>
            </a:r>
          </a:p>
        </p:txBody>
      </p:sp>
      <p:sp>
        <p:nvSpPr>
          <p:cNvPr id="6" name="">
            <a:extLst xmlns:a="http://schemas.openxmlformats.org/drawingml/2006/main">
              <a:ext uri="{FF2B5EF4-FFF2-40B4-BE49-F238E27FC236}">
                <a16:creationId xmlns:a16="http://schemas.microsoft.com/office/drawing/2014/main" id="{E8029A3A-7408-48BB-B501-EFCB4C750F87}"/>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Its eigenvalue gives the complex scale factor.</a:t>
            </a:r>
          </a:p>
        </p:txBody>
      </p:sp>
      <p:sp>
        <p:nvSpPr>
          <p:cNvPr id="7" name="">
            <a:extLst xmlns:a="http://schemas.openxmlformats.org/drawingml/2006/main">
              <a:ext uri="{FF2B5EF4-FFF2-40B4-BE49-F238E27FC236}">
                <a16:creationId xmlns:a16="http://schemas.microsoft.com/office/drawing/2014/main" id="{79CCE073-FFB0-4AA6-BC6B-A9D1681C8D00}"/>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18 / 38</a:t>
            </a:r>
          </a:p>
        </p:txBody>
      </p:sp>
    </p:spTree>
    <p:extLst>
      <p:ext uri="{BB962C8B-B14F-4D97-AF65-F5344CB8AC3E}">
        <p14:creationId xmlns:p14="http://schemas.microsoft.com/office/powerpoint/2010/main" val="1035876009"/>
      </p:ext>
    </p:extLst>
  </p:cSld>
</p:sld>
</file>

<file path=ppt/slides/slide1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EF8198-722F-4BC5-BFC1-8C9790ED90D0}"/>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9082BAD1-A9AC-4F8E-A780-17D0B7F9DD18}"/>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Hermitian eigensolvers and degeneracy</a:t>
            </a:r>
          </a:p>
        </p:txBody>
      </p:sp>
      <p:pic>
        <p:nvPicPr>
          <p:cNvPr id="4" name="">
            <a:extLst xmlns:a="http://schemas.openxmlformats.org/drawingml/2006/main">
              <a:ext uri="{FF2B5EF4-FFF2-40B4-BE49-F238E27FC236}">
                <a16:creationId xmlns:a16="http://schemas.microsoft.com/office/drawing/2014/main" id="{DF035D9E-FDD0-4D23-A6F0-EBE9429565F6}"/>
              </a:ext>
            </a:extLst>
          </p:cNvPr>
          <p:cNvPicPr>
            <a:picLocks xmlns:a="http://schemas.openxmlformats.org/drawingml/2006/main" noChangeAspect="1"/>
          </p:cNvPicPr>
          <p:nvPr/>
        </p:nvPicPr>
        <p:blipFill>
          <a:blip xmlns:r="http://schemas.openxmlformats.org/officeDocument/2006/relationships" xmlns:a="http://schemas.openxmlformats.org/drawingml/2006/main" r:embed="R07f78b753c734cb2"/>
          <a:stretch xmlns:a="http://schemas.openxmlformats.org/drawingml/2006/main"/>
        </p:blipFill>
        <p:spPr>
          <a:xfrm xmlns:a="http://schemas.openxmlformats.org/drawingml/2006/main">
            <a:off x="609600" y="2383790"/>
            <a:ext cx="10972800" cy="75692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8037748-C54E-4CC3-967B-141858B59035}"/>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Columns of Q are orthonormal eigenvectors.</a:t>
            </a:r>
          </a:p>
        </p:txBody>
      </p:sp>
      <p:sp>
        <p:nvSpPr>
          <p:cNvPr id="6" name="">
            <a:extLst xmlns:a="http://schemas.openxmlformats.org/drawingml/2006/main">
              <a:ext uri="{FF2B5EF4-FFF2-40B4-BE49-F238E27FC236}">
                <a16:creationId xmlns:a16="http://schemas.microsoft.com/office/drawing/2014/main" id="{8DDB782C-B8AE-4205-9E8A-B25EA04D176F}"/>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Use numpy.linalg.eigh for a Hermitian matrix.</a:t>
            </a:r>
          </a:p>
        </p:txBody>
      </p:sp>
      <p:sp>
        <p:nvSpPr>
          <p:cNvPr id="7" name="">
            <a:extLst xmlns:a="http://schemas.openxmlformats.org/drawingml/2006/main">
              <a:ext uri="{FF2B5EF4-FFF2-40B4-BE49-F238E27FC236}">
                <a16:creationId xmlns:a16="http://schemas.microsoft.com/office/drawing/2014/main" id="{88489527-123D-4030-8863-6AF5D8780F56}"/>
              </a:ext>
            </a:extLst>
          </p:cNvPr>
          <p:cNvSpPr>
            <a:spLocks xmlns:a="http://schemas.openxmlformats.org/drawingml/2006/main" noGrp="1"/>
          </p:cNvSpPr>
          <p:nvPr/>
        </p:nvSpPr>
        <p:spPr>
          <a:xfrm xmlns:a="http://schemas.openxmlformats.org/drawingml/2006/main">
            <a:off x="609600" y="56007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Repeated eigenvalues define a subspace with many valid bases.</a:t>
            </a:r>
          </a:p>
        </p:txBody>
      </p:sp>
      <p:sp>
        <p:nvSpPr>
          <p:cNvPr id="8" name="">
            <a:extLst xmlns:a="http://schemas.openxmlformats.org/drawingml/2006/main">
              <a:ext uri="{FF2B5EF4-FFF2-40B4-BE49-F238E27FC236}">
                <a16:creationId xmlns:a16="http://schemas.microsoft.com/office/drawing/2014/main" id="{B7935C98-CF9D-4FB1-B3C7-9C17728BEFF6}"/>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19 / 38</a:t>
            </a:r>
          </a:p>
        </p:txBody>
      </p:sp>
    </p:spTree>
    <p:extLst>
      <p:ext uri="{BB962C8B-B14F-4D97-AF65-F5344CB8AC3E}">
        <p14:creationId xmlns:p14="http://schemas.microsoft.com/office/powerpoint/2010/main" val="1611084438"/>
      </p:ext>
    </p:extLst>
  </p:cSld>
</p:sld>
</file>

<file path=ppt/slides/slide2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916B98F-065F-4F12-AA68-6CC444343A9B}"/>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E9247019-2E1F-4211-BFF6-981D6B91C8FC}"/>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Spectral decomposition</a:t>
            </a:r>
          </a:p>
        </p:txBody>
      </p:sp>
      <p:pic>
        <p:nvPicPr>
          <p:cNvPr id="4" name="">
            <a:extLst xmlns:a="http://schemas.openxmlformats.org/drawingml/2006/main">
              <a:ext uri="{FF2B5EF4-FFF2-40B4-BE49-F238E27FC236}">
                <a16:creationId xmlns:a16="http://schemas.microsoft.com/office/drawing/2014/main" id="{4D526277-9CEC-4BB5-A60C-ACB3F4815ABA}"/>
              </a:ext>
            </a:extLst>
          </p:cNvPr>
          <p:cNvPicPr>
            <a:picLocks xmlns:a="http://schemas.openxmlformats.org/drawingml/2006/main" noChangeAspect="1"/>
          </p:cNvPicPr>
          <p:nvPr/>
        </p:nvPicPr>
        <p:blipFill>
          <a:blip xmlns:r="http://schemas.openxmlformats.org/officeDocument/2006/relationships" xmlns:a="http://schemas.openxmlformats.org/drawingml/2006/main" r:embed="R2cca0d0ee2d34efc"/>
          <a:stretch xmlns:a="http://schemas.openxmlformats.org/drawingml/2006/main"/>
        </p:blipFill>
        <p:spPr>
          <a:xfrm xmlns:a="http://schemas.openxmlformats.org/drawingml/2006/main">
            <a:off x="1402312" y="1619250"/>
            <a:ext cx="9387376"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91E911C-3DE8-4AB5-B730-CC1DA3262C10}"/>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This form applies here to a finite Hermitian matrix.</a:t>
            </a:r>
          </a:p>
        </p:txBody>
      </p:sp>
      <p:sp>
        <p:nvSpPr>
          <p:cNvPr id="6" name="">
            <a:extLst xmlns:a="http://schemas.openxmlformats.org/drawingml/2006/main">
              <a:ext uri="{FF2B5EF4-FFF2-40B4-BE49-F238E27FC236}">
                <a16:creationId xmlns:a16="http://schemas.microsoft.com/office/drawing/2014/main" id="{16FCD7B0-A2DD-4FFF-8776-598AD1240399}"/>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Each eigenprojector selects one orthonormal direction.</a:t>
            </a:r>
          </a:p>
        </p:txBody>
      </p:sp>
      <p:sp>
        <p:nvSpPr>
          <p:cNvPr id="7" name="">
            <a:extLst xmlns:a="http://schemas.openxmlformats.org/drawingml/2006/main">
              <a:ext uri="{FF2B5EF4-FFF2-40B4-BE49-F238E27FC236}">
                <a16:creationId xmlns:a16="http://schemas.microsoft.com/office/drawing/2014/main" id="{9F2AD0C2-E655-46D8-9F50-66990EDF716C}"/>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20 / 38</a:t>
            </a:r>
          </a:p>
        </p:txBody>
      </p:sp>
    </p:spTree>
    <p:extLst>
      <p:ext uri="{BB962C8B-B14F-4D97-AF65-F5344CB8AC3E}">
        <p14:creationId xmlns:p14="http://schemas.microsoft.com/office/powerpoint/2010/main" val="2129798213"/>
      </p:ext>
    </p:extLst>
  </p:cSld>
</p:sld>
</file>

<file path=ppt/slides/slide2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C62260E-F5D1-46B7-BB43-6D116320FA6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82AD04F2-16ED-4F00-B87E-973938DD0397}"/>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Example 4 · The spectrum of Pauli X</a:t>
            </a:r>
          </a:p>
        </p:txBody>
      </p:sp>
      <p:pic>
        <p:nvPicPr>
          <p:cNvPr id="4" name="">
            <a:extLst xmlns:a="http://schemas.openxmlformats.org/drawingml/2006/main">
              <a:ext uri="{FF2B5EF4-FFF2-40B4-BE49-F238E27FC236}">
                <a16:creationId xmlns:a16="http://schemas.microsoft.com/office/drawing/2014/main" id="{7A5327A1-7746-447E-8616-B503A9D84DA3}"/>
              </a:ext>
            </a:extLst>
          </p:cNvPr>
          <p:cNvPicPr>
            <a:picLocks xmlns:a="http://schemas.openxmlformats.org/drawingml/2006/main" noChangeAspect="1"/>
          </p:cNvPicPr>
          <p:nvPr/>
        </p:nvPicPr>
        <p:blipFill>
          <a:blip xmlns:r="http://schemas.openxmlformats.org/officeDocument/2006/relationships" xmlns:a="http://schemas.openxmlformats.org/drawingml/2006/main" r:embed="R77273cd1c72c45de"/>
          <a:stretch xmlns:a="http://schemas.openxmlformats.org/drawingml/2006/main"/>
        </p:blipFill>
        <p:spPr>
          <a:xfrm xmlns:a="http://schemas.openxmlformats.org/drawingml/2006/main">
            <a:off x="609600" y="1814830"/>
            <a:ext cx="10972800" cy="18948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AB91774-05D3-42DA-A4DA-9F4EB377CD1A}"/>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eigenvalues are +1 and −1.</a:t>
            </a:r>
          </a:p>
        </p:txBody>
      </p:sp>
      <p:sp>
        <p:nvSpPr>
          <p:cNvPr id="6" name="">
            <a:extLst xmlns:a="http://schemas.openxmlformats.org/drawingml/2006/main">
              <a:ext uri="{FF2B5EF4-FFF2-40B4-BE49-F238E27FC236}">
                <a16:creationId xmlns:a16="http://schemas.microsoft.com/office/drawing/2014/main" id="{6778077B-FFF6-4BE0-9B71-910F356B3CAE}"/>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two eigenprojectors sum to the identity.</a:t>
            </a:r>
          </a:p>
        </p:txBody>
      </p:sp>
      <p:sp>
        <p:nvSpPr>
          <p:cNvPr id="7" name="">
            <a:extLst xmlns:a="http://schemas.openxmlformats.org/drawingml/2006/main">
              <a:ext uri="{FF2B5EF4-FFF2-40B4-BE49-F238E27FC236}">
                <a16:creationId xmlns:a16="http://schemas.microsoft.com/office/drawing/2014/main" id="{B99A5E1C-790B-4AA1-8A4A-7F7E3AEB044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21 / 38</a:t>
            </a:r>
          </a:p>
        </p:txBody>
      </p:sp>
    </p:spTree>
    <p:extLst>
      <p:ext uri="{BB962C8B-B14F-4D97-AF65-F5344CB8AC3E}">
        <p14:creationId xmlns:p14="http://schemas.microsoft.com/office/powerpoint/2010/main" val="237017633"/>
      </p:ext>
    </p:extLst>
  </p:cSld>
</p:sld>
</file>

<file path=ppt/slides/slide2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6735E75-61C7-4858-9EF3-48AD3CF4BDDC}"/>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6D59A6E7-1C17-4CA4-84CE-9FE212911477}"/>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Eigenvectors of X in a real plane</a:t>
            </a:r>
          </a:p>
        </p:txBody>
      </p:sp>
      <p:pic>
        <p:nvPicPr>
          <p:cNvPr id="4" name="">
            <a:extLst xmlns:a="http://schemas.openxmlformats.org/drawingml/2006/main">
              <a:ext uri="{FF2B5EF4-FFF2-40B4-BE49-F238E27FC236}">
                <a16:creationId xmlns:a16="http://schemas.microsoft.com/office/drawing/2014/main" id="{27C129CD-C652-4764-844C-735BF533E686}"/>
              </a:ext>
            </a:extLst>
          </p:cNvPr>
          <p:cNvPicPr>
            <a:picLocks xmlns:a="http://schemas.openxmlformats.org/drawingml/2006/main" noChangeAspect="1"/>
          </p:cNvPicPr>
          <p:nvPr/>
        </p:nvPicPr>
        <p:blipFill>
          <a:blip xmlns:r="http://schemas.openxmlformats.org/officeDocument/2006/relationships" xmlns:a="http://schemas.openxmlformats.org/drawingml/2006/main" r:embed="R66f8bcfdab8343f4"/>
          <a:stretch xmlns:a="http://schemas.openxmlformats.org/drawingml/2006/main"/>
        </p:blipFill>
        <p:spPr>
          <a:xfrm xmlns:a="http://schemas.openxmlformats.org/drawingml/2006/main">
            <a:off x="1376848" y="1619250"/>
            <a:ext cx="5418754" cy="428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FC03816-CA94-429D-A493-8C1A3F1DF578}"/>
              </a:ext>
            </a:extLst>
          </p:cNvPr>
          <p:cNvSpPr>
            <a:spLocks xmlns:a="http://schemas.openxmlformats.org/drawingml/2006/main" noGrp="1"/>
          </p:cNvSpPr>
          <p:nvPr/>
        </p:nvSpPr>
        <p:spPr>
          <a:xfrm xmlns:a="http://schemas.openxmlformats.org/drawingml/2006/main">
            <a:off x="7905750" y="1809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X exchanges the two real coordinates.</a:t>
            </a:r>
          </a:p>
        </p:txBody>
      </p:sp>
      <p:sp>
        <p:nvSpPr>
          <p:cNvPr id="6" name="">
            <a:extLst xmlns:a="http://schemas.openxmlformats.org/drawingml/2006/main">
              <a:ext uri="{FF2B5EF4-FFF2-40B4-BE49-F238E27FC236}">
                <a16:creationId xmlns:a16="http://schemas.microsoft.com/office/drawing/2014/main" id="{8B56C454-FDB8-4E69-AD27-3D1010D4BF64}"/>
              </a:ext>
            </a:extLst>
          </p:cNvPr>
          <p:cNvSpPr>
            <a:spLocks xmlns:a="http://schemas.openxmlformats.org/drawingml/2006/main" noGrp="1"/>
          </p:cNvSpPr>
          <p:nvPr/>
        </p:nvSpPr>
        <p:spPr>
          <a:xfrm xmlns:a="http://schemas.openxmlformats.org/drawingml/2006/main">
            <a:off x="7905750" y="31432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plus direction stays fixed: eigenvalue +1.</a:t>
            </a:r>
          </a:p>
        </p:txBody>
      </p:sp>
      <p:sp>
        <p:nvSpPr>
          <p:cNvPr id="7" name="">
            <a:extLst xmlns:a="http://schemas.openxmlformats.org/drawingml/2006/main">
              <a:ext uri="{FF2B5EF4-FFF2-40B4-BE49-F238E27FC236}">
                <a16:creationId xmlns:a16="http://schemas.microsoft.com/office/drawing/2014/main" id="{C379E1C8-B1E4-4226-BA1F-CFD77BA56F0B}"/>
              </a:ext>
            </a:extLst>
          </p:cNvPr>
          <p:cNvSpPr>
            <a:spLocks xmlns:a="http://schemas.openxmlformats.org/drawingml/2006/main" noGrp="1"/>
          </p:cNvSpPr>
          <p:nvPr/>
        </p:nvSpPr>
        <p:spPr>
          <a:xfrm xmlns:a="http://schemas.openxmlformats.org/drawingml/2006/main">
            <a:off x="7905750" y="4476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minus direction reverses: eigenvalue −1.</a:t>
            </a:r>
          </a:p>
        </p:txBody>
      </p:sp>
      <p:sp>
        <p:nvSpPr>
          <p:cNvPr id="8" name="">
            <a:extLst xmlns:a="http://schemas.openxmlformats.org/drawingml/2006/main">
              <a:ext uri="{FF2B5EF4-FFF2-40B4-BE49-F238E27FC236}">
                <a16:creationId xmlns:a16="http://schemas.microsoft.com/office/drawing/2014/main" id="{FF760CA5-9668-4644-A344-72C30F0183F8}"/>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22 / 38</a:t>
            </a:r>
          </a:p>
        </p:txBody>
      </p:sp>
    </p:spTree>
    <p:extLst>
      <p:ext uri="{BB962C8B-B14F-4D97-AF65-F5344CB8AC3E}">
        <p14:creationId xmlns:p14="http://schemas.microsoft.com/office/powerpoint/2010/main" val="2146450205"/>
      </p:ext>
    </p:extLst>
  </p:cSld>
</p:sld>
</file>

<file path=ppt/slides/slide2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45344CE-8E38-45E4-969D-5B1E7B1E7D1E}"/>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74DF2146-EEF3-4A04-933F-ED611CAEEFE3}"/>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Functions of a Hermitian matrix</a:t>
            </a:r>
          </a:p>
        </p:txBody>
      </p:sp>
      <p:pic>
        <p:nvPicPr>
          <p:cNvPr id="4" name="">
            <a:extLst xmlns:a="http://schemas.openxmlformats.org/drawingml/2006/main">
              <a:ext uri="{FF2B5EF4-FFF2-40B4-BE49-F238E27FC236}">
                <a16:creationId xmlns:a16="http://schemas.microsoft.com/office/drawing/2014/main" id="{DBD17ADB-2572-41DF-8F66-98D8A6AF8485}"/>
              </a:ext>
            </a:extLst>
          </p:cNvPr>
          <p:cNvPicPr>
            <a:picLocks xmlns:a="http://schemas.openxmlformats.org/drawingml/2006/main" noChangeAspect="1"/>
          </p:cNvPicPr>
          <p:nvPr/>
        </p:nvPicPr>
        <p:blipFill>
          <a:blip xmlns:r="http://schemas.openxmlformats.org/officeDocument/2006/relationships" xmlns:a="http://schemas.openxmlformats.org/drawingml/2006/main" r:embed="R01fc5f3aaedb45df"/>
          <a:stretch xmlns:a="http://schemas.openxmlformats.org/drawingml/2006/main"/>
        </p:blipFill>
        <p:spPr>
          <a:xfrm xmlns:a="http://schemas.openxmlformats.org/drawingml/2006/main">
            <a:off x="609600" y="2068830"/>
            <a:ext cx="10972800" cy="13868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C8D4611-3F52-44CF-B0C2-63DC01E58036}"/>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For polynomials and the exponential, apply f to the eigenvalues.</a:t>
            </a:r>
          </a:p>
        </p:txBody>
      </p:sp>
      <p:sp>
        <p:nvSpPr>
          <p:cNvPr id="6" name="">
            <a:extLst xmlns:a="http://schemas.openxmlformats.org/drawingml/2006/main">
              <a:ext uri="{FF2B5EF4-FFF2-40B4-BE49-F238E27FC236}">
                <a16:creationId xmlns:a16="http://schemas.microsoft.com/office/drawing/2014/main" id="{84572447-5E9C-4C7D-9313-BA725DF96FBD}"/>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Elementwise application to the entries of A generally gives a different matrix.</a:t>
            </a:r>
          </a:p>
        </p:txBody>
      </p:sp>
      <p:sp>
        <p:nvSpPr>
          <p:cNvPr id="7" name="">
            <a:extLst xmlns:a="http://schemas.openxmlformats.org/drawingml/2006/main">
              <a:ext uri="{FF2B5EF4-FFF2-40B4-BE49-F238E27FC236}">
                <a16:creationId xmlns:a16="http://schemas.microsoft.com/office/drawing/2014/main" id="{437DFBB1-AEE3-4A9B-B76B-92B8EC430997}"/>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23 / 38</a:t>
            </a:r>
          </a:p>
        </p:txBody>
      </p:sp>
    </p:spTree>
    <p:extLst>
      <p:ext uri="{BB962C8B-B14F-4D97-AF65-F5344CB8AC3E}">
        <p14:creationId xmlns:p14="http://schemas.microsoft.com/office/powerpoint/2010/main" val="1824502330"/>
      </p:ext>
    </p:extLst>
  </p:cSld>
</p:sld>
</file>

<file path=ppt/slides/slide2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1ADEB1-31E5-472C-9701-3DD0854D9697}"/>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A59A778C-C551-444E-BB70-2B3BE0990C73}"/>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The matrix exponential series</a:t>
            </a:r>
          </a:p>
        </p:txBody>
      </p:sp>
      <p:pic>
        <p:nvPicPr>
          <p:cNvPr id="4" name="">
            <a:extLst xmlns:a="http://schemas.openxmlformats.org/drawingml/2006/main">
              <a:ext uri="{FF2B5EF4-FFF2-40B4-BE49-F238E27FC236}">
                <a16:creationId xmlns:a16="http://schemas.microsoft.com/office/drawing/2014/main" id="{9BE49D1C-2785-4060-A2BE-83DC1D696C84}"/>
              </a:ext>
            </a:extLst>
          </p:cNvPr>
          <p:cNvPicPr>
            <a:picLocks xmlns:a="http://schemas.openxmlformats.org/drawingml/2006/main" noChangeAspect="1"/>
          </p:cNvPicPr>
          <p:nvPr/>
        </p:nvPicPr>
        <p:blipFill>
          <a:blip xmlns:r="http://schemas.openxmlformats.org/officeDocument/2006/relationships" xmlns:a="http://schemas.openxmlformats.org/drawingml/2006/main" r:embed="R07d07994db684fc2"/>
          <a:stretch xmlns:a="http://schemas.openxmlformats.org/drawingml/2006/main"/>
        </p:blipFill>
        <p:spPr>
          <a:xfrm xmlns:a="http://schemas.openxmlformats.org/drawingml/2006/main">
            <a:off x="609600" y="2051050"/>
            <a:ext cx="10972800" cy="1422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4421881-A508-4E0A-9759-FCF1118F3681}"/>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zeroth matrix power is I. Each higher power uses matrix multiplication.</a:t>
            </a:r>
          </a:p>
        </p:txBody>
      </p:sp>
      <p:sp>
        <p:nvSpPr>
          <p:cNvPr id="6" name="">
            <a:extLst xmlns:a="http://schemas.openxmlformats.org/drawingml/2006/main">
              <a:ext uri="{FF2B5EF4-FFF2-40B4-BE49-F238E27FC236}">
                <a16:creationId xmlns:a16="http://schemas.microsoft.com/office/drawing/2014/main" id="{74612AFF-3984-4F4F-B92F-B56A80010558}"/>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series converges for every finite square matrix.</a:t>
            </a:r>
          </a:p>
        </p:txBody>
      </p:sp>
      <p:sp>
        <p:nvSpPr>
          <p:cNvPr id="7" name="">
            <a:extLst xmlns:a="http://schemas.openxmlformats.org/drawingml/2006/main">
              <a:ext uri="{FF2B5EF4-FFF2-40B4-BE49-F238E27FC236}">
                <a16:creationId xmlns:a16="http://schemas.microsoft.com/office/drawing/2014/main" id="{1928EE7D-9F6F-4B94-A0F8-41A8D7B665AF}"/>
              </a:ext>
            </a:extLst>
          </p:cNvPr>
          <p:cNvSpPr>
            <a:spLocks xmlns:a="http://schemas.openxmlformats.org/drawingml/2006/main" noGrp="1"/>
          </p:cNvSpPr>
          <p:nvPr/>
        </p:nvSpPr>
        <p:spPr>
          <a:xfrm xmlns:a="http://schemas.openxmlformats.org/drawingml/2006/main">
            <a:off x="609600" y="56007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Use scipy.linalg.expm for numerical matrix exponentials.</a:t>
            </a:r>
          </a:p>
        </p:txBody>
      </p:sp>
      <p:sp>
        <p:nvSpPr>
          <p:cNvPr id="8" name="">
            <a:extLst xmlns:a="http://schemas.openxmlformats.org/drawingml/2006/main">
              <a:ext uri="{FF2B5EF4-FFF2-40B4-BE49-F238E27FC236}">
                <a16:creationId xmlns:a16="http://schemas.microsoft.com/office/drawing/2014/main" id="{E4E543C6-4AAA-460A-98DD-A221A0B1BF54}"/>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24 / 38</a:t>
            </a:r>
          </a:p>
        </p:txBody>
      </p:sp>
    </p:spTree>
    <p:extLst>
      <p:ext uri="{BB962C8B-B14F-4D97-AF65-F5344CB8AC3E}">
        <p14:creationId xmlns:p14="http://schemas.microsoft.com/office/powerpoint/2010/main" val="47203875"/>
      </p:ext>
    </p:extLst>
  </p:cSld>
</p:sld>
</file>

<file path=ppt/slides/slide2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3F0505B-E48A-4385-BD0F-7E293E6938A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7A439D7D-0B45-4E00-A053-C1B83986592E}"/>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Two exponentials of the zero matrix</a:t>
            </a:r>
          </a:p>
        </p:txBody>
      </p:sp>
      <p:pic>
        <p:nvPicPr>
          <p:cNvPr id="4" name="">
            <a:extLst xmlns:a="http://schemas.openxmlformats.org/drawingml/2006/main">
              <a:ext uri="{FF2B5EF4-FFF2-40B4-BE49-F238E27FC236}">
                <a16:creationId xmlns:a16="http://schemas.microsoft.com/office/drawing/2014/main" id="{B550F71E-3A4E-47DC-BCC7-DC726C3B73F1}"/>
              </a:ext>
            </a:extLst>
          </p:cNvPr>
          <p:cNvPicPr>
            <a:picLocks xmlns:a="http://schemas.openxmlformats.org/drawingml/2006/main" noChangeAspect="1"/>
          </p:cNvPicPr>
          <p:nvPr/>
        </p:nvPicPr>
        <p:blipFill>
          <a:blip xmlns:r="http://schemas.openxmlformats.org/officeDocument/2006/relationships" xmlns:a="http://schemas.openxmlformats.org/drawingml/2006/main" r:embed="R07d8e287f7554653"/>
          <a:stretch xmlns:a="http://schemas.openxmlformats.org/drawingml/2006/main"/>
        </p:blipFill>
        <p:spPr>
          <a:xfrm xmlns:a="http://schemas.openxmlformats.org/drawingml/2006/main">
            <a:off x="609600" y="1978625"/>
            <a:ext cx="6953250" cy="356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4D73D99-B132-4BFB-B40A-AC13D6B4CCE0}"/>
              </a:ext>
            </a:extLst>
          </p:cNvPr>
          <p:cNvSpPr>
            <a:spLocks xmlns:a="http://schemas.openxmlformats.org/drawingml/2006/main" noGrp="1"/>
          </p:cNvSpPr>
          <p:nvPr/>
        </p:nvSpPr>
        <p:spPr>
          <a:xfrm xmlns:a="http://schemas.openxmlformats.org/drawingml/2006/main">
            <a:off x="7905750" y="1809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Both panels start from the same 2 × 2 zero matrix.</a:t>
            </a:r>
          </a:p>
        </p:txBody>
      </p:sp>
      <p:sp>
        <p:nvSpPr>
          <p:cNvPr id="6" name="">
            <a:extLst xmlns:a="http://schemas.openxmlformats.org/drawingml/2006/main">
              <a:ext uri="{FF2B5EF4-FFF2-40B4-BE49-F238E27FC236}">
                <a16:creationId xmlns:a16="http://schemas.microsoft.com/office/drawing/2014/main" id="{6CCF67FE-92B2-46E0-85A5-AA4A33209400}"/>
              </a:ext>
            </a:extLst>
          </p:cNvPr>
          <p:cNvSpPr>
            <a:spLocks xmlns:a="http://schemas.openxmlformats.org/drawingml/2006/main" noGrp="1"/>
          </p:cNvSpPr>
          <p:nvPr/>
        </p:nvSpPr>
        <p:spPr>
          <a:xfrm xmlns:a="http://schemas.openxmlformats.org/drawingml/2006/main">
            <a:off x="7905750" y="31432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Matrix exponentiation gives the identity.</a:t>
            </a:r>
          </a:p>
        </p:txBody>
      </p:sp>
      <p:sp>
        <p:nvSpPr>
          <p:cNvPr id="7" name="">
            <a:extLst xmlns:a="http://schemas.openxmlformats.org/drawingml/2006/main">
              <a:ext uri="{FF2B5EF4-FFF2-40B4-BE49-F238E27FC236}">
                <a16:creationId xmlns:a16="http://schemas.microsoft.com/office/drawing/2014/main" id="{033079EB-B9EF-4F92-94A5-F2A20897FFB0}"/>
              </a:ext>
            </a:extLst>
          </p:cNvPr>
          <p:cNvSpPr>
            <a:spLocks xmlns:a="http://schemas.openxmlformats.org/drawingml/2006/main" noGrp="1"/>
          </p:cNvSpPr>
          <p:nvPr/>
        </p:nvSpPr>
        <p:spPr>
          <a:xfrm xmlns:a="http://schemas.openxmlformats.org/drawingml/2006/main">
            <a:off x="7905750" y="4476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Elementwise exponentiation gives a matrix of ones.</a:t>
            </a:r>
          </a:p>
        </p:txBody>
      </p:sp>
      <p:sp>
        <p:nvSpPr>
          <p:cNvPr id="8" name="">
            <a:extLst xmlns:a="http://schemas.openxmlformats.org/drawingml/2006/main">
              <a:ext uri="{FF2B5EF4-FFF2-40B4-BE49-F238E27FC236}">
                <a16:creationId xmlns:a16="http://schemas.microsoft.com/office/drawing/2014/main" id="{89E690EA-AE7B-4050-B691-796DF905B6D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25 / 38</a:t>
            </a:r>
          </a:p>
        </p:txBody>
      </p:sp>
    </p:spTree>
    <p:extLst>
      <p:ext uri="{BB962C8B-B14F-4D97-AF65-F5344CB8AC3E}">
        <p14:creationId xmlns:p14="http://schemas.microsoft.com/office/powerpoint/2010/main" val="1768451341"/>
      </p:ext>
    </p:extLst>
  </p:cSld>
</p:sld>
</file>

<file path=ppt/slides/slide2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26F98C-FFFB-4B10-819D-86C1EB3AA89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487C0760-A76F-4164-9CDF-A87D5499C424}"/>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Pauli powers separate even and odd terms</a:t>
            </a:r>
          </a:p>
        </p:txBody>
      </p:sp>
      <p:pic>
        <p:nvPicPr>
          <p:cNvPr id="4" name="">
            <a:extLst xmlns:a="http://schemas.openxmlformats.org/drawingml/2006/main">
              <a:ext uri="{FF2B5EF4-FFF2-40B4-BE49-F238E27FC236}">
                <a16:creationId xmlns:a16="http://schemas.microsoft.com/office/drawing/2014/main" id="{7EFF2F7C-A9C9-4D01-8E85-61B671796A3E}"/>
              </a:ext>
            </a:extLst>
          </p:cNvPr>
          <p:cNvPicPr>
            <a:picLocks xmlns:a="http://schemas.openxmlformats.org/drawingml/2006/main" noChangeAspect="1"/>
          </p:cNvPicPr>
          <p:nvPr/>
        </p:nvPicPr>
        <p:blipFill>
          <a:blip xmlns:r="http://schemas.openxmlformats.org/officeDocument/2006/relationships" xmlns:a="http://schemas.openxmlformats.org/drawingml/2006/main" r:embed="R5ae7131c83a04989"/>
          <a:stretch xmlns:a="http://schemas.openxmlformats.org/drawingml/2006/main"/>
        </p:blipFill>
        <p:spPr>
          <a:xfrm xmlns:a="http://schemas.openxmlformats.org/drawingml/2006/main">
            <a:off x="609600" y="1723390"/>
            <a:ext cx="10972800" cy="207772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CFD2FBA-63A8-4AA0-B048-8DFB6F35F201}"/>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Even powers contribute an identity term. Odd powers contribute an X term.</a:t>
            </a:r>
          </a:p>
        </p:txBody>
      </p:sp>
      <p:sp>
        <p:nvSpPr>
          <p:cNvPr id="6" name="">
            <a:extLst xmlns:a="http://schemas.openxmlformats.org/drawingml/2006/main">
              <a:ext uri="{FF2B5EF4-FFF2-40B4-BE49-F238E27FC236}">
                <a16:creationId xmlns:a16="http://schemas.microsoft.com/office/drawing/2014/main" id="{AF209CD4-3E01-4905-AA41-42CA799C92F2}"/>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Cosine and sine are the two scalar series.</a:t>
            </a:r>
          </a:p>
        </p:txBody>
      </p:sp>
      <p:sp>
        <p:nvSpPr>
          <p:cNvPr id="7" name="">
            <a:extLst xmlns:a="http://schemas.openxmlformats.org/drawingml/2006/main">
              <a:ext uri="{FF2B5EF4-FFF2-40B4-BE49-F238E27FC236}">
                <a16:creationId xmlns:a16="http://schemas.microsoft.com/office/drawing/2014/main" id="{34DCF36B-D70A-4A2A-859A-C62ED43C207D}"/>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26 / 38</a:t>
            </a:r>
          </a:p>
        </p:txBody>
      </p:sp>
    </p:spTree>
    <p:extLst>
      <p:ext uri="{BB962C8B-B14F-4D97-AF65-F5344CB8AC3E}">
        <p14:creationId xmlns:p14="http://schemas.microsoft.com/office/powerpoint/2010/main" val="1873133831"/>
      </p:ext>
    </p:extLst>
  </p:cSld>
</p:sld>
</file>

<file path=ppt/slides/slide2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653380-37BF-4291-89AA-14238260893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A735DEB0-CB7E-48E1-8409-B98433B7AB43}"/>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 closed form for an X rotation</a:t>
            </a:r>
          </a:p>
        </p:txBody>
      </p:sp>
      <p:pic>
        <p:nvPicPr>
          <p:cNvPr id="4" name="">
            <a:extLst xmlns:a="http://schemas.openxmlformats.org/drawingml/2006/main">
              <a:ext uri="{FF2B5EF4-FFF2-40B4-BE49-F238E27FC236}">
                <a16:creationId xmlns:a16="http://schemas.microsoft.com/office/drawing/2014/main" id="{18E2BD3E-F5D7-4029-B12F-342841228957}"/>
              </a:ext>
            </a:extLst>
          </p:cNvPr>
          <p:cNvPicPr>
            <a:picLocks xmlns:a="http://schemas.openxmlformats.org/drawingml/2006/main" noChangeAspect="1"/>
          </p:cNvPicPr>
          <p:nvPr/>
        </p:nvPicPr>
        <p:blipFill>
          <a:blip xmlns:r="http://schemas.openxmlformats.org/officeDocument/2006/relationships" xmlns:a="http://schemas.openxmlformats.org/drawingml/2006/main" r:embed="Rc1386a4a04cd44ef"/>
          <a:stretch xmlns:a="http://schemas.openxmlformats.org/drawingml/2006/main"/>
        </p:blipFill>
        <p:spPr>
          <a:xfrm xmlns:a="http://schemas.openxmlformats.org/drawingml/2006/main">
            <a:off x="609600" y="1817370"/>
            <a:ext cx="10972800" cy="18897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72D596-BD3B-4C18-807E-2CB8E8805800}"/>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angle θ is real and measured in radians.</a:t>
            </a:r>
          </a:p>
        </p:txBody>
      </p:sp>
      <p:sp>
        <p:nvSpPr>
          <p:cNvPr id="6" name="">
            <a:extLst xmlns:a="http://schemas.openxmlformats.org/drawingml/2006/main">
              <a:ext uri="{FF2B5EF4-FFF2-40B4-BE49-F238E27FC236}">
                <a16:creationId xmlns:a16="http://schemas.microsoft.com/office/drawing/2014/main" id="{9144B7DC-8F9B-4CC9-BFA2-CB852A6D1588}"/>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At θ = π, the final state differs from |1⟩ only by a global phase.</a:t>
            </a:r>
          </a:p>
        </p:txBody>
      </p:sp>
      <p:sp>
        <p:nvSpPr>
          <p:cNvPr id="7" name="">
            <a:extLst xmlns:a="http://schemas.openxmlformats.org/drawingml/2006/main">
              <a:ext uri="{FF2B5EF4-FFF2-40B4-BE49-F238E27FC236}">
                <a16:creationId xmlns:a16="http://schemas.microsoft.com/office/drawing/2014/main" id="{1B7C61F3-C6B5-48EA-BC4E-A6A274402C85}"/>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27 / 38</a:t>
            </a:r>
          </a:p>
        </p:txBody>
      </p:sp>
    </p:spTree>
    <p:extLst>
      <p:ext uri="{BB962C8B-B14F-4D97-AF65-F5344CB8AC3E}">
        <p14:creationId xmlns:p14="http://schemas.microsoft.com/office/powerpoint/2010/main" val="729569371"/>
      </p:ext>
    </p:extLst>
  </p:cSld>
</p:sld>
</file>

<file path=ppt/slides/slide2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F58523-13B3-490C-84AD-12E77B3B1AE7}"/>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F59B8C93-A0EF-412B-9AA0-5D44058E2CDA}"/>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X rotation changes measurement probabilities</a:t>
            </a:r>
          </a:p>
        </p:txBody>
      </p:sp>
      <p:pic>
        <p:nvPicPr>
          <p:cNvPr id="4" name="">
            <a:extLst xmlns:a="http://schemas.openxmlformats.org/drawingml/2006/main">
              <a:ext uri="{FF2B5EF4-FFF2-40B4-BE49-F238E27FC236}">
                <a16:creationId xmlns:a16="http://schemas.microsoft.com/office/drawing/2014/main" id="{622059E7-85BF-4089-A5DA-BA6905B9540E}"/>
              </a:ext>
            </a:extLst>
          </p:cNvPr>
          <p:cNvPicPr>
            <a:picLocks xmlns:a="http://schemas.openxmlformats.org/drawingml/2006/main" noChangeAspect="1"/>
          </p:cNvPicPr>
          <p:nvPr/>
        </p:nvPicPr>
        <p:blipFill>
          <a:blip xmlns:r="http://schemas.openxmlformats.org/officeDocument/2006/relationships" xmlns:a="http://schemas.openxmlformats.org/drawingml/2006/main" r:embed="R5a6591dcec574588"/>
          <a:stretch xmlns:a="http://schemas.openxmlformats.org/drawingml/2006/main"/>
        </p:blipFill>
        <p:spPr>
          <a:xfrm xmlns:a="http://schemas.openxmlformats.org/drawingml/2006/main">
            <a:off x="609600" y="1642237"/>
            <a:ext cx="6953250" cy="42402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09B23E5-C053-45C5-BF76-24034024DB57}"/>
              </a:ext>
            </a:extLst>
          </p:cNvPr>
          <p:cNvSpPr>
            <a:spLocks xmlns:a="http://schemas.openxmlformats.org/drawingml/2006/main" noGrp="1"/>
          </p:cNvSpPr>
          <p:nvPr/>
        </p:nvSpPr>
        <p:spPr>
          <a:xfrm xmlns:a="http://schemas.openxmlformats.org/drawingml/2006/main">
            <a:off x="7905750" y="1809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The initial state is basis zero.</a:t>
            </a:r>
          </a:p>
        </p:txBody>
      </p:sp>
      <p:sp>
        <p:nvSpPr>
          <p:cNvPr id="6" name="">
            <a:extLst xmlns:a="http://schemas.openxmlformats.org/drawingml/2006/main">
              <a:ext uri="{FF2B5EF4-FFF2-40B4-BE49-F238E27FC236}">
                <a16:creationId xmlns:a16="http://schemas.microsoft.com/office/drawing/2014/main" id="{3228E3F3-1FDF-43FA-BBC1-45C4C6A6BC33}"/>
              </a:ext>
            </a:extLst>
          </p:cNvPr>
          <p:cNvSpPr>
            <a:spLocks xmlns:a="http://schemas.openxmlformats.org/drawingml/2006/main" noGrp="1"/>
          </p:cNvSpPr>
          <p:nvPr/>
        </p:nvSpPr>
        <p:spPr>
          <a:xfrm xmlns:a="http://schemas.openxmlformats.org/drawingml/2006/main">
            <a:off x="7905750" y="31432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Both probabilities add to one at every angle.</a:t>
            </a:r>
          </a:p>
        </p:txBody>
      </p:sp>
      <p:sp>
        <p:nvSpPr>
          <p:cNvPr id="7" name="">
            <a:extLst xmlns:a="http://schemas.openxmlformats.org/drawingml/2006/main">
              <a:ext uri="{FF2B5EF4-FFF2-40B4-BE49-F238E27FC236}">
                <a16:creationId xmlns:a16="http://schemas.microsoft.com/office/drawing/2014/main" id="{F49FD38A-BA2F-49BD-923C-8B9DE447470A}"/>
              </a:ext>
            </a:extLst>
          </p:cNvPr>
          <p:cNvSpPr>
            <a:spLocks xmlns:a="http://schemas.openxmlformats.org/drawingml/2006/main" noGrp="1"/>
          </p:cNvSpPr>
          <p:nvPr/>
        </p:nvSpPr>
        <p:spPr>
          <a:xfrm xmlns:a="http://schemas.openxmlformats.org/drawingml/2006/main">
            <a:off x="7905750" y="44767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At θ = π, outcome one has probability one.</a:t>
            </a:r>
          </a:p>
        </p:txBody>
      </p:sp>
      <p:sp>
        <p:nvSpPr>
          <p:cNvPr id="8" name="">
            <a:extLst xmlns:a="http://schemas.openxmlformats.org/drawingml/2006/main">
              <a:ext uri="{FF2B5EF4-FFF2-40B4-BE49-F238E27FC236}">
                <a16:creationId xmlns:a16="http://schemas.microsoft.com/office/drawing/2014/main" id="{943801E9-D328-492E-A992-F4FF9B3C9B17}"/>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28 / 38</a:t>
            </a:r>
          </a:p>
        </p:txBody>
      </p:sp>
    </p:spTree>
    <p:extLst>
      <p:ext uri="{BB962C8B-B14F-4D97-AF65-F5344CB8AC3E}">
        <p14:creationId xmlns:p14="http://schemas.microsoft.com/office/powerpoint/2010/main" val="2016729371"/>
      </p:ext>
    </p:extLst>
  </p:cSld>
</p:sld>
</file>

<file path=ppt/slides/slide2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3C9C228-3F67-4A05-A61A-520606F8EC06}"/>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D3F37017-35B8-43B8-83E0-C4F125CF637A}"/>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Time evolution and the units of the exponent</a:t>
            </a:r>
          </a:p>
        </p:txBody>
      </p:sp>
      <p:pic>
        <p:nvPicPr>
          <p:cNvPr id="4" name="">
            <a:extLst xmlns:a="http://schemas.openxmlformats.org/drawingml/2006/main">
              <a:ext uri="{FF2B5EF4-FFF2-40B4-BE49-F238E27FC236}">
                <a16:creationId xmlns:a16="http://schemas.microsoft.com/office/drawing/2014/main" id="{45473A4A-BCFF-4D67-BC36-FE020D3D3E83}"/>
              </a:ext>
            </a:extLst>
          </p:cNvPr>
          <p:cNvPicPr>
            <a:picLocks xmlns:a="http://schemas.openxmlformats.org/drawingml/2006/main" noChangeAspect="1"/>
          </p:cNvPicPr>
          <p:nvPr/>
        </p:nvPicPr>
        <p:blipFill>
          <a:blip xmlns:r="http://schemas.openxmlformats.org/officeDocument/2006/relationships" xmlns:a="http://schemas.openxmlformats.org/drawingml/2006/main" r:embed="R2fefa96ec2324811"/>
          <a:stretch xmlns:a="http://schemas.openxmlformats.org/drawingml/2006/main"/>
        </p:blipFill>
        <p:spPr>
          <a:xfrm xmlns:a="http://schemas.openxmlformats.org/drawingml/2006/main">
            <a:off x="609600" y="1847850"/>
            <a:ext cx="10972800" cy="1828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5830D34-1080-4A9A-9FDF-F9AB5D173150}"/>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This expression assumes a time-independent Hamiltonian.</a:t>
            </a:r>
          </a:p>
        </p:txBody>
      </p:sp>
      <p:sp>
        <p:nvSpPr>
          <p:cNvPr id="6" name="">
            <a:extLst xmlns:a="http://schemas.openxmlformats.org/drawingml/2006/main">
              <a:ext uri="{FF2B5EF4-FFF2-40B4-BE49-F238E27FC236}">
                <a16:creationId xmlns:a16="http://schemas.microsoft.com/office/drawing/2014/main" id="{6D258431-8F58-4ED7-9672-59142532544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course uses time in μs and H/ℏ in rad/μs, so Ωt is dimensionless.</a:t>
            </a:r>
          </a:p>
        </p:txBody>
      </p:sp>
      <p:sp>
        <p:nvSpPr>
          <p:cNvPr id="7" name="">
            <a:extLst xmlns:a="http://schemas.openxmlformats.org/drawingml/2006/main">
              <a:ext uri="{FF2B5EF4-FFF2-40B4-BE49-F238E27FC236}">
                <a16:creationId xmlns:a16="http://schemas.microsoft.com/office/drawing/2014/main" id="{235A506B-4913-4BFF-8147-3EEB4427490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29 / 38</a:t>
            </a:r>
          </a:p>
        </p:txBody>
      </p:sp>
    </p:spTree>
    <p:extLst>
      <p:ext uri="{BB962C8B-B14F-4D97-AF65-F5344CB8AC3E}">
        <p14:creationId xmlns:p14="http://schemas.microsoft.com/office/powerpoint/2010/main" val="2100648837"/>
      </p:ext>
    </p:extLst>
  </p:cSld>
</p:sld>
</file>

<file path=ppt/slides/slide3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931BE28-AC16-4413-A4D0-7F42158679D2}"/>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89FBA54C-7977-4621-8D28-90508F4A3A7D}"/>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Matrix order matters</a:t>
            </a:r>
          </a:p>
        </p:txBody>
      </p:sp>
      <p:pic>
        <p:nvPicPr>
          <p:cNvPr id="4" name="">
            <a:extLst xmlns:a="http://schemas.openxmlformats.org/drawingml/2006/main">
              <a:ext uri="{FF2B5EF4-FFF2-40B4-BE49-F238E27FC236}">
                <a16:creationId xmlns:a16="http://schemas.microsoft.com/office/drawing/2014/main" id="{1ADE9B0F-3D1E-4227-9E66-6463A398055E}"/>
              </a:ext>
            </a:extLst>
          </p:cNvPr>
          <p:cNvPicPr>
            <a:picLocks xmlns:a="http://schemas.openxmlformats.org/drawingml/2006/main" noChangeAspect="1"/>
          </p:cNvPicPr>
          <p:nvPr/>
        </p:nvPicPr>
        <p:blipFill>
          <a:blip xmlns:r="http://schemas.openxmlformats.org/officeDocument/2006/relationships" xmlns:a="http://schemas.openxmlformats.org/drawingml/2006/main" r:embed="R5c0ee2412b8c4a0a"/>
          <a:stretch xmlns:a="http://schemas.openxmlformats.org/drawingml/2006/main"/>
        </p:blipFill>
        <p:spPr>
          <a:xfrm xmlns:a="http://schemas.openxmlformats.org/drawingml/2006/main">
            <a:off x="609600" y="2106930"/>
            <a:ext cx="10972800" cy="13106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4F3BA10-6515-4885-B72D-7CAC467BDC6B}"/>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Arbitrary matrices need not obey the scalar exponential product rule.</a:t>
            </a:r>
          </a:p>
        </p:txBody>
      </p:sp>
      <p:sp>
        <p:nvSpPr>
          <p:cNvPr id="6" name="">
            <a:extLst xmlns:a="http://schemas.openxmlformats.org/drawingml/2006/main">
              <a:ext uri="{FF2B5EF4-FFF2-40B4-BE49-F238E27FC236}">
                <a16:creationId xmlns:a16="http://schemas.microsoft.com/office/drawing/2014/main" id="{162D825C-3BC1-445C-AE0D-F3C33D4DD365}"/>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Check commutation before splitting an exponential.</a:t>
            </a:r>
          </a:p>
        </p:txBody>
      </p:sp>
      <p:sp>
        <p:nvSpPr>
          <p:cNvPr id="7" name="">
            <a:extLst xmlns:a="http://schemas.openxmlformats.org/drawingml/2006/main">
              <a:ext uri="{FF2B5EF4-FFF2-40B4-BE49-F238E27FC236}">
                <a16:creationId xmlns:a16="http://schemas.microsoft.com/office/drawing/2014/main" id="{8CD647E1-808B-456C-B013-CDBE014CCFFC}"/>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30 / 38</a:t>
            </a:r>
          </a:p>
        </p:txBody>
      </p:sp>
    </p:spTree>
    <p:extLst>
      <p:ext uri="{BB962C8B-B14F-4D97-AF65-F5344CB8AC3E}">
        <p14:creationId xmlns:p14="http://schemas.microsoft.com/office/powerpoint/2010/main" val="1712933061"/>
      </p:ext>
    </p:extLst>
  </p:cSld>
</p:sld>
</file>

<file path=ppt/slides/slide3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CA0DCDD-54A6-4FD8-8EC5-736FC7E3951D}"/>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4AA393DC-9178-49C7-BD93-E7422069784D}"/>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Code walkthrough 1 · NumPy and SciPy</a:t>
            </a:r>
          </a:p>
        </p:txBody>
      </p:sp>
      <p:sp>
        <p:nvSpPr>
          <p:cNvPr id="4" name="">
            <a:extLst xmlns:a="http://schemas.openxmlformats.org/drawingml/2006/main">
              <a:ext uri="{FF2B5EF4-FFF2-40B4-BE49-F238E27FC236}">
                <a16:creationId xmlns:a16="http://schemas.microsoft.com/office/drawing/2014/main" id="{04AC6097-98F8-4CE7-8F77-B8059E17AD0B}"/>
              </a:ext>
            </a:extLst>
          </p:cNvPr>
          <p:cNvSpPr>
            <a:spLocks xmlns:a="http://schemas.openxmlformats.org/drawingml/2006/main" noGrp="1"/>
          </p:cNvSpPr>
          <p:nvPr/>
        </p:nvSpPr>
        <p:spPr>
          <a:xfrm xmlns:a="http://schemas.openxmlformats.org/drawingml/2006/main">
            <a:off x="609600" y="1600200"/>
            <a:ext cx="10972800" cy="333375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0DF4BB-6FE7-4F08-927E-AF7AD2BBC234}"/>
              </a:ext>
            </a:extLst>
          </p:cNvPr>
          <p:cNvSpPr>
            <a:spLocks xmlns:a="http://schemas.openxmlformats.org/drawingml/2006/main" noGrp="1"/>
          </p:cNvSpPr>
          <p:nvPr/>
        </p:nvSpPr>
        <p:spPr>
          <a:xfrm xmlns:a="http://schemas.openxmlformats.org/drawingml/2006/main">
            <a:off x="800100" y="180975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import numpy as np</a:t>
            </a:r>
          </a:p>
        </p:txBody>
      </p:sp>
      <p:sp>
        <p:nvSpPr>
          <p:cNvPr id="6" name="">
            <a:extLst xmlns:a="http://schemas.openxmlformats.org/drawingml/2006/main">
              <a:ext uri="{FF2B5EF4-FFF2-40B4-BE49-F238E27FC236}">
                <a16:creationId xmlns:a16="http://schemas.microsoft.com/office/drawing/2014/main" id="{F8E4DAD1-AD9F-42F5-BD1C-A9F9BA497B4D}"/>
              </a:ext>
            </a:extLst>
          </p:cNvPr>
          <p:cNvSpPr>
            <a:spLocks xmlns:a="http://schemas.openxmlformats.org/drawingml/2006/main" noGrp="1"/>
          </p:cNvSpPr>
          <p:nvPr/>
        </p:nvSpPr>
        <p:spPr>
          <a:xfrm xmlns:a="http://schemas.openxmlformats.org/drawingml/2006/main">
            <a:off x="800100" y="210693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from scipy.linalg import expm</a:t>
            </a:r>
          </a:p>
        </p:txBody>
      </p:sp>
      <p:sp>
        <p:nvSpPr>
          <p:cNvPr id="7" name="">
            <a:extLst xmlns:a="http://schemas.openxmlformats.org/drawingml/2006/main">
              <a:ext uri="{FF2B5EF4-FFF2-40B4-BE49-F238E27FC236}">
                <a16:creationId xmlns:a16="http://schemas.microsoft.com/office/drawing/2014/main" id="{CE99EB86-B81D-4DD8-BF49-71949E8EB749}"/>
              </a:ext>
            </a:extLst>
          </p:cNvPr>
          <p:cNvSpPr>
            <a:spLocks xmlns:a="http://schemas.openxmlformats.org/drawingml/2006/main" noGrp="1"/>
          </p:cNvSpPr>
          <p:nvPr/>
        </p:nvSpPr>
        <p:spPr>
          <a:xfrm xmlns:a="http://schemas.openxmlformats.org/drawingml/2006/main">
            <a:off x="800100" y="240411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X = np.array([[0, 1], [1, 0]], dtype=complex)</a:t>
            </a:r>
          </a:p>
        </p:txBody>
      </p:sp>
      <p:sp>
        <p:nvSpPr>
          <p:cNvPr id="8" name="">
            <a:extLst xmlns:a="http://schemas.openxmlformats.org/drawingml/2006/main">
              <a:ext uri="{FF2B5EF4-FFF2-40B4-BE49-F238E27FC236}">
                <a16:creationId xmlns:a16="http://schemas.microsoft.com/office/drawing/2014/main" id="{B6D3465B-4355-4142-95C1-59F06DF73588}"/>
              </a:ext>
            </a:extLst>
          </p:cNvPr>
          <p:cNvSpPr>
            <a:spLocks xmlns:a="http://schemas.openxmlformats.org/drawingml/2006/main" noGrp="1"/>
          </p:cNvSpPr>
          <p:nvPr/>
        </p:nvSpPr>
        <p:spPr>
          <a:xfrm xmlns:a="http://schemas.openxmlformats.org/drawingml/2006/main">
            <a:off x="800100" y="270129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values, Q = np.linalg.eigh(X)</a:t>
            </a:r>
          </a:p>
        </p:txBody>
      </p:sp>
      <p:sp>
        <p:nvSpPr>
          <p:cNvPr id="9" name="">
            <a:extLst xmlns:a="http://schemas.openxmlformats.org/drawingml/2006/main">
              <a:ext uri="{FF2B5EF4-FFF2-40B4-BE49-F238E27FC236}">
                <a16:creationId xmlns:a16="http://schemas.microsoft.com/office/drawing/2014/main" id="{18BC8D85-11FD-42EB-B211-9AB757D1CE4B}"/>
              </a:ext>
            </a:extLst>
          </p:cNvPr>
          <p:cNvSpPr>
            <a:spLocks xmlns:a="http://schemas.openxmlformats.org/drawingml/2006/main" noGrp="1"/>
          </p:cNvSpPr>
          <p:nvPr/>
        </p:nvSpPr>
        <p:spPr>
          <a:xfrm xmlns:a="http://schemas.openxmlformats.org/drawingml/2006/main">
            <a:off x="800100" y="299847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theta = 0.7</a:t>
            </a:r>
          </a:p>
        </p:txBody>
      </p:sp>
      <p:sp>
        <p:nvSpPr>
          <p:cNvPr id="10" name="">
            <a:extLst xmlns:a="http://schemas.openxmlformats.org/drawingml/2006/main">
              <a:ext uri="{FF2B5EF4-FFF2-40B4-BE49-F238E27FC236}">
                <a16:creationId xmlns:a16="http://schemas.microsoft.com/office/drawing/2014/main" id="{049D06DA-87C1-4BC2-AEB9-44039BAD0087}"/>
              </a:ext>
            </a:extLst>
          </p:cNvPr>
          <p:cNvSpPr>
            <a:spLocks xmlns:a="http://schemas.openxmlformats.org/drawingml/2006/main" noGrp="1"/>
          </p:cNvSpPr>
          <p:nvPr/>
        </p:nvSpPr>
        <p:spPr>
          <a:xfrm xmlns:a="http://schemas.openxmlformats.org/drawingml/2006/main">
            <a:off x="800100" y="329565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U = expm(-1j * theta * X / 2)</a:t>
            </a:r>
          </a:p>
        </p:txBody>
      </p:sp>
      <p:sp>
        <p:nvSpPr>
          <p:cNvPr id="11" name="">
            <a:extLst xmlns:a="http://schemas.openxmlformats.org/drawingml/2006/main">
              <a:ext uri="{FF2B5EF4-FFF2-40B4-BE49-F238E27FC236}">
                <a16:creationId xmlns:a16="http://schemas.microsoft.com/office/drawing/2014/main" id="{62DA4C11-BBB3-47A0-8CF5-F3A874F8F070}"/>
              </a:ext>
            </a:extLst>
          </p:cNvPr>
          <p:cNvSpPr>
            <a:spLocks xmlns:a="http://schemas.openxmlformats.org/drawingml/2006/main" noGrp="1"/>
          </p:cNvSpPr>
          <p:nvPr/>
        </p:nvSpPr>
        <p:spPr>
          <a:xfrm xmlns:a="http://schemas.openxmlformats.org/drawingml/2006/main">
            <a:off x="800100" y="359283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U_spec = Q @ np.diag(np.exp(-1j*theta*values/2)) @ Q.conj().T</a:t>
            </a:r>
          </a:p>
        </p:txBody>
      </p:sp>
      <p:sp>
        <p:nvSpPr>
          <p:cNvPr id="12" name="">
            <a:extLst xmlns:a="http://schemas.openxmlformats.org/drawingml/2006/main">
              <a:ext uri="{FF2B5EF4-FFF2-40B4-BE49-F238E27FC236}">
                <a16:creationId xmlns:a16="http://schemas.microsoft.com/office/drawing/2014/main" id="{8E7361D1-ECA0-4E21-B7DD-65C3139AB89B}"/>
              </a:ext>
            </a:extLst>
          </p:cNvPr>
          <p:cNvSpPr>
            <a:spLocks xmlns:a="http://schemas.openxmlformats.org/drawingml/2006/main" noGrp="1"/>
          </p:cNvSpPr>
          <p:nvPr/>
        </p:nvSpPr>
        <p:spPr>
          <a:xfrm xmlns:a="http://schemas.openxmlformats.org/drawingml/2006/main">
            <a:off x="800100" y="389001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assert np.allclose(U, U_spec)</a:t>
            </a:r>
          </a:p>
        </p:txBody>
      </p:sp>
      <p:sp>
        <p:nvSpPr>
          <p:cNvPr id="13" name="">
            <a:extLst xmlns:a="http://schemas.openxmlformats.org/drawingml/2006/main">
              <a:ext uri="{FF2B5EF4-FFF2-40B4-BE49-F238E27FC236}">
                <a16:creationId xmlns:a16="http://schemas.microsoft.com/office/drawing/2014/main" id="{6A4E0A55-1394-482B-ADA2-2D8263A3532C}"/>
              </a:ext>
            </a:extLst>
          </p:cNvPr>
          <p:cNvSpPr>
            <a:spLocks xmlns:a="http://schemas.openxmlformats.org/drawingml/2006/main" noGrp="1"/>
          </p:cNvSpPr>
          <p:nvPr/>
        </p:nvSpPr>
        <p:spPr>
          <a:xfrm xmlns:a="http://schemas.openxmlformats.org/drawingml/2006/main">
            <a:off x="609600" y="52863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Use @ for matrix products and .conj().T for the adjoint.</a:t>
            </a:r>
          </a:p>
        </p:txBody>
      </p:sp>
      <p:sp>
        <p:nvSpPr>
          <p:cNvPr id="14" name="">
            <a:extLst xmlns:a="http://schemas.openxmlformats.org/drawingml/2006/main">
              <a:ext uri="{FF2B5EF4-FFF2-40B4-BE49-F238E27FC236}">
                <a16:creationId xmlns:a16="http://schemas.microsoft.com/office/drawing/2014/main" id="{3E161833-6D4E-4F65-A659-57428DC359C0}"/>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31 / 38</a:t>
            </a:r>
          </a:p>
        </p:txBody>
      </p:sp>
    </p:spTree>
    <p:extLst>
      <p:ext uri="{BB962C8B-B14F-4D97-AF65-F5344CB8AC3E}">
        <p14:creationId xmlns:p14="http://schemas.microsoft.com/office/powerpoint/2010/main" val="1395571599"/>
      </p:ext>
    </p:extLst>
  </p:cSld>
</p:sld>
</file>

<file path=ppt/slides/slide3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67A5C9-E5E0-44CA-B4D7-78FC526AFAC3}"/>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74EC9446-34CF-4042-A6E5-B31CAE4774D8}"/>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Code walkthrough 2 · QuTiP</a:t>
            </a:r>
          </a:p>
        </p:txBody>
      </p:sp>
      <p:sp>
        <p:nvSpPr>
          <p:cNvPr id="4" name="">
            <a:extLst xmlns:a="http://schemas.openxmlformats.org/drawingml/2006/main">
              <a:ext uri="{FF2B5EF4-FFF2-40B4-BE49-F238E27FC236}">
                <a16:creationId xmlns:a16="http://schemas.microsoft.com/office/drawing/2014/main" id="{D0F00E08-2801-4B79-BEDF-B12E3D1964B8}"/>
              </a:ext>
            </a:extLst>
          </p:cNvPr>
          <p:cNvSpPr>
            <a:spLocks xmlns:a="http://schemas.openxmlformats.org/drawingml/2006/main" noGrp="1"/>
          </p:cNvSpPr>
          <p:nvPr/>
        </p:nvSpPr>
        <p:spPr>
          <a:xfrm xmlns:a="http://schemas.openxmlformats.org/drawingml/2006/main">
            <a:off x="609600" y="1600200"/>
            <a:ext cx="10972800" cy="333375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E15820-826A-419A-B33B-721DB403222A}"/>
              </a:ext>
            </a:extLst>
          </p:cNvPr>
          <p:cNvSpPr>
            <a:spLocks xmlns:a="http://schemas.openxmlformats.org/drawingml/2006/main" noGrp="1"/>
          </p:cNvSpPr>
          <p:nvPr/>
        </p:nvSpPr>
        <p:spPr>
          <a:xfrm xmlns:a="http://schemas.openxmlformats.org/drawingml/2006/main">
            <a:off x="800100" y="1809750"/>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import qutip as qt</a:t>
            </a:r>
          </a:p>
        </p:txBody>
      </p:sp>
      <p:sp>
        <p:nvSpPr>
          <p:cNvPr id="6" name="">
            <a:extLst xmlns:a="http://schemas.openxmlformats.org/drawingml/2006/main">
              <a:ext uri="{FF2B5EF4-FFF2-40B4-BE49-F238E27FC236}">
                <a16:creationId xmlns:a16="http://schemas.microsoft.com/office/drawing/2014/main" id="{89198D09-2B42-4C93-A9C6-2A1839DF5AB8}"/>
              </a:ext>
            </a:extLst>
          </p:cNvPr>
          <p:cNvSpPr>
            <a:spLocks xmlns:a="http://schemas.openxmlformats.org/drawingml/2006/main" noGrp="1"/>
          </p:cNvSpPr>
          <p:nvPr/>
        </p:nvSpPr>
        <p:spPr>
          <a:xfrm xmlns:a="http://schemas.openxmlformats.org/drawingml/2006/main">
            <a:off x="800100" y="2094548"/>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Xq = qt.sigmax()</a:t>
            </a:r>
          </a:p>
        </p:txBody>
      </p:sp>
      <p:sp>
        <p:nvSpPr>
          <p:cNvPr id="7" name="">
            <a:extLst xmlns:a="http://schemas.openxmlformats.org/drawingml/2006/main">
              <a:ext uri="{FF2B5EF4-FFF2-40B4-BE49-F238E27FC236}">
                <a16:creationId xmlns:a16="http://schemas.microsoft.com/office/drawing/2014/main" id="{C6EAB2B1-4D3D-4FF0-908F-9CAA2D2942C0}"/>
              </a:ext>
            </a:extLst>
          </p:cNvPr>
          <p:cNvSpPr>
            <a:spLocks xmlns:a="http://schemas.openxmlformats.org/drawingml/2006/main" noGrp="1"/>
          </p:cNvSpPr>
          <p:nvPr/>
        </p:nvSpPr>
        <p:spPr>
          <a:xfrm xmlns:a="http://schemas.openxmlformats.org/drawingml/2006/main">
            <a:off x="800100" y="2379345"/>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Uq = (-1j * theta * Xq / 2).expm()</a:t>
            </a:r>
          </a:p>
        </p:txBody>
      </p:sp>
      <p:sp>
        <p:nvSpPr>
          <p:cNvPr id="8" name="">
            <a:extLst xmlns:a="http://schemas.openxmlformats.org/drawingml/2006/main">
              <a:ext uri="{FF2B5EF4-FFF2-40B4-BE49-F238E27FC236}">
                <a16:creationId xmlns:a16="http://schemas.microsoft.com/office/drawing/2014/main" id="{0C4EE255-18D5-4632-A795-F9A98CCCB89A}"/>
              </a:ext>
            </a:extLst>
          </p:cNvPr>
          <p:cNvSpPr>
            <a:spLocks xmlns:a="http://schemas.openxmlformats.org/drawingml/2006/main" noGrp="1"/>
          </p:cNvSpPr>
          <p:nvPr/>
        </p:nvSpPr>
        <p:spPr>
          <a:xfrm xmlns:a="http://schemas.openxmlformats.org/drawingml/2006/main">
            <a:off x="800100" y="2664143"/>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zero = qt.basis(2, 0)</a:t>
            </a:r>
          </a:p>
        </p:txBody>
      </p:sp>
      <p:sp>
        <p:nvSpPr>
          <p:cNvPr id="9" name="">
            <a:extLst xmlns:a="http://schemas.openxmlformats.org/drawingml/2006/main">
              <a:ext uri="{FF2B5EF4-FFF2-40B4-BE49-F238E27FC236}">
                <a16:creationId xmlns:a16="http://schemas.microsoft.com/office/drawing/2014/main" id="{6E5AE647-56BF-48C2-8DE1-9BFADE90B749}"/>
              </a:ext>
            </a:extLst>
          </p:cNvPr>
          <p:cNvSpPr>
            <a:spLocks xmlns:a="http://schemas.openxmlformats.org/drawingml/2006/main" noGrp="1"/>
          </p:cNvSpPr>
          <p:nvPr/>
        </p:nvSpPr>
        <p:spPr>
          <a:xfrm xmlns:a="http://schemas.openxmlformats.org/drawingml/2006/main">
            <a:off x="800100" y="2948940"/>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final = Uq * zero</a:t>
            </a:r>
          </a:p>
        </p:txBody>
      </p:sp>
      <p:sp>
        <p:nvSpPr>
          <p:cNvPr id="10" name="">
            <a:extLst xmlns:a="http://schemas.openxmlformats.org/drawingml/2006/main">
              <a:ext uri="{FF2B5EF4-FFF2-40B4-BE49-F238E27FC236}">
                <a16:creationId xmlns:a16="http://schemas.microsoft.com/office/drawing/2014/main" id="{782F6879-E780-44A4-8FDD-653359E1A256}"/>
              </a:ext>
            </a:extLst>
          </p:cNvPr>
          <p:cNvSpPr>
            <a:spLocks xmlns:a="http://schemas.openxmlformats.org/drawingml/2006/main" noGrp="1"/>
          </p:cNvSpPr>
          <p:nvPr/>
        </p:nvSpPr>
        <p:spPr>
          <a:xfrm xmlns:a="http://schemas.openxmlformats.org/drawingml/2006/main">
            <a:off x="800100" y="3233738"/>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p1 = qt.expect(qt.basis(2, 1).proj(), final)</a:t>
            </a:r>
          </a:p>
        </p:txBody>
      </p:sp>
      <p:sp>
        <p:nvSpPr>
          <p:cNvPr id="11" name="">
            <a:extLst xmlns:a="http://schemas.openxmlformats.org/drawingml/2006/main">
              <a:ext uri="{FF2B5EF4-FFF2-40B4-BE49-F238E27FC236}">
                <a16:creationId xmlns:a16="http://schemas.microsoft.com/office/drawing/2014/main" id="{9D5E0568-1A15-4247-ADC3-CF119FD5909D}"/>
              </a:ext>
            </a:extLst>
          </p:cNvPr>
          <p:cNvSpPr>
            <a:spLocks xmlns:a="http://schemas.openxmlformats.org/drawingml/2006/main" noGrp="1"/>
          </p:cNvSpPr>
          <p:nvPr/>
        </p:nvSpPr>
        <p:spPr>
          <a:xfrm xmlns:a="http://schemas.openxmlformats.org/drawingml/2006/main">
            <a:off x="800100" y="3518535"/>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assert np.allclose(Uq.full(), U)</a:t>
            </a:r>
          </a:p>
        </p:txBody>
      </p:sp>
      <p:sp>
        <p:nvSpPr>
          <p:cNvPr id="12" name="">
            <a:extLst xmlns:a="http://schemas.openxmlformats.org/drawingml/2006/main">
              <a:ext uri="{FF2B5EF4-FFF2-40B4-BE49-F238E27FC236}">
                <a16:creationId xmlns:a16="http://schemas.microsoft.com/office/drawing/2014/main" id="{49829172-D821-47F5-853A-4C8A6C0822CD}"/>
              </a:ext>
            </a:extLst>
          </p:cNvPr>
          <p:cNvSpPr>
            <a:spLocks xmlns:a="http://schemas.openxmlformats.org/drawingml/2006/main" noGrp="1"/>
          </p:cNvSpPr>
          <p:nvPr/>
        </p:nvSpPr>
        <p:spPr>
          <a:xfrm xmlns:a="http://schemas.openxmlformats.org/drawingml/2006/main">
            <a:off x="800100" y="3803333"/>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assert np.isclose(p1, np.sin(theta/2)**2)</a:t>
            </a:r>
          </a:p>
        </p:txBody>
      </p:sp>
      <p:sp>
        <p:nvSpPr>
          <p:cNvPr id="13" name="">
            <a:extLst xmlns:a="http://schemas.openxmlformats.org/drawingml/2006/main">
              <a:ext uri="{FF2B5EF4-FFF2-40B4-BE49-F238E27FC236}">
                <a16:creationId xmlns:a16="http://schemas.microsoft.com/office/drawing/2014/main" id="{06E948B2-D8CA-4C11-B0E2-264BA956F260}"/>
              </a:ext>
            </a:extLst>
          </p:cNvPr>
          <p:cNvSpPr>
            <a:spLocks xmlns:a="http://schemas.openxmlformats.org/drawingml/2006/main" noGrp="1"/>
          </p:cNvSpPr>
          <p:nvPr/>
        </p:nvSpPr>
        <p:spPr>
          <a:xfrm xmlns:a="http://schemas.openxmlformats.org/drawingml/2006/main">
            <a:off x="609600" y="52863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This continues slide 31, with NumPy, θ and U already defined.</a:t>
            </a:r>
          </a:p>
        </p:txBody>
      </p:sp>
      <p:sp>
        <p:nvSpPr>
          <p:cNvPr id="14" name="">
            <a:extLst xmlns:a="http://schemas.openxmlformats.org/drawingml/2006/main">
              <a:ext uri="{FF2B5EF4-FFF2-40B4-BE49-F238E27FC236}">
                <a16:creationId xmlns:a16="http://schemas.microsoft.com/office/drawing/2014/main" id="{1FBEF618-7D47-4950-AC37-3B17558198B6}"/>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32 / 38</a:t>
            </a:r>
          </a:p>
        </p:txBody>
      </p:sp>
    </p:spTree>
    <p:extLst>
      <p:ext uri="{BB962C8B-B14F-4D97-AF65-F5344CB8AC3E}">
        <p14:creationId xmlns:p14="http://schemas.microsoft.com/office/powerpoint/2010/main" val="268240245"/>
      </p:ext>
    </p:extLst>
  </p:cSld>
</p:sld>
</file>

<file path=ppt/slides/slide3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5A84A3-00CC-4EBD-AC12-F072BBDA7B63}"/>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678200F2-1BED-41B7-ACAB-823CF9CBF4F5}"/>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Independent numerical checks</a:t>
            </a:r>
          </a:p>
        </p:txBody>
      </p:sp>
      <p:pic>
        <p:nvPicPr>
          <p:cNvPr id="4" name="">
            <a:extLst xmlns:a="http://schemas.openxmlformats.org/drawingml/2006/main">
              <a:ext uri="{FF2B5EF4-FFF2-40B4-BE49-F238E27FC236}">
                <a16:creationId xmlns:a16="http://schemas.microsoft.com/office/drawing/2014/main" id="{43F143BC-6D34-47C3-9CAA-3818E7E8030B}"/>
              </a:ext>
            </a:extLst>
          </p:cNvPr>
          <p:cNvPicPr>
            <a:picLocks xmlns:a="http://schemas.openxmlformats.org/drawingml/2006/main" noChangeAspect="1"/>
          </p:cNvPicPr>
          <p:nvPr/>
        </p:nvPicPr>
        <p:blipFill>
          <a:blip xmlns:r="http://schemas.openxmlformats.org/officeDocument/2006/relationships" xmlns:a="http://schemas.openxmlformats.org/drawingml/2006/main" r:embed="R81298289c45642d4"/>
          <a:stretch xmlns:a="http://schemas.openxmlformats.org/drawingml/2006/main"/>
        </p:blipFill>
        <p:spPr>
          <a:xfrm xmlns:a="http://schemas.openxmlformats.org/drawingml/2006/main">
            <a:off x="609600" y="2073910"/>
            <a:ext cx="10972800" cy="13766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294E5D-B0B2-4BBC-80F9-D28858043464}"/>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Check structure, a hand-derived reference and an eigenpair residual.</a:t>
            </a:r>
          </a:p>
        </p:txBody>
      </p:sp>
      <p:sp>
        <p:nvSpPr>
          <p:cNvPr id="6" name="">
            <a:extLst xmlns:a="http://schemas.openxmlformats.org/drawingml/2006/main">
              <a:ext uri="{FF2B5EF4-FFF2-40B4-BE49-F238E27FC236}">
                <a16:creationId xmlns:a16="http://schemas.microsoft.com/office/drawing/2014/main" id="{2077242E-374C-486C-AC63-8EB25228F26A}"/>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Unitarity alone cannot prove that U implements the intended rotation.</a:t>
            </a:r>
          </a:p>
        </p:txBody>
      </p:sp>
      <p:sp>
        <p:nvSpPr>
          <p:cNvPr id="7" name="">
            <a:extLst xmlns:a="http://schemas.openxmlformats.org/drawingml/2006/main">
              <a:ext uri="{FF2B5EF4-FFF2-40B4-BE49-F238E27FC236}">
                <a16:creationId xmlns:a16="http://schemas.microsoft.com/office/drawing/2014/main" id="{8DA0214D-0531-4083-82A8-9B4DC3A409F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33 / 38</a:t>
            </a:r>
          </a:p>
        </p:txBody>
      </p:sp>
    </p:spTree>
    <p:extLst>
      <p:ext uri="{BB962C8B-B14F-4D97-AF65-F5344CB8AC3E}">
        <p14:creationId xmlns:p14="http://schemas.microsoft.com/office/powerpoint/2010/main" val="1094556219"/>
      </p:ext>
    </p:extLst>
  </p:cSld>
</p:sld>
</file>

<file path=ppt/slides/slide3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837DA14-1432-4CCC-88D5-7FB771CB941B}"/>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LINEAR ALGEBRA</a:t>
            </a:r>
          </a:p>
        </p:txBody>
      </p:sp>
      <p:sp>
        <p:nvSpPr>
          <p:cNvPr id="3" name="">
            <a:extLst xmlns:a="http://schemas.openxmlformats.org/drawingml/2006/main">
              <a:ext uri="{FF2B5EF4-FFF2-40B4-BE49-F238E27FC236}">
                <a16:creationId xmlns:a16="http://schemas.microsoft.com/office/drawing/2014/main" id="{29382F4E-125A-417B-B448-D2F86699811D}"/>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Practice and exit checkpoint</a:t>
            </a:r>
          </a:p>
        </p:txBody>
      </p:sp>
      <p:sp>
        <p:nvSpPr>
          <p:cNvPr id="4" name="">
            <a:extLst xmlns:a="http://schemas.openxmlformats.org/drawingml/2006/main">
              <a:ext uri="{FF2B5EF4-FFF2-40B4-BE49-F238E27FC236}">
                <a16:creationId xmlns:a16="http://schemas.microsoft.com/office/drawing/2014/main" id="{B64E4FA4-FBE3-4458-A1AB-D8C658282109}"/>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1. Compute the adjoint and normalize the vector from Example 1.</a:t>
            </a:r>
          </a:p>
        </p:txBody>
      </p:sp>
      <p:sp>
        <p:nvSpPr>
          <p:cNvPr id="5" name="">
            <a:extLst xmlns:a="http://schemas.openxmlformats.org/drawingml/2006/main">
              <a:ext uri="{FF2B5EF4-FFF2-40B4-BE49-F238E27FC236}">
                <a16:creationId xmlns:a16="http://schemas.microsoft.com/office/drawing/2014/main" id="{2DEC74D1-BDCA-4D48-A099-F0257C14D657}"/>
              </a:ext>
            </a:extLst>
          </p:cNvPr>
          <p:cNvSpPr>
            <a:spLocks xmlns:a="http://schemas.openxmlformats.org/drawingml/2006/main" noGrp="1"/>
          </p:cNvSpPr>
          <p:nvPr/>
        </p:nvSpPr>
        <p:spPr>
          <a:xfrm xmlns:a="http://schemas.openxmlformats.org/drawingml/2006/main">
            <a:off x="609600" y="27622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2. Build its projector and test its action on an orthogonal vector.</a:t>
            </a:r>
          </a:p>
        </p:txBody>
      </p:sp>
      <p:sp>
        <p:nvSpPr>
          <p:cNvPr id="6" name="">
            <a:extLst xmlns:a="http://schemas.openxmlformats.org/drawingml/2006/main">
              <a:ext uri="{FF2B5EF4-FFF2-40B4-BE49-F238E27FC236}">
                <a16:creationId xmlns:a16="http://schemas.microsoft.com/office/drawing/2014/main" id="{836A90EF-0D57-4806-A814-38B6B6DF2CB3}"/>
              </a:ext>
            </a:extLst>
          </p:cNvPr>
          <p:cNvSpPr>
            <a:spLocks xmlns:a="http://schemas.openxmlformats.org/drawingml/2006/main" noGrp="1"/>
          </p:cNvSpPr>
          <p:nvPr/>
        </p:nvSpPr>
        <p:spPr>
          <a:xfrm xmlns:a="http://schemas.openxmlformats.org/drawingml/2006/main">
            <a:off x="609600" y="37623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3. Derive the exponential of an imaginary scalar times Pauli Z.</a:t>
            </a:r>
          </a:p>
        </p:txBody>
      </p:sp>
      <p:sp>
        <p:nvSpPr>
          <p:cNvPr id="7" name="">
            <a:extLst xmlns:a="http://schemas.openxmlformats.org/drawingml/2006/main">
              <a:ext uri="{FF2B5EF4-FFF2-40B4-BE49-F238E27FC236}">
                <a16:creationId xmlns:a16="http://schemas.microsoft.com/office/drawing/2014/main" id="{4499331B-BF0C-4B88-B2A3-255C93EEBBBD}"/>
              </a:ext>
            </a:extLst>
          </p:cNvPr>
          <p:cNvSpPr>
            <a:spLocks xmlns:a="http://schemas.openxmlformats.org/drawingml/2006/main" noGrp="1"/>
          </p:cNvSpPr>
          <p:nvPr/>
        </p:nvSpPr>
        <p:spPr>
          <a:xfrm xmlns:a="http://schemas.openxmlformats.org/drawingml/2006/main">
            <a:off x="609600" y="4762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4. Explain why unitary output alone cannot validate a rotation angle.</a:t>
            </a:r>
          </a:p>
        </p:txBody>
      </p:sp>
      <p:sp>
        <p:nvSpPr>
          <p:cNvPr id="8" name="">
            <a:extLst xmlns:a="http://schemas.openxmlformats.org/drawingml/2006/main">
              <a:ext uri="{FF2B5EF4-FFF2-40B4-BE49-F238E27FC236}">
                <a16:creationId xmlns:a16="http://schemas.microsoft.com/office/drawing/2014/main" id="{91E804B7-FC71-4C52-9FA0-01266F7FDC6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34 / 38</a:t>
            </a:r>
          </a:p>
        </p:txBody>
      </p:sp>
    </p:spTree>
    <p:extLst>
      <p:ext uri="{BB962C8B-B14F-4D97-AF65-F5344CB8AC3E}">
        <p14:creationId xmlns:p14="http://schemas.microsoft.com/office/powerpoint/2010/main" val="896819958"/>
      </p:ext>
    </p:extLst>
  </p:cSld>
</p:sld>
</file>

<file path=ppt/slides/slide3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6E872BD-481B-43B8-A561-85A5B7B8E926}"/>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NOTATION</a:t>
            </a:r>
          </a:p>
        </p:txBody>
      </p:sp>
      <p:sp>
        <p:nvSpPr>
          <p:cNvPr id="3" name="">
            <a:extLst xmlns:a="http://schemas.openxmlformats.org/drawingml/2006/main">
              <a:ext uri="{FF2B5EF4-FFF2-40B4-BE49-F238E27FC236}">
                <a16:creationId xmlns:a16="http://schemas.microsoft.com/office/drawing/2014/main" id="{4A1D0ED5-29AB-4A9C-87BC-7331F7A142F7}"/>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Appendix · Notation and dimensions</a:t>
            </a:r>
          </a:p>
        </p:txBody>
      </p:sp>
      <p:pic>
        <p:nvPicPr>
          <p:cNvPr id="4" name="">
            <a:extLst xmlns:a="http://schemas.openxmlformats.org/drawingml/2006/main">
              <a:ext uri="{FF2B5EF4-FFF2-40B4-BE49-F238E27FC236}">
                <a16:creationId xmlns:a16="http://schemas.microsoft.com/office/drawing/2014/main" id="{54586D6E-9E7F-49BD-832D-0751D5392D26}"/>
              </a:ext>
            </a:extLst>
          </p:cNvPr>
          <p:cNvPicPr>
            <a:picLocks xmlns:a="http://schemas.openxmlformats.org/drawingml/2006/main" noChangeAspect="1"/>
          </p:cNvPicPr>
          <p:nvPr/>
        </p:nvPicPr>
        <p:blipFill>
          <a:blip xmlns:r="http://schemas.openxmlformats.org/officeDocument/2006/relationships" xmlns:a="http://schemas.openxmlformats.org/drawingml/2006/main" r:embed="R981e4c2234704048"/>
          <a:stretch xmlns:a="http://schemas.openxmlformats.org/drawingml/2006/main"/>
        </p:blipFill>
        <p:spPr>
          <a:xfrm xmlns:a="http://schemas.openxmlformats.org/drawingml/2006/main">
            <a:off x="609600" y="2091690"/>
            <a:ext cx="10972800" cy="134112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C7D8EC-45F0-4E8F-8B6E-943DFA02A16F}"/>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 means transpose. A star means entrywise conjugation here.</a:t>
            </a:r>
          </a:p>
        </p:txBody>
      </p:sp>
      <p:sp>
        <p:nvSpPr>
          <p:cNvPr id="6" name="">
            <a:extLst xmlns:a="http://schemas.openxmlformats.org/drawingml/2006/main">
              <a:ext uri="{FF2B5EF4-FFF2-40B4-BE49-F238E27FC236}">
                <a16:creationId xmlns:a16="http://schemas.microsoft.com/office/drawing/2014/main" id="{B5AF60F5-0D64-4868-9852-0E9FA908519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dagger means conjugate transpose. I is the identity operator.</a:t>
            </a:r>
          </a:p>
        </p:txBody>
      </p:sp>
      <p:sp>
        <p:nvSpPr>
          <p:cNvPr id="7" name="">
            <a:extLst xmlns:a="http://schemas.openxmlformats.org/drawingml/2006/main">
              <a:ext uri="{FF2B5EF4-FFF2-40B4-BE49-F238E27FC236}">
                <a16:creationId xmlns:a16="http://schemas.microsoft.com/office/drawing/2014/main" id="{C349F233-61E3-4E15-A514-68A85BC3073C}"/>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35 / 38</a:t>
            </a:r>
          </a:p>
        </p:txBody>
      </p:sp>
    </p:spTree>
    <p:extLst>
      <p:ext uri="{BB962C8B-B14F-4D97-AF65-F5344CB8AC3E}">
        <p14:creationId xmlns:p14="http://schemas.microsoft.com/office/powerpoint/2010/main" val="908502916"/>
      </p:ext>
    </p:extLst>
  </p:cSld>
</p:sld>
</file>

<file path=ppt/slides/slide3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1595302-15FF-4047-B00F-79466CC6FCD0}"/>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REFERENCE</a:t>
            </a:r>
          </a:p>
        </p:txBody>
      </p:sp>
      <p:sp>
        <p:nvSpPr>
          <p:cNvPr id="3" name="">
            <a:extLst xmlns:a="http://schemas.openxmlformats.org/drawingml/2006/main">
              <a:ext uri="{FF2B5EF4-FFF2-40B4-BE49-F238E27FC236}">
                <a16:creationId xmlns:a16="http://schemas.microsoft.com/office/drawing/2014/main" id="{E779C8E1-E4BD-4676-B41D-47747C5E8092}"/>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Proof of eigenvector orthogonality</a:t>
            </a:r>
          </a:p>
        </p:txBody>
      </p:sp>
      <p:pic>
        <p:nvPicPr>
          <p:cNvPr id="4" name="">
            <a:extLst xmlns:a="http://schemas.openxmlformats.org/drawingml/2006/main">
              <a:ext uri="{FF2B5EF4-FFF2-40B4-BE49-F238E27FC236}">
                <a16:creationId xmlns:a16="http://schemas.microsoft.com/office/drawing/2014/main" id="{3382A5CE-9B57-4DA7-8C43-5DDCD234FAFE}"/>
              </a:ext>
            </a:extLst>
          </p:cNvPr>
          <p:cNvPicPr>
            <a:picLocks xmlns:a="http://schemas.openxmlformats.org/drawingml/2006/main" noChangeAspect="1"/>
          </p:cNvPicPr>
          <p:nvPr/>
        </p:nvPicPr>
        <p:blipFill>
          <a:blip xmlns:r="http://schemas.openxmlformats.org/officeDocument/2006/relationships" xmlns:a="http://schemas.openxmlformats.org/drawingml/2006/main" r:embed="R3bc0525477cf4cc9"/>
          <a:stretch xmlns:a="http://schemas.openxmlformats.org/drawingml/2006/main"/>
        </p:blipFill>
        <p:spPr>
          <a:xfrm xmlns:a="http://schemas.openxmlformats.org/drawingml/2006/main">
            <a:off x="609600" y="1680210"/>
            <a:ext cx="10972800" cy="21640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4B06CD-A5A4-44EF-944C-CF8B63C513FD}"/>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If the real eigenvalues differ, the inner product must be zero.</a:t>
            </a:r>
          </a:p>
        </p:txBody>
      </p:sp>
      <p:sp>
        <p:nvSpPr>
          <p:cNvPr id="6" name="">
            <a:extLst xmlns:a="http://schemas.openxmlformats.org/drawingml/2006/main">
              <a:ext uri="{FF2B5EF4-FFF2-40B4-BE49-F238E27FC236}">
                <a16:creationId xmlns:a16="http://schemas.microsoft.com/office/drawing/2014/main" id="{64D547A5-2A20-472D-BF16-07BCBDAB5661}"/>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For a repeated eigenvalue, choose an orthonormal basis within its eigenspace.</a:t>
            </a:r>
          </a:p>
        </p:txBody>
      </p:sp>
      <p:sp>
        <p:nvSpPr>
          <p:cNvPr id="7" name="">
            <a:extLst xmlns:a="http://schemas.openxmlformats.org/drawingml/2006/main">
              <a:ext uri="{FF2B5EF4-FFF2-40B4-BE49-F238E27FC236}">
                <a16:creationId xmlns:a16="http://schemas.microsoft.com/office/drawing/2014/main" id="{88004944-A485-42CF-A9CC-38777D1FA08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36 / 38</a:t>
            </a:r>
          </a:p>
        </p:txBody>
      </p:sp>
    </p:spTree>
    <p:extLst>
      <p:ext uri="{BB962C8B-B14F-4D97-AF65-F5344CB8AC3E}">
        <p14:creationId xmlns:p14="http://schemas.microsoft.com/office/powerpoint/2010/main" val="794090071"/>
      </p:ext>
    </p:extLst>
  </p:cSld>
</p:sld>
</file>

<file path=ppt/slides/slide3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6946CA9-E46C-4666-B2C7-BE0B4E21D1B6}"/>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REFERENCE</a:t>
            </a:r>
          </a:p>
        </p:txBody>
      </p:sp>
      <p:sp>
        <p:nvSpPr>
          <p:cNvPr id="3" name="">
            <a:extLst xmlns:a="http://schemas.openxmlformats.org/drawingml/2006/main">
              <a:ext uri="{FF2B5EF4-FFF2-40B4-BE49-F238E27FC236}">
                <a16:creationId xmlns:a16="http://schemas.microsoft.com/office/drawing/2014/main" id="{FFE4FDC9-D0C1-4A6B-BA95-192A951B75AB}"/>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Appendix · Practice answers</a:t>
            </a:r>
          </a:p>
        </p:txBody>
      </p:sp>
      <p:pic>
        <p:nvPicPr>
          <p:cNvPr id="4" name="">
            <a:extLst xmlns:a="http://schemas.openxmlformats.org/drawingml/2006/main">
              <a:ext uri="{FF2B5EF4-FFF2-40B4-BE49-F238E27FC236}">
                <a16:creationId xmlns:a16="http://schemas.microsoft.com/office/drawing/2014/main" id="{2D9F8960-F068-4C23-B77D-464F8CC6041F}"/>
              </a:ext>
            </a:extLst>
          </p:cNvPr>
          <p:cNvPicPr>
            <a:picLocks xmlns:a="http://schemas.openxmlformats.org/drawingml/2006/main" noChangeAspect="1"/>
          </p:cNvPicPr>
          <p:nvPr/>
        </p:nvPicPr>
        <p:blipFill>
          <a:blip xmlns:r="http://schemas.openxmlformats.org/officeDocument/2006/relationships" xmlns:a="http://schemas.openxmlformats.org/drawingml/2006/main" r:embed="R135e4b7d13db43b7"/>
          <a:stretch xmlns:a="http://schemas.openxmlformats.org/drawingml/2006/main"/>
        </p:blipFill>
        <p:spPr>
          <a:xfrm xmlns:a="http://schemas.openxmlformats.org/drawingml/2006/main">
            <a:off x="621765" y="1619250"/>
            <a:ext cx="10948470"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F14A337-90A9-4141-BEDE-2E1CD5CE54B1}"/>
              </a:ext>
            </a:extLst>
          </p:cNvPr>
          <p:cNvSpPr>
            <a:spLocks xmlns:a="http://schemas.openxmlformats.org/drawingml/2006/main" noGrp="1"/>
          </p:cNvSpPr>
          <p:nvPr/>
        </p:nvSpPr>
        <p:spPr>
          <a:xfrm xmlns:a="http://schemas.openxmlformats.org/drawingml/2006/main">
            <a:off x="609600" y="426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zero vector has no normalized version.</a:t>
            </a:r>
          </a:p>
        </p:txBody>
      </p:sp>
      <p:sp>
        <p:nvSpPr>
          <p:cNvPr id="6" name="">
            <a:extLst xmlns:a="http://schemas.openxmlformats.org/drawingml/2006/main">
              <a:ext uri="{FF2B5EF4-FFF2-40B4-BE49-F238E27FC236}">
                <a16:creationId xmlns:a16="http://schemas.microsoft.com/office/drawing/2014/main" id="{1195BEB2-16FB-4094-9308-F43C7849906A}"/>
              </a:ext>
            </a:extLst>
          </p:cNvPr>
          <p:cNvSpPr>
            <a:spLocks xmlns:a="http://schemas.openxmlformats.org/drawingml/2006/main" noGrp="1"/>
          </p:cNvSpPr>
          <p:nvPr/>
        </p:nvSpPr>
        <p:spPr>
          <a:xfrm xmlns:a="http://schemas.openxmlformats.org/drawingml/2006/main">
            <a:off x="609600" y="4933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Projector checks: Hermiticity, idempotence and action on its range.</a:t>
            </a:r>
          </a:p>
        </p:txBody>
      </p:sp>
      <p:sp>
        <p:nvSpPr>
          <p:cNvPr id="7" name="">
            <a:extLst xmlns:a="http://schemas.openxmlformats.org/drawingml/2006/main">
              <a:ext uri="{FF2B5EF4-FFF2-40B4-BE49-F238E27FC236}">
                <a16:creationId xmlns:a16="http://schemas.microsoft.com/office/drawing/2014/main" id="{F89F77AF-B7C9-4289-997A-6BF9DD6D2634}"/>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37 / 38</a:t>
            </a:r>
          </a:p>
        </p:txBody>
      </p:sp>
    </p:spTree>
    <p:extLst>
      <p:ext uri="{BB962C8B-B14F-4D97-AF65-F5344CB8AC3E}">
        <p14:creationId xmlns:p14="http://schemas.microsoft.com/office/powerpoint/2010/main" val="994052675"/>
      </p:ext>
    </p:extLst>
  </p:cSld>
</p:sld>
</file>

<file path=ppt/slides/slide3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766A05F-5D90-4C63-BB91-518494EEC896}"/>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S02  /  REFERENCE</a:t>
            </a:r>
          </a:p>
        </p:txBody>
      </p:sp>
      <p:sp>
        <p:nvSpPr>
          <p:cNvPr id="3" name="">
            <a:extLst xmlns:a="http://schemas.openxmlformats.org/drawingml/2006/main">
              <a:ext uri="{FF2B5EF4-FFF2-40B4-BE49-F238E27FC236}">
                <a16:creationId xmlns:a16="http://schemas.microsoft.com/office/drawing/2014/main" id="{10508602-DEE6-454A-A40B-81055FD64306}"/>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Running on Windows and Ubuntu</a:t>
            </a:r>
          </a:p>
        </p:txBody>
      </p:sp>
      <p:sp>
        <p:nvSpPr>
          <p:cNvPr id="4" name="">
            <a:extLst xmlns:a="http://schemas.openxmlformats.org/drawingml/2006/main">
              <a:ext uri="{FF2B5EF4-FFF2-40B4-BE49-F238E27FC236}">
                <a16:creationId xmlns:a16="http://schemas.microsoft.com/office/drawing/2014/main" id="{BC6D426D-D3B6-446F-8459-3B320F56F02D}"/>
              </a:ext>
            </a:extLst>
          </p:cNvPr>
          <p:cNvSpPr>
            <a:spLocks xmlns:a="http://schemas.openxmlformats.org/drawingml/2006/main" noGrp="1"/>
          </p:cNvSpPr>
          <p:nvPr/>
        </p:nvSpPr>
        <p:spPr>
          <a:xfrm xmlns:a="http://schemas.openxmlformats.org/drawingml/2006/main">
            <a:off x="609600" y="1600200"/>
            <a:ext cx="10972800" cy="333375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8AC470-D703-4638-B0BF-1224158A3536}"/>
              </a:ext>
            </a:extLst>
          </p:cNvPr>
          <p:cNvSpPr>
            <a:spLocks xmlns:a="http://schemas.openxmlformats.org/drawingml/2006/main" noGrp="1"/>
          </p:cNvSpPr>
          <p:nvPr/>
        </p:nvSpPr>
        <p:spPr>
          <a:xfrm xmlns:a="http://schemas.openxmlformats.org/drawingml/2006/main">
            <a:off x="800100" y="180975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Windows PowerShell, from the repository root</a:t>
            </a:r>
          </a:p>
        </p:txBody>
      </p:sp>
      <p:sp>
        <p:nvSpPr>
          <p:cNvPr id="6" name="">
            <a:extLst xmlns:a="http://schemas.openxmlformats.org/drawingml/2006/main">
              <a:ext uri="{FF2B5EF4-FFF2-40B4-BE49-F238E27FC236}">
                <a16:creationId xmlns:a16="http://schemas.microsoft.com/office/drawing/2014/main" id="{E9DE368B-8D4B-4000-B7E2-CCA59A8C133E}"/>
              </a:ext>
            </a:extLst>
          </p:cNvPr>
          <p:cNvSpPr>
            <a:spLocks xmlns:a="http://schemas.openxmlformats.org/drawingml/2006/main" noGrp="1"/>
          </p:cNvSpPr>
          <p:nvPr/>
        </p:nvSpPr>
        <p:spPr>
          <a:xfrm xmlns:a="http://schemas.openxmlformats.org/drawingml/2006/main">
            <a:off x="800100" y="210693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.\.venv\Scripts\python.exe lectures/S02-linear-algebra/examples.py</a:t>
            </a:r>
          </a:p>
        </p:txBody>
      </p:sp>
      <p:sp>
        <p:nvSpPr>
          <p:cNvPr id="7" name="">
            <a:extLst xmlns:a="http://schemas.openxmlformats.org/drawingml/2006/main">
              <a:ext uri="{FF2B5EF4-FFF2-40B4-BE49-F238E27FC236}">
                <a16:creationId xmlns:a16="http://schemas.microsoft.com/office/drawing/2014/main" id="{392CBDB1-5E95-463D-81BD-E6FAB83E6528}"/>
              </a:ext>
            </a:extLst>
          </p:cNvPr>
          <p:cNvSpPr>
            <a:spLocks xmlns:a="http://schemas.openxmlformats.org/drawingml/2006/main" noGrp="1"/>
          </p:cNvSpPr>
          <p:nvPr/>
        </p:nvSpPr>
        <p:spPr>
          <a:xfrm xmlns:a="http://schemas.openxmlformats.org/drawingml/2006/main">
            <a:off x="800100" y="240411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.\.venv\Scripts\python.exe lectures/S02-linear-algebra/starter.py</a:t>
            </a:r>
          </a:p>
        </p:txBody>
      </p:sp>
      <p:sp>
        <p:nvSpPr>
          <p:cNvPr id="8" name="">
            <a:extLst xmlns:a="http://schemas.openxmlformats.org/drawingml/2006/main">
              <a:ext uri="{FF2B5EF4-FFF2-40B4-BE49-F238E27FC236}">
                <a16:creationId xmlns:a16="http://schemas.microsoft.com/office/drawing/2014/main" id="{B5133667-159E-4B71-A6C3-51A4F151CB07}"/>
              </a:ext>
            </a:extLst>
          </p:cNvPr>
          <p:cNvSpPr>
            <a:spLocks xmlns:a="http://schemas.openxmlformats.org/drawingml/2006/main" noGrp="1"/>
          </p:cNvSpPr>
          <p:nvPr/>
        </p:nvSpPr>
        <p:spPr>
          <a:xfrm xmlns:a="http://schemas.openxmlformats.org/drawingml/2006/main">
            <a:off x="800100" y="270129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D8897772-9545-41FA-879D-7B11B7AFE71D}"/>
              </a:ext>
            </a:extLst>
          </p:cNvPr>
          <p:cNvSpPr>
            <a:spLocks xmlns:a="http://schemas.openxmlformats.org/drawingml/2006/main" noGrp="1"/>
          </p:cNvSpPr>
          <p:nvPr/>
        </p:nvSpPr>
        <p:spPr>
          <a:xfrm xmlns:a="http://schemas.openxmlformats.org/drawingml/2006/main">
            <a:off x="800100" y="299847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Ubuntu Bash, from the repository root</a:t>
            </a:r>
          </a:p>
        </p:txBody>
      </p:sp>
      <p:sp>
        <p:nvSpPr>
          <p:cNvPr id="10" name="">
            <a:extLst xmlns:a="http://schemas.openxmlformats.org/drawingml/2006/main">
              <a:ext uri="{FF2B5EF4-FFF2-40B4-BE49-F238E27FC236}">
                <a16:creationId xmlns:a16="http://schemas.microsoft.com/office/drawing/2014/main" id="{68730550-7883-4B8F-A01E-70FFEB52D919}"/>
              </a:ext>
            </a:extLst>
          </p:cNvPr>
          <p:cNvSpPr>
            <a:spLocks xmlns:a="http://schemas.openxmlformats.org/drawingml/2006/main" noGrp="1"/>
          </p:cNvSpPr>
          <p:nvPr/>
        </p:nvSpPr>
        <p:spPr>
          <a:xfrm xmlns:a="http://schemas.openxmlformats.org/drawingml/2006/main">
            <a:off x="800100" y="329565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./.venv/bin/python lectures/S02-linear-algebra/examples.py</a:t>
            </a:r>
          </a:p>
        </p:txBody>
      </p:sp>
      <p:sp>
        <p:nvSpPr>
          <p:cNvPr id="11" name="">
            <a:extLst xmlns:a="http://schemas.openxmlformats.org/drawingml/2006/main">
              <a:ext uri="{FF2B5EF4-FFF2-40B4-BE49-F238E27FC236}">
                <a16:creationId xmlns:a16="http://schemas.microsoft.com/office/drawing/2014/main" id="{85CCEEAE-1FB9-4F47-8C5E-8BE73754EB89}"/>
              </a:ext>
            </a:extLst>
          </p:cNvPr>
          <p:cNvSpPr>
            <a:spLocks xmlns:a="http://schemas.openxmlformats.org/drawingml/2006/main" noGrp="1"/>
          </p:cNvSpPr>
          <p:nvPr/>
        </p:nvSpPr>
        <p:spPr>
          <a:xfrm xmlns:a="http://schemas.openxmlformats.org/drawingml/2006/main">
            <a:off x="800100" y="3592830"/>
            <a:ext cx="105918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3EE"/>
                </a:solidFill>
                <a:latin typeface="Consolas"/>
                <a:ea typeface="Consolas"/>
                <a:cs typeface="Consolas"/>
              </a:defRPr>
            </a:defPPr>
            <a:lvl1pPr algn="l">
              <a:defRPr sz="1800" b="0">
                <a:solidFill>
                  <a:srgbClr val="F5F3EE"/>
                </a:solidFill>
                <a:latin typeface="Consolas"/>
                <a:ea typeface="Consolas"/>
                <a:cs typeface="Consolas"/>
              </a:defRPr>
            </a:lvl1pPr>
            <a:lvl2pPr algn="l">
              <a:defRPr sz="1800" b="0">
                <a:solidFill>
                  <a:srgbClr val="F5F3EE"/>
                </a:solidFill>
                <a:latin typeface="Consolas"/>
                <a:ea typeface="Consolas"/>
                <a:cs typeface="Consolas"/>
              </a:defRPr>
            </a:lvl2pPr>
            <a:lvl3pPr algn="l">
              <a:defRPr sz="1800" b="0">
                <a:solidFill>
                  <a:srgbClr val="F5F3EE"/>
                </a:solidFill>
                <a:latin typeface="Consolas"/>
                <a:ea typeface="Consolas"/>
                <a:cs typeface="Consolas"/>
              </a:defRPr>
            </a:lvl3pPr>
            <a:lvl4pPr algn="l">
              <a:defRPr sz="1800" b="0">
                <a:solidFill>
                  <a:srgbClr val="F5F3EE"/>
                </a:solidFill>
                <a:latin typeface="Consolas"/>
                <a:ea typeface="Consolas"/>
                <a:cs typeface="Consolas"/>
              </a:defRPr>
            </a:lvl4pPr>
            <a:lvl5pPr algn="l">
              <a:defRPr sz="1800" b="0">
                <a:solidFill>
                  <a:srgbClr val="F5F3EE"/>
                </a:solidFill>
                <a:latin typeface="Consolas"/>
                <a:ea typeface="Consolas"/>
                <a:cs typeface="Consolas"/>
              </a:defRPr>
            </a:lvl5pPr>
            <a:lvl6pPr algn="l">
              <a:defRPr sz="1800" b="0">
                <a:solidFill>
                  <a:srgbClr val="F5F3EE"/>
                </a:solidFill>
                <a:latin typeface="Consolas"/>
                <a:ea typeface="Consolas"/>
                <a:cs typeface="Consolas"/>
              </a:defRPr>
            </a:lvl6pPr>
            <a:lvl7pPr algn="l">
              <a:defRPr sz="1800" b="0">
                <a:solidFill>
                  <a:srgbClr val="F5F3EE"/>
                </a:solidFill>
                <a:latin typeface="Consolas"/>
                <a:ea typeface="Consolas"/>
                <a:cs typeface="Consolas"/>
              </a:defRPr>
            </a:lvl7pPr>
            <a:lvl8pPr algn="l">
              <a:defRPr sz="1800" b="0">
                <a:solidFill>
                  <a:srgbClr val="F5F3EE"/>
                </a:solidFill>
                <a:latin typeface="Consolas"/>
                <a:ea typeface="Consolas"/>
                <a:cs typeface="Consolas"/>
              </a:defRPr>
            </a:lvl8pPr>
            <a:lvl9pPr algn="l">
              <a:defRPr sz="1800" b="0">
                <a:solidFill>
                  <a:srgbClr val="F5F3EE"/>
                </a:solidFill>
                <a:latin typeface="Consolas"/>
                <a:ea typeface="Consolas"/>
                <a:cs typeface="Consolas"/>
              </a:defRPr>
            </a:lvl9pPr>
          </a:lstStyle>
          <a:p xmlns:a="http://schemas.openxmlformats.org/drawingml/2006/main">
            <a:pPr algn="l">
              <a:defRPr sz="1800" b="0">
                <a:solidFill>
                  <a:srgbClr val="F5F3EE"/>
                </a:solidFill>
                <a:latin typeface="Consolas"/>
                <a:ea typeface="Consolas"/>
                <a:cs typeface="Consolas"/>
              </a:defRPr>
            </a:pPr>
            <a:r>
              <a:rPr sz="1800" b="0">
                <a:solidFill>
                  <a:srgbClr val="F5F3EE"/>
                </a:solidFill>
                <a:latin typeface="Consolas"/>
                <a:ea typeface="Consolas"/>
                <a:cs typeface="Consolas"/>
              </a:rPr>
              <a:t>./.venv/bin/python lectures/S02-linear-algebra/starter.py</a:t>
            </a:r>
          </a:p>
        </p:txBody>
      </p:sp>
      <p:sp>
        <p:nvSpPr>
          <p:cNvPr id="12" name="">
            <a:extLst xmlns:a="http://schemas.openxmlformats.org/drawingml/2006/main">
              <a:ext uri="{FF2B5EF4-FFF2-40B4-BE49-F238E27FC236}">
                <a16:creationId xmlns:a16="http://schemas.microsoft.com/office/drawing/2014/main" id="{E6C9316F-B50F-4F7C-B682-736D5F8D8511}"/>
              </a:ext>
            </a:extLst>
          </p:cNvPr>
          <p:cNvSpPr>
            <a:spLocks xmlns:a="http://schemas.openxmlformats.org/drawingml/2006/main" noGrp="1"/>
          </p:cNvSpPr>
          <p:nvPr/>
        </p:nvSpPr>
        <p:spPr>
          <a:xfrm xmlns:a="http://schemas.openxmlformats.org/drawingml/2006/main">
            <a:off x="609600" y="52863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Run solution.py separately to check the reference implementation.</a:t>
            </a:r>
          </a:p>
        </p:txBody>
      </p:sp>
      <p:sp>
        <p:nvSpPr>
          <p:cNvPr id="13" name="">
            <a:extLst xmlns:a="http://schemas.openxmlformats.org/drawingml/2006/main">
              <a:ext uri="{FF2B5EF4-FFF2-40B4-BE49-F238E27FC236}">
                <a16:creationId xmlns:a16="http://schemas.microsoft.com/office/drawing/2014/main" id="{3081C57D-D05E-4BEA-86F5-D2B3180EDC7F}"/>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38 / 38</a:t>
            </a:r>
          </a:p>
        </p:txBody>
      </p:sp>
    </p:spTree>
    <p:extLst>
      <p:ext uri="{BB962C8B-B14F-4D97-AF65-F5344CB8AC3E}">
        <p14:creationId xmlns:p14="http://schemas.microsoft.com/office/powerpoint/2010/main" val="1946507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2026-10-20T16:35:56.8450000Z</dcterms:created>
  <dcterms:modified xsi:type="dcterms:W3CDTF">2026-10-20T16:35:56.8450000Z</dcterms:modified>
</coreProperties>
</file>