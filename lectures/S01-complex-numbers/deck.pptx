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6a75b460a244c6" /><Relationship Type="http://schemas.openxmlformats.org/officeDocument/2006/relationships/extended-properties" Target="/docProps/app.xml" Id="R60c85681ac3f49d5" /><Relationship Type="http://schemas.openxmlformats.org/officeDocument/2006/relationships/officeDocument" Target="/ppt/presentation.xml" Id="R136487db308145c6" /></Relationships>
</file>

<file path=ppt/presentation.xml><?xml version="1.0" encoding="utf-8"?>
<p:presentation xmlns:p="http://schemas.openxmlformats.org/presentationml/2006/main">
  <p:sldMasterIdLst>
    <p:sldMasterId xmlns:r="http://schemas.openxmlformats.org/officeDocument/2006/relationships" id="2147483648" r:id="R0b7b3de30d704ab1"/>
  </p:sldMasterIdLst>
  <p:notesMasterIdLst>
    <p:notesMasterId xmlns:r="http://schemas.openxmlformats.org/officeDocument/2006/relationships" r:id="R43d89db2df144962"/>
  </p:notesMasterIdLst>
  <p:sldIdLst>
    <p:sldId xmlns:r="http://schemas.openxmlformats.org/officeDocument/2006/relationships" id="256" r:id="Rae46884a3e33440c"/>
    <p:sldId xmlns:r="http://schemas.openxmlformats.org/officeDocument/2006/relationships" id="257" r:id="Rdb9e5e4f4479409c"/>
    <p:sldId xmlns:r="http://schemas.openxmlformats.org/officeDocument/2006/relationships" id="258" r:id="Rbe3f9d402e6d4bad"/>
    <p:sldId xmlns:r="http://schemas.openxmlformats.org/officeDocument/2006/relationships" id="259" r:id="R85a47ae388024966"/>
    <p:sldId xmlns:r="http://schemas.openxmlformats.org/officeDocument/2006/relationships" id="260" r:id="Rfdf534df49864320"/>
    <p:sldId xmlns:r="http://schemas.openxmlformats.org/officeDocument/2006/relationships" id="261" r:id="Ra991c4c7d0664b8b"/>
    <p:sldId xmlns:r="http://schemas.openxmlformats.org/officeDocument/2006/relationships" id="262" r:id="R6d870f183c6f4dbe"/>
    <p:sldId xmlns:r="http://schemas.openxmlformats.org/officeDocument/2006/relationships" id="263" r:id="Rceb0ea3c282944cb"/>
    <p:sldId xmlns:r="http://schemas.openxmlformats.org/officeDocument/2006/relationships" id="264" r:id="R2da5437c3746470d"/>
    <p:sldId xmlns:r="http://schemas.openxmlformats.org/officeDocument/2006/relationships" id="265" r:id="R462b0c442f544fef"/>
    <p:sldId xmlns:r="http://schemas.openxmlformats.org/officeDocument/2006/relationships" id="266" r:id="Rf92c67b094a14888"/>
    <p:sldId xmlns:r="http://schemas.openxmlformats.org/officeDocument/2006/relationships" id="267" r:id="R1807d8050d564bd0"/>
    <p:sldId xmlns:r="http://schemas.openxmlformats.org/officeDocument/2006/relationships" id="268" r:id="Rfab3631c152f408e"/>
    <p:sldId xmlns:r="http://schemas.openxmlformats.org/officeDocument/2006/relationships" id="269" r:id="Rbb0b91b345624e85"/>
    <p:sldId xmlns:r="http://schemas.openxmlformats.org/officeDocument/2006/relationships" id="270" r:id="Rc1064fb364b44c9b"/>
    <p:sldId xmlns:r="http://schemas.openxmlformats.org/officeDocument/2006/relationships" id="271" r:id="R718c499c131f4096"/>
    <p:sldId xmlns:r="http://schemas.openxmlformats.org/officeDocument/2006/relationships" id="272" r:id="R03f982393ae64027"/>
    <p:sldId xmlns:r="http://schemas.openxmlformats.org/officeDocument/2006/relationships" id="273" r:id="R768e9a1508ba494b"/>
    <p:sldId xmlns:r="http://schemas.openxmlformats.org/officeDocument/2006/relationships" id="274" r:id="R1a54f7f6079c4a3d"/>
    <p:sldId xmlns:r="http://schemas.openxmlformats.org/officeDocument/2006/relationships" id="275" r:id="R368efc91558c47c5"/>
    <p:sldId xmlns:r="http://schemas.openxmlformats.org/officeDocument/2006/relationships" id="276" r:id="R9f4e9f359cb3495b"/>
    <p:sldId xmlns:r="http://schemas.openxmlformats.org/officeDocument/2006/relationships" id="277" r:id="R8aa05a926f7a4b43"/>
    <p:sldId xmlns:r="http://schemas.openxmlformats.org/officeDocument/2006/relationships" id="278" r:id="Rf999826213b04742"/>
    <p:sldId xmlns:r="http://schemas.openxmlformats.org/officeDocument/2006/relationships" id="279" r:id="R71f5d942ee4b44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ea7762e56c4c98" /><Relationship Type="http://schemas.openxmlformats.org/officeDocument/2006/relationships/slideMaster" Target="/ppt/slideMasters/slideMaster1.xml" Id="R0b7b3de30d704ab1" /><Relationship Type="http://schemas.openxmlformats.org/officeDocument/2006/relationships/notesMaster" Target="/ppt/notesMasters/notesMaster1.xml" Id="R43d89db2df144962" /><Relationship Type="http://schemas.openxmlformats.org/officeDocument/2006/relationships/presProps" Target="/ppt/presProps.xml" Id="Rcd9aa159e8b54295" /><Relationship Type="http://schemas.openxmlformats.org/officeDocument/2006/relationships/tableStyles" Target="/ppt/tableStyles.xml" Id="R936e6d1379fc4154" /><Relationship Type="http://schemas.openxmlformats.org/officeDocument/2006/relationships/slide" Target="/ppt/slides/slide1.xml" Id="Rae46884a3e33440c" /><Relationship Type="http://schemas.openxmlformats.org/officeDocument/2006/relationships/slide" Target="/ppt/slides/slide2.xml" Id="Rdb9e5e4f4479409c" /><Relationship Type="http://schemas.openxmlformats.org/officeDocument/2006/relationships/slide" Target="/ppt/slides/slide3.xml" Id="Rbe3f9d402e6d4bad" /><Relationship Type="http://schemas.openxmlformats.org/officeDocument/2006/relationships/slide" Target="/ppt/slides/slide4.xml" Id="R85a47ae388024966" /><Relationship Type="http://schemas.openxmlformats.org/officeDocument/2006/relationships/slide" Target="/ppt/slides/slide5.xml" Id="Rfdf534df49864320" /><Relationship Type="http://schemas.openxmlformats.org/officeDocument/2006/relationships/slide" Target="/ppt/slides/slide6.xml" Id="Ra991c4c7d0664b8b" /><Relationship Type="http://schemas.openxmlformats.org/officeDocument/2006/relationships/slide" Target="/ppt/slides/slide7.xml" Id="R6d870f183c6f4dbe" /><Relationship Type="http://schemas.openxmlformats.org/officeDocument/2006/relationships/slide" Target="/ppt/slides/slide8.xml" Id="Rceb0ea3c282944cb" /><Relationship Type="http://schemas.openxmlformats.org/officeDocument/2006/relationships/slide" Target="/ppt/slides/slide9.xml" Id="R2da5437c3746470d" /><Relationship Type="http://schemas.openxmlformats.org/officeDocument/2006/relationships/slide" Target="/ppt/slides/slide10.xml" Id="R462b0c442f544fef" /><Relationship Type="http://schemas.openxmlformats.org/officeDocument/2006/relationships/slide" Target="/ppt/slides/slide11.xml" Id="Rf92c67b094a14888" /><Relationship Type="http://schemas.openxmlformats.org/officeDocument/2006/relationships/slide" Target="/ppt/slides/slide12.xml" Id="R1807d8050d564bd0" /><Relationship Type="http://schemas.openxmlformats.org/officeDocument/2006/relationships/slide" Target="/ppt/slides/slide13.xml" Id="Rfab3631c152f408e" /><Relationship Type="http://schemas.openxmlformats.org/officeDocument/2006/relationships/slide" Target="/ppt/slides/slide14.xml" Id="Rbb0b91b345624e85" /><Relationship Type="http://schemas.openxmlformats.org/officeDocument/2006/relationships/slide" Target="/ppt/slides/slide15.xml" Id="Rc1064fb364b44c9b" /><Relationship Type="http://schemas.openxmlformats.org/officeDocument/2006/relationships/slide" Target="/ppt/slides/slide16.xml" Id="R718c499c131f4096" /><Relationship Type="http://schemas.openxmlformats.org/officeDocument/2006/relationships/slide" Target="/ppt/slides/slide17.xml" Id="R03f982393ae64027" /><Relationship Type="http://schemas.openxmlformats.org/officeDocument/2006/relationships/slide" Target="/ppt/slides/slide18.xml" Id="R768e9a1508ba494b" /><Relationship Type="http://schemas.openxmlformats.org/officeDocument/2006/relationships/slide" Target="/ppt/slides/slide19.xml" Id="R1a54f7f6079c4a3d" /><Relationship Type="http://schemas.openxmlformats.org/officeDocument/2006/relationships/slide" Target="/ppt/slides/slide20.xml" Id="R368efc91558c47c5" /><Relationship Type="http://schemas.openxmlformats.org/officeDocument/2006/relationships/slide" Target="/ppt/slides/slide21.xml" Id="R9f4e9f359cb3495b" /><Relationship Type="http://schemas.openxmlformats.org/officeDocument/2006/relationships/slide" Target="/ppt/slides/slide22.xml" Id="R8aa05a926f7a4b43" /><Relationship Type="http://schemas.openxmlformats.org/officeDocument/2006/relationships/slide" Target="/ppt/slides/slide23.xml" Id="Rf999826213b04742" /><Relationship Type="http://schemas.openxmlformats.org/officeDocument/2006/relationships/slide" Target="/ppt/slides/slide24.xml" Id="R71f5d942ee4b44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51cdff44dd48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414358982d434f" /><Relationship Type="http://schemas.openxmlformats.org/officeDocument/2006/relationships/notesMaster" Target="/ppt/notesMasters/notesMaster1.xml" Id="Rd76e2c2c366b4a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ba615d29ab49e5" /><Relationship Type="http://schemas.openxmlformats.org/officeDocument/2006/relationships/notesMaster" Target="/ppt/notesMasters/notesMaster1.xml" Id="Re60ef73e3e3049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c06929a0dc466a" /><Relationship Type="http://schemas.openxmlformats.org/officeDocument/2006/relationships/notesMaster" Target="/ppt/notesMasters/notesMaster1.xml" Id="R3ca371d61c3b4b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1cbe559ac44e67" /><Relationship Type="http://schemas.openxmlformats.org/officeDocument/2006/relationships/notesMaster" Target="/ppt/notesMasters/notesMaster1.xml" Id="R01ee3e6dee3e42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86e599ec9c4f52" /><Relationship Type="http://schemas.openxmlformats.org/officeDocument/2006/relationships/notesMaster" Target="/ppt/notesMasters/notesMaster1.xml" Id="R78fe2aa1a36a4d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5aaa095a9e4774" /><Relationship Type="http://schemas.openxmlformats.org/officeDocument/2006/relationships/notesMaster" Target="/ppt/notesMasters/notesMaster1.xml" Id="R41c12cf63f424a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d1cb030d814dca" /><Relationship Type="http://schemas.openxmlformats.org/officeDocument/2006/relationships/notesMaster" Target="/ppt/notesMasters/notesMaster1.xml" Id="R1915cdcade1447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2403d08be8452f" /><Relationship Type="http://schemas.openxmlformats.org/officeDocument/2006/relationships/notesMaster" Target="/ppt/notesMasters/notesMaster1.xml" Id="R664a0f40849d42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be10469b204d5e" /><Relationship Type="http://schemas.openxmlformats.org/officeDocument/2006/relationships/notesMaster" Target="/ppt/notesMasters/notesMaster1.xml" Id="Rfdcc0ec4668b4d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02b3b574c14070" /><Relationship Type="http://schemas.openxmlformats.org/officeDocument/2006/relationships/notesMaster" Target="/ppt/notesMasters/notesMaster1.xml" Id="R892c4453424740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e293a5d7a84b74" /><Relationship Type="http://schemas.openxmlformats.org/officeDocument/2006/relationships/notesMaster" Target="/ppt/notesMasters/notesMaster1.xml" Id="R537f9e002b7d4c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ca87f712ad4d89" /><Relationship Type="http://schemas.openxmlformats.org/officeDocument/2006/relationships/notesMaster" Target="/ppt/notesMasters/notesMaster1.xml" Id="R5570f000375041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9d138b278749f6" /><Relationship Type="http://schemas.openxmlformats.org/officeDocument/2006/relationships/notesMaster" Target="/ppt/notesMasters/notesMaster1.xml" Id="Rd2ccdbf058074b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47bd35b23d4934" /><Relationship Type="http://schemas.openxmlformats.org/officeDocument/2006/relationships/notesMaster" Target="/ppt/notesMasters/notesMaster1.xml" Id="R87acebac972649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4338ee100b480d" /><Relationship Type="http://schemas.openxmlformats.org/officeDocument/2006/relationships/notesMaster" Target="/ppt/notesMasters/notesMaster1.xml" Id="R789b560bbbff49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ecc8465abb49f8" /><Relationship Type="http://schemas.openxmlformats.org/officeDocument/2006/relationships/notesMaster" Target="/ppt/notesMasters/notesMaster1.xml" Id="R6d93fc3683b147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526514a0914abd" /><Relationship Type="http://schemas.openxmlformats.org/officeDocument/2006/relationships/notesMaster" Target="/ppt/notesMasters/notesMaster1.xml" Id="R4b7dbd7b273e41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0e7c5fa9524a5e" /><Relationship Type="http://schemas.openxmlformats.org/officeDocument/2006/relationships/notesMaster" Target="/ppt/notesMasters/notesMaster1.xml" Id="R10435ea333b946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b748c1abc444cb" /><Relationship Type="http://schemas.openxmlformats.org/officeDocument/2006/relationships/notesMaster" Target="/ppt/notesMasters/notesMaster1.xml" Id="R84bfe012054a4d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7f58f96581452d" /><Relationship Type="http://schemas.openxmlformats.org/officeDocument/2006/relationships/notesMaster" Target="/ppt/notesMasters/notesMaster1.xml" Id="Rb03f2178a37c482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383625f8f94c23" /><Relationship Type="http://schemas.openxmlformats.org/officeDocument/2006/relationships/notesMaster" Target="/ppt/notesMasters/notesMaster1.xml" Id="Rc1b2d8b62f9d41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14b38cc2f4b4704" /><Relationship Type="http://schemas.openxmlformats.org/officeDocument/2006/relationships/notesMaster" Target="/ppt/notesMasters/notesMaster1.xml" Id="R339ceb97391c44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ce303d6dcd4502" /><Relationship Type="http://schemas.openxmlformats.org/officeDocument/2006/relationships/notesMaster" Target="/ppt/notesMasters/notesMaster1.xml" Id="Rbdedfd9478d84b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0362cd91a64e12" /><Relationship Type="http://schemas.openxmlformats.org/officeDocument/2006/relationships/notesMaster" Target="/ppt/notesMasters/notesMaster1.xml" Id="Rcfecdbc4aedc48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second lecture deck after S00. Assume only real-number arithmetic and the ability to run a Python file. Aim for 75 to 90 minutes, including two code walkthroughs and the exercises. Explain that qubit amplitudes can be complex, while measurement probabilities are real and nonnegative. Today develops the scalar arithmetic needed before vectors and matrices in S02. QuTiP remains the simulation framework throughout the course. Scientific plots in this deck come from the supplied numerical plotting script.</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x² = 1, which has real solutions ±1. For x² = −1 there is no real solution. Define a new unit i by i² = −1. This is an algebraic definition, not an approximate numerical value. The symbol j in Python serves the same purpose. It is written 1j rather than an undefined variable j. Ask learners to predict i³ = −i and i⁴ = 1. Do not introduce square-root product rules for negative real arguments.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symbol before manipulating it. Both a and b are real coordinates. In particular, Im(3+4i)=4, not 4i. Derive multiplication by distributing all four products: ac + iad + ibc + i²bd, then use i²=−1. Quick example: (1+i)(1−i)=1−i+i−i²=2. Addition combines real and imaginary components separately. Complex multiplication will later give a geometric rotation and scale.</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plot to map algebra onto geometry. The point 3+4i is three units along the real axis and four along the imaginary axis. Its distance from the origin is five. The angle is measured counterclockwise from the positive real axis. The plot uses equal axis scales so distances and angles are not distorted. Ask learners to locate −3+4i, then compare distance and angle with 3+4i. This figure is a deterministic scientific plot, not a generated illustration.</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z* as z conjugate. Some texts use an overbar instead of a star. Geometrically it reflects the point across the real axis. A real number is its own conjugate. In Python use np.conjugate(z) or z.conjugate(). Do not confuse conjugation with negation: −z = −a−ib whereas z* = a−ib. Ask learners for the conjugate of −2−3i and require −2+3i.</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z*z means z-conjugate times z, not z squared. Read the star aloud before expanding. Show that the two cross terms cancel because a and b are ordinary real scalars. Define the magnitude |z| = sqrt(a²+b²), taking the nonnegative square root. For z=0, both magnitude and squared magnitude are zero. This identity is the reason complex amplitudes can generate valid nonnegative probabilities. Normalization of a complete state is also needed, as the next slide explains.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alpha and beta as two complex amplitudes associated with computational-basis outcomes zero and one. Avoid assuming learners know ket notation yet. For a normalized pure qubit state, the Born probabilities in that basis are the squared magnitudes, and they sum to one. A standalone complex number with magnitude larger than one cannot serve as an amplitude in such a state without rescaling. Later S03 defines states and S04 develops measurement more fully. The sum rule prevents students from treating every squared magnitude as an automatically valid probability.</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the numerator explicitly: (1+i)² = 1+2i+i² = 2i. Dividing by four gives i/2. Conjugate multiplication gives (1−i)(1+i)/4 = 2/4 = 1/2. This is a worked contrast supporting the later example rather than a new formula group. In Python compare z**2 with abs(z)**2. If this is one component of a normalized two-outcome state, the other component must contribute the remaining probability 1/2. Ask learners which result could be a probability and why.</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 a=r cos(phi) and b=r sin(phi) to ordinary right-triangle trigonometry, then extend to all quadrants. NumPy trigonometric functions use radians. Explain why atan(b/a) can fail: a may be zero and the ratio loses quadrant information. np.arctan2(b,a) handles these cases for nonzero points. Phase is defined modulo 2π. Numerical conventions can return a placeholder angle for zero, but that does not make its mathematical phase defined.</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unit-circle plot counterclockwise. The coordinates of the point at angle phi are (cos(phi),sin(phi)). All points on this circle have squared magnitude one. At pi/2, the point is i, whose square is −1. Reinforce that phase changes can leave a single complex number’s magnitude unchanged. The plotted circle has equal axis scales and uses radians. Ask learners for the point at −pi/2, which is −i.</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Euler’s formula, with the famous identity at phi=pi as a special case. Explain e as the natural exponential base, approximately 2.71828. On screen e^(i phi) is plain-text exponential notation and means e raised to the power i times phi. Do not multiply e by i phi. State the formula here and reserve the optional power-series derivation for appendix 23. Show |e^(i phi)|²=1 using the Pythagorean trigonometric identity. Python uses np.exp(1j*phi).</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ordinary exponential product rule for these commuting scalar numbers. The magnitudes r1 and r2 are nonnegative. Phases add modulo 2pi. Conjugating cos(phi)+i sin(phi) changes the sign of sine, which equals evaluation at negative phi. Do not generalize the scalar exponential product rule to arbitrary matrices in S02. For the example, 2i has radius two and phase pi/2; −i has radius one and phase −pi/2. Their product is positive real two.</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1. Ask learners to compute the magnitude first without a calculator. Then use atan2(4,3) for phase. To check the result, evaluate 5*cos(phi) and 5*sin(phi), recovering approximately 3 and 4. The shown decimal phase is rounded; do not expect exact reconstruction from that rounded value. Distinguish a mathematical equality with the full angle from an approximate equality using six decimal digits. Let learners convert the same point back from polar to Cartesian.</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2. Ask learners to supply the conjugate and identify the denominator: multiplying two factors of 1/2 gives 1/4. The magnitude is sqrt(1/2), approximately 0.70710678, whereas squared magnitude is exactly one half in exact arithmetic. Choose beta=1/sqrt(2) as one possible second amplitude. Many other beta phases work because only its magnitude is fixed by normalization. Use this to prepare the distinction between global and relative phase in appendix 22.</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3. Derive i+i² = i−1 before dividing by two. The original alpha has phase pi/4 and the rotated alpha has phase 3pi/4. Both have radius 1/sqrt(2). If every amplitude of a state receives the same factor, this is global phase and cannot change any measurement probability. If only one amplitude receives it, it changes relative phase: the current basis populations stay the same, but another basis can reveal the difference. State this scope carefully to avoid the mistaken claim that phase never affects observable results.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preview, not a matrix prerequisite. Consider normalized amplitudes 1/sqrt(2) and e^(i phi)/sqrt(2) for the two basis states. Measuring in the equal-superposition plus/minus basis gives plus amplitude (1+e^(i phi))/2. The 1/2 scale is essential; |1+e^(i phi)|² alone can reach four. Derive the numerator using conjugation: (1+e^(−i phi))(1+e^(i phi)) = 2+2 cos(phi). Divide by four. The graph plots this analytic probability, not experimental shots. In the original zero/one basis both probabilities stay one half. This demonstrates a relative-phase effect. S03 and S04 explain the basis change formally.</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examples.py, then inspect the first section. Explain import, assignment, attribute access, function calls and assertion as needed. 4j is a Python imaginary literal; do not leave a multiplication symbol out of a variable expression such as 1j*phi. z.real and z.imag are the real coordinate values. abs(z) is the magnitude and abs(z)**2 is the squared magnitude. The ^ operator is bitwise XOR rather than exponentiation. np.angle returns the principal phase. Floating-point comparisons use np.isclose with appropriate tolerances, not exact equality for computed trigonometric expressions.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second section of examples.py. QuTiP basis(2,0) and basis(2,1) create the two computational-basis kets. Their coefficients are the amplitudes just studied. proj() makes the zero-state projector; expect computes its expectation in psi, which is the probability for outcome zero. This is a bridge to later notation rather than a demand to memorize projectors today. Verify psi.norm() is one in the source example. Then change the phase of a while keeping its magnitude and observe the same p0. Explain that the same Qobj machinery will support later dynamics, so no framework switch is needed.</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eight minutes. Written problem 1: conjugate −3−4i, squared magnitude 25, quadrant II. Its principal phase is atan2(4,−3)≈2.214297436 rad. Problem 2: alpha squared = −i/2 whereas squared magnitude =1/2. Problem 3: real part 1 and imaginary part sqrt(3). The coding task asks for a probability function, a Cartesian reconstruction function and a phase rotation function. Run the starter to see its explicit unfinished error, implement each function and run its checks. The reference solution is separate and need not be copied. Appendix 21 contains worked answers.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three concept questions rather than a slide to read aloud. Expected answers: cross terms cancel and i² supplies a positive b²; the phase factor has unit magnitude; coherent amplitudes add before squared magnitude is taken, so cross terms depend on relative phase. A complete exit response also states the measurement basis: computational-basis populations may stay unchanged while plus-basis outcomes change. Learners should be able to compute all three worked examples and run examples.py and their finished starter. Revisit normalization if anyone treats |3+4i|²=25 as a probability.</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after learners attempt the questions. In the first example, both components of −3+4i are not negated by conjugation: the real part remains negative three. In the second example, expand (1−i)²=−2i. In the third, use cos(pi/3)=1/2 and sin(pi/3)=sqrt(3)/2. Ask learners to state which result is Cartesian and which is polar. The angle quoted for quadrant II is about 126.87 degrees. Differences of integer multiples of 2pi represent the same nonzero complex number.</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ordered pair here lists coefficients in a fixed basis; S02 supplies vector notation. For any outcome amplitude c, a common phase gives |e^(i chi)c|²=|c|². The same holds after any linear basis change, which is why global phase is unobservable for an isolated state. Applying a phase to only beta generally changes the state physically through its relative phase. Computational-basis probabilities remain |alpha|² and |beta|², but the plus-basis interference example can change. If one component is zero, this particular relative-phase parameter has no observable effect. Avoid saying all phases are unobservable.</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calculus background. State the absolutely convergent power series definitions for exponential, cosine and sine. Substitute i phi into the exponential series and group even and odd powers. Even powers i^(2k)=(-1)^k generate cosine. Odd powers i^(2k+1)=i(-1)^k generate i times sine. Absolute convergence permits this grouping for every finite real phi. For learners without series, retain Euler’s formula as a working identity and return to the unit-circle geometry. The factorial n! multiplies integers from one to n, with 0!=1.</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S00 environment already installs NumPy and QuTiP. Run these commands from the repository root. No new packages or activation are required when using the explicit interpreter path. examples.py prints values and finishes with S01 examples: PASSED. The untouched starter intentionally raises NotImplementedError. After implementing its functions, it prints S01 exercises: PASSED. Run solution.py separately for the reference. These lecture exercises are standalone and are not registered in qubit_course.labs. To regenerate scientific figures only, run plot_figures.py with the same environment. The code uses no platform-specific Python features.</a:t>
            </a:r>
          </a:p>
          <a:p xmlns:a="http://schemas.openxmlformats.org/drawingml/2006/main">
            <a:r>
              <a:t/>
            </a:r>
          </a:p>
          <a:p xmlns:a="http://schemas.openxmlformats.org/drawingml/2006/main">
            <a:r>
              <a:t>Course sources: lessons/00b_python_math.md; lessons/01_states.md; src/qubit_course/experiments.py (basics).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cd3223763b41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da101a09be41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b478e9a17548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645a69acfc47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974a0d708744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2e9da73dc149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4E4E3-3FAC-4637-BEE3-47DB72D480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5AB5887-F957-41C9-8C71-A11DB0DA82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8C1339-8048-4D94-9020-A9ADABB093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295B71-1C73-40B6-B041-2684296850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E2EEDC-1290-44D8-8795-9DD25F544C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CC19EA-A0EE-48D5-B6B8-CDD77AF3B6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858202-92EF-40F3-9FEF-C62949DE74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1EF978-3C6F-4B66-A3B4-2AFA28BFA7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20B565-E703-4EA5-B384-98E9FCB3A9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3AB328-7A0B-4605-89EA-4F15244235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e4045a3fc14f2a" /><Relationship Type="http://schemas.openxmlformats.org/officeDocument/2006/relationships/slideLayout" Target="/ppt/slideLayouts/slideLayout1.xml" Id="Rf6ec8a68d0724bb0" /><Relationship Type="http://schemas.openxmlformats.org/officeDocument/2006/relationships/slideLayout" Target="/ppt/slideLayouts/slideLayout2.xml" Id="R13cade9cc8e14e4c" /><Relationship Type="http://schemas.openxmlformats.org/officeDocument/2006/relationships/slideLayout" Target="/ppt/slideLayouts/slideLayout3.xml" Id="Re1b4b5c7cef24bd9" /><Relationship Type="http://schemas.openxmlformats.org/officeDocument/2006/relationships/slideLayout" Target="/ppt/slideLayouts/slideLayout4.xml" Id="R3d04d241bdcf4575" /><Relationship Type="http://schemas.openxmlformats.org/officeDocument/2006/relationships/slideLayout" Target="/ppt/slideLayouts/slideLayout5.xml" Id="R6d2c07d3208f4cdf" /><Relationship Type="http://schemas.openxmlformats.org/officeDocument/2006/relationships/slideLayout" Target="/ppt/slideLayouts/slideLayout6.xml" Id="Rba3f40fa60a74d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ec8a68d0724bb0"/>
    <p:sldLayoutId xmlns:r="http://schemas.openxmlformats.org/officeDocument/2006/relationships" id="2147483650" r:id="R13cade9cc8e14e4c"/>
    <p:sldLayoutId xmlns:r="http://schemas.openxmlformats.org/officeDocument/2006/relationships" id="2147483651" r:id="Re1b4b5c7cef24bd9"/>
    <p:sldLayoutId xmlns:r="http://schemas.openxmlformats.org/officeDocument/2006/relationships" id="2147483652" r:id="R3d04d241bdcf4575"/>
    <p:sldLayoutId xmlns:r="http://schemas.openxmlformats.org/officeDocument/2006/relationships" id="2147483653" r:id="R6d2c07d3208f4cdf"/>
    <p:sldLayoutId xmlns:r="http://schemas.openxmlformats.org/officeDocument/2006/relationships" id="2147483654" r:id="Rba3f40fa60a74d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ec9888dcb5489a" /><Relationship Type="http://schemas.openxmlformats.org/officeDocument/2006/relationships/notesSlide" Target="/ppt/notesSlides/notesSlide1.xml" Id="R2efb9152bc024f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4342570f5a4f1a" /><Relationship Type="http://schemas.openxmlformats.org/officeDocument/2006/relationships/notesSlide" Target="/ppt/notesSlides/notesSlide2.xml" Id="Re2e5e5c20fbe47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f5d8caa68d4a27" /><Relationship Type="http://schemas.openxmlformats.org/officeDocument/2006/relationships/notesSlide" Target="/ppt/notesSlides/notesSlide3.xml" Id="R787a3291e3e0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e60be35d114f03" /><Relationship Type="http://schemas.openxmlformats.org/officeDocument/2006/relationships/image" Target="/ppt/media/image.png" Id="R3362b2f532fd4800" /><Relationship Type="http://schemas.openxmlformats.org/officeDocument/2006/relationships/notesSlide" Target="/ppt/notesSlides/notesSlide4.xml" Id="Rad80044bc22e4a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82612800ad45a4" /><Relationship Type="http://schemas.openxmlformats.org/officeDocument/2006/relationships/notesSlide" Target="/ppt/notesSlides/notesSlide5.xml" Id="Rfb5308dc2a484f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b692acd8a44c91" /><Relationship Type="http://schemas.openxmlformats.org/officeDocument/2006/relationships/notesSlide" Target="/ppt/notesSlides/notesSlide6.xml" Id="Rfcbd21d6f88e4b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486f692f16454e" /><Relationship Type="http://schemas.openxmlformats.org/officeDocument/2006/relationships/notesSlide" Target="/ppt/notesSlides/notesSlide7.xml" Id="Rd9c1345e1a1542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0aabe70aac4357" /><Relationship Type="http://schemas.openxmlformats.org/officeDocument/2006/relationships/notesSlide" Target="/ppt/notesSlides/notesSlide8.xml" Id="Rb65c1953fae34c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b7b37735f1403b" /><Relationship Type="http://schemas.openxmlformats.org/officeDocument/2006/relationships/notesSlide" Target="/ppt/notesSlides/notesSlide9.xml" Id="R40409cb9026341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52ff2a7afd42b7" /><Relationship Type="http://schemas.openxmlformats.org/officeDocument/2006/relationships/image" Target="/ppt/media/image2.png" Id="Rd2901be0f2f94f3c" /><Relationship Type="http://schemas.openxmlformats.org/officeDocument/2006/relationships/notesSlide" Target="/ppt/notesSlides/notesSlide10.xml" Id="R25d06003d7f14e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f82057b68b4b1e" /><Relationship Type="http://schemas.openxmlformats.org/officeDocument/2006/relationships/notesSlide" Target="/ppt/notesSlides/notesSlide11.xml" Id="R283c0c0b4ffa41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a020c7b4074ffc" /><Relationship Type="http://schemas.openxmlformats.org/officeDocument/2006/relationships/notesSlide" Target="/ppt/notesSlides/notesSlide12.xml" Id="R6075332e1adf4e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ca2ee35c2d145a1" /><Relationship Type="http://schemas.openxmlformats.org/officeDocument/2006/relationships/notesSlide" Target="/ppt/notesSlides/notesSlide13.xml" Id="R2f15dbc0fbcb4d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3fd2b4e87e24b33" /><Relationship Type="http://schemas.openxmlformats.org/officeDocument/2006/relationships/notesSlide" Target="/ppt/notesSlides/notesSlide14.xml" Id="R66ee8196152046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e97c5c3621490f" /><Relationship Type="http://schemas.openxmlformats.org/officeDocument/2006/relationships/notesSlide" Target="/ppt/notesSlides/notesSlide15.xml" Id="Raac227df0f964c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37fda1b91044af" /><Relationship Type="http://schemas.openxmlformats.org/officeDocument/2006/relationships/image" Target="/ppt/media/image3.png" Id="R20aa3b0982cd465c" /><Relationship Type="http://schemas.openxmlformats.org/officeDocument/2006/relationships/notesSlide" Target="/ppt/notesSlides/notesSlide16.xml" Id="Rfe1a5067f4014a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f5857a55d0c43b1" /><Relationship Type="http://schemas.openxmlformats.org/officeDocument/2006/relationships/notesSlide" Target="/ppt/notesSlides/notesSlide17.xml" Id="Rcef76968340344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9a9298370d435e" /><Relationship Type="http://schemas.openxmlformats.org/officeDocument/2006/relationships/notesSlide" Target="/ppt/notesSlides/notesSlide18.xml" Id="R4ea75a5efb5847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55ce74649448ed" /><Relationship Type="http://schemas.openxmlformats.org/officeDocument/2006/relationships/notesSlide" Target="/ppt/notesSlides/notesSlide19.xml" Id="R00e813c8699d46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414053bfcf4fe8" /><Relationship Type="http://schemas.openxmlformats.org/officeDocument/2006/relationships/notesSlide" Target="/ppt/notesSlides/notesSlide20.xml" Id="R3dd1a45fda9f47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6ebe1c88ed44f8b" /><Relationship Type="http://schemas.openxmlformats.org/officeDocument/2006/relationships/notesSlide" Target="/ppt/notesSlides/notesSlide21.xml" Id="R5ae2094a22a346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2464a98734e4297" /><Relationship Type="http://schemas.openxmlformats.org/officeDocument/2006/relationships/notesSlide" Target="/ppt/notesSlides/notesSlide22.xml" Id="R069de31c59ff4e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1c0c979277e4ca1" /><Relationship Type="http://schemas.openxmlformats.org/officeDocument/2006/relationships/notesSlide" Target="/ppt/notesSlides/notesSlide23.xml" Id="R9bff513c205a4a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9d8f249529049a4" /><Relationship Type="http://schemas.openxmlformats.org/officeDocument/2006/relationships/notesSlide" Target="/ppt/notesSlides/notesSlide24.xml" Id="R27ec663aaf4f468b" /></Relationships>
</file>

<file path=ppt/slides/slide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DCB6B0E-65AA-439D-A787-10FEA72D33FB}"/>
              </a:ext>
            </a:extLst>
          </p:cNvPr>
          <p:cNvSpPr>
            <a:spLocks xmlns:a="http://schemas.openxmlformats.org/drawingml/2006/main" noGrp="1"/>
          </p:cNvSpPr>
          <p:nvPr/>
        </p:nvSpPr>
        <p:spPr>
          <a:xfrm xmlns:a="http://schemas.openxmlformats.org/drawingml/2006/main">
            <a:off x="609600" y="628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68A84"/>
                </a:solidFill>
                <a:latin typeface="Arial"/>
                <a:ea typeface="Arial"/>
                <a:cs typeface="Arial"/>
              </a:defRPr>
            </a:defPPr>
            <a:lvl1pPr algn="l">
              <a:defRPr sz="1725" b="1">
                <a:solidFill>
                  <a:srgbClr val="168A84"/>
                </a:solidFill>
                <a:latin typeface="Arial"/>
                <a:ea typeface="Arial"/>
                <a:cs typeface="Arial"/>
              </a:defRPr>
            </a:lvl1pPr>
            <a:lvl2pPr algn="l">
              <a:defRPr sz="1725" b="1">
                <a:solidFill>
                  <a:srgbClr val="168A84"/>
                </a:solidFill>
                <a:latin typeface="Arial"/>
                <a:ea typeface="Arial"/>
                <a:cs typeface="Arial"/>
              </a:defRPr>
            </a:lvl2pPr>
            <a:lvl3pPr algn="l">
              <a:defRPr sz="1725" b="1">
                <a:solidFill>
                  <a:srgbClr val="168A84"/>
                </a:solidFill>
                <a:latin typeface="Arial"/>
                <a:ea typeface="Arial"/>
                <a:cs typeface="Arial"/>
              </a:defRPr>
            </a:lvl3pPr>
            <a:lvl4pPr algn="l">
              <a:defRPr sz="1725" b="1">
                <a:solidFill>
                  <a:srgbClr val="168A84"/>
                </a:solidFill>
                <a:latin typeface="Arial"/>
                <a:ea typeface="Arial"/>
                <a:cs typeface="Arial"/>
              </a:defRPr>
            </a:lvl4pPr>
            <a:lvl5pPr algn="l">
              <a:defRPr sz="1725" b="1">
                <a:solidFill>
                  <a:srgbClr val="168A84"/>
                </a:solidFill>
                <a:latin typeface="Arial"/>
                <a:ea typeface="Arial"/>
                <a:cs typeface="Arial"/>
              </a:defRPr>
            </a:lvl5pPr>
            <a:lvl6pPr algn="l">
              <a:defRPr sz="1725" b="1">
                <a:solidFill>
                  <a:srgbClr val="168A84"/>
                </a:solidFill>
                <a:latin typeface="Arial"/>
                <a:ea typeface="Arial"/>
                <a:cs typeface="Arial"/>
              </a:defRPr>
            </a:lvl6pPr>
            <a:lvl7pPr algn="l">
              <a:defRPr sz="1725" b="1">
                <a:solidFill>
                  <a:srgbClr val="168A84"/>
                </a:solidFill>
                <a:latin typeface="Arial"/>
                <a:ea typeface="Arial"/>
                <a:cs typeface="Arial"/>
              </a:defRPr>
            </a:lvl7pPr>
            <a:lvl8pPr algn="l">
              <a:defRPr sz="1725" b="1">
                <a:solidFill>
                  <a:srgbClr val="168A84"/>
                </a:solidFill>
                <a:latin typeface="Arial"/>
                <a:ea typeface="Arial"/>
                <a:cs typeface="Arial"/>
              </a:defRPr>
            </a:lvl8pPr>
            <a:lvl9pPr algn="l">
              <a:defRPr sz="1725" b="1">
                <a:solidFill>
                  <a:srgbClr val="168A84"/>
                </a:solidFill>
                <a:latin typeface="Arial"/>
                <a:ea typeface="Arial"/>
                <a:cs typeface="Arial"/>
              </a:defRPr>
            </a:lvl9pPr>
          </a:lstStyle>
          <a:p xmlns:a="http://schemas.openxmlformats.org/drawingml/2006/main">
            <a:pPr algn="l">
              <a:defRPr sz="1725" b="1">
                <a:solidFill>
                  <a:srgbClr val="168A84"/>
                </a:solidFill>
                <a:latin typeface="Arial"/>
                <a:ea typeface="Arial"/>
                <a:cs typeface="Arial"/>
              </a:defRPr>
            </a:pPr>
            <a:r>
              <a:rPr sz="1725" b="1">
                <a:solidFill>
                  <a:srgbClr val="168A84"/>
                </a:solidFill>
                <a:latin typeface="Arial"/>
                <a:ea typeface="Arial"/>
                <a:cs typeface="Arial"/>
              </a:rPr>
              <a:t>QUBIT ZERO TO HERO</a:t>
            </a:r>
          </a:p>
        </p:txBody>
      </p:sp>
      <p:sp>
        <p:nvSpPr>
          <p:cNvPr id="3" name="">
            <a:extLst xmlns:a="http://schemas.openxmlformats.org/drawingml/2006/main">
              <a:ext uri="{FF2B5EF4-FFF2-40B4-BE49-F238E27FC236}">
                <a16:creationId xmlns:a16="http://schemas.microsoft.com/office/drawing/2014/main" id="{15EB3A8B-9961-4DE2-B6F7-5019527ABB40}"/>
              </a:ext>
            </a:extLst>
          </p:cNvPr>
          <p:cNvSpPr>
            <a:spLocks xmlns:a="http://schemas.openxmlformats.org/drawingml/2006/main" noGrp="1"/>
          </p:cNvSpPr>
          <p:nvPr/>
        </p:nvSpPr>
        <p:spPr>
          <a:xfrm xmlns:a="http://schemas.openxmlformats.org/drawingml/2006/main">
            <a:off x="609600" y="1695450"/>
            <a:ext cx="10668000" cy="8420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33B"/>
                </a:solidFill>
                <a:latin typeface="Arial"/>
                <a:ea typeface="Arial"/>
                <a:cs typeface="Arial"/>
              </a:defRPr>
            </a:defPPr>
            <a:lvl1pPr algn="l">
              <a:defRPr sz="5100" b="1">
                <a:solidFill>
                  <a:srgbClr val="14233B"/>
                </a:solidFill>
                <a:latin typeface="Arial"/>
                <a:ea typeface="Arial"/>
                <a:cs typeface="Arial"/>
              </a:defRPr>
            </a:lvl1pPr>
            <a:lvl2pPr algn="l">
              <a:defRPr sz="5100" b="1">
                <a:solidFill>
                  <a:srgbClr val="14233B"/>
                </a:solidFill>
                <a:latin typeface="Arial"/>
                <a:ea typeface="Arial"/>
                <a:cs typeface="Arial"/>
              </a:defRPr>
            </a:lvl2pPr>
            <a:lvl3pPr algn="l">
              <a:defRPr sz="5100" b="1">
                <a:solidFill>
                  <a:srgbClr val="14233B"/>
                </a:solidFill>
                <a:latin typeface="Arial"/>
                <a:ea typeface="Arial"/>
                <a:cs typeface="Arial"/>
              </a:defRPr>
            </a:lvl3pPr>
            <a:lvl4pPr algn="l">
              <a:defRPr sz="5100" b="1">
                <a:solidFill>
                  <a:srgbClr val="14233B"/>
                </a:solidFill>
                <a:latin typeface="Arial"/>
                <a:ea typeface="Arial"/>
                <a:cs typeface="Arial"/>
              </a:defRPr>
            </a:lvl4pPr>
            <a:lvl5pPr algn="l">
              <a:defRPr sz="5100" b="1">
                <a:solidFill>
                  <a:srgbClr val="14233B"/>
                </a:solidFill>
                <a:latin typeface="Arial"/>
                <a:ea typeface="Arial"/>
                <a:cs typeface="Arial"/>
              </a:defRPr>
            </a:lvl5pPr>
            <a:lvl6pPr algn="l">
              <a:defRPr sz="5100" b="1">
                <a:solidFill>
                  <a:srgbClr val="14233B"/>
                </a:solidFill>
                <a:latin typeface="Arial"/>
                <a:ea typeface="Arial"/>
                <a:cs typeface="Arial"/>
              </a:defRPr>
            </a:lvl6pPr>
            <a:lvl7pPr algn="l">
              <a:defRPr sz="5100" b="1">
                <a:solidFill>
                  <a:srgbClr val="14233B"/>
                </a:solidFill>
                <a:latin typeface="Arial"/>
                <a:ea typeface="Arial"/>
                <a:cs typeface="Arial"/>
              </a:defRPr>
            </a:lvl7pPr>
            <a:lvl8pPr algn="l">
              <a:defRPr sz="5100" b="1">
                <a:solidFill>
                  <a:srgbClr val="14233B"/>
                </a:solidFill>
                <a:latin typeface="Arial"/>
                <a:ea typeface="Arial"/>
                <a:cs typeface="Arial"/>
              </a:defRPr>
            </a:lvl8pPr>
            <a:lvl9pPr algn="l">
              <a:defRPr sz="5100" b="1">
                <a:solidFill>
                  <a:srgbClr val="14233B"/>
                </a:solidFill>
                <a:latin typeface="Arial"/>
                <a:ea typeface="Arial"/>
                <a:cs typeface="Arial"/>
              </a:defRPr>
            </a:lvl9pPr>
          </a:lstStyle>
          <a:p xmlns:a="http://schemas.openxmlformats.org/drawingml/2006/main">
            <a:pPr algn="l">
              <a:defRPr sz="5100" b="1">
                <a:solidFill>
                  <a:srgbClr val="14233B"/>
                </a:solidFill>
                <a:latin typeface="Arial"/>
                <a:ea typeface="Arial"/>
                <a:cs typeface="Arial"/>
              </a:defRPr>
            </a:pPr>
            <a:r>
              <a:rPr sz="5100" b="1">
                <a:solidFill>
                  <a:srgbClr val="14233B"/>
                </a:solidFill>
                <a:latin typeface="Arial"/>
                <a:ea typeface="Arial"/>
                <a:cs typeface="Arial"/>
              </a:rPr>
              <a:t>Complex numbers</a:t>
            </a:r>
          </a:p>
        </p:txBody>
      </p:sp>
      <p:sp>
        <p:nvSpPr>
          <p:cNvPr id="4" name="">
            <a:extLst xmlns:a="http://schemas.openxmlformats.org/drawingml/2006/main">
              <a:ext uri="{FF2B5EF4-FFF2-40B4-BE49-F238E27FC236}">
                <a16:creationId xmlns:a16="http://schemas.microsoft.com/office/drawing/2014/main" id="{8B45B6FA-E3D8-4179-B528-BC7C20975A18}"/>
              </a:ext>
            </a:extLst>
          </p:cNvPr>
          <p:cNvSpPr>
            <a:spLocks xmlns:a="http://schemas.openxmlformats.org/drawingml/2006/main" noGrp="1"/>
          </p:cNvSpPr>
          <p:nvPr/>
        </p:nvSpPr>
        <p:spPr>
          <a:xfrm xmlns:a="http://schemas.openxmlformats.org/drawingml/2006/main">
            <a:off x="609600" y="2537460"/>
            <a:ext cx="10668000" cy="8420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33B"/>
                </a:solidFill>
                <a:latin typeface="Arial"/>
                <a:ea typeface="Arial"/>
                <a:cs typeface="Arial"/>
              </a:defRPr>
            </a:defPPr>
            <a:lvl1pPr algn="l">
              <a:defRPr sz="5100" b="1">
                <a:solidFill>
                  <a:srgbClr val="14233B"/>
                </a:solidFill>
                <a:latin typeface="Arial"/>
                <a:ea typeface="Arial"/>
                <a:cs typeface="Arial"/>
              </a:defRPr>
            </a:lvl1pPr>
            <a:lvl2pPr algn="l">
              <a:defRPr sz="5100" b="1">
                <a:solidFill>
                  <a:srgbClr val="14233B"/>
                </a:solidFill>
                <a:latin typeface="Arial"/>
                <a:ea typeface="Arial"/>
                <a:cs typeface="Arial"/>
              </a:defRPr>
            </a:lvl2pPr>
            <a:lvl3pPr algn="l">
              <a:defRPr sz="5100" b="1">
                <a:solidFill>
                  <a:srgbClr val="14233B"/>
                </a:solidFill>
                <a:latin typeface="Arial"/>
                <a:ea typeface="Arial"/>
                <a:cs typeface="Arial"/>
              </a:defRPr>
            </a:lvl3pPr>
            <a:lvl4pPr algn="l">
              <a:defRPr sz="5100" b="1">
                <a:solidFill>
                  <a:srgbClr val="14233B"/>
                </a:solidFill>
                <a:latin typeface="Arial"/>
                <a:ea typeface="Arial"/>
                <a:cs typeface="Arial"/>
              </a:defRPr>
            </a:lvl4pPr>
            <a:lvl5pPr algn="l">
              <a:defRPr sz="5100" b="1">
                <a:solidFill>
                  <a:srgbClr val="14233B"/>
                </a:solidFill>
                <a:latin typeface="Arial"/>
                <a:ea typeface="Arial"/>
                <a:cs typeface="Arial"/>
              </a:defRPr>
            </a:lvl5pPr>
            <a:lvl6pPr algn="l">
              <a:defRPr sz="5100" b="1">
                <a:solidFill>
                  <a:srgbClr val="14233B"/>
                </a:solidFill>
                <a:latin typeface="Arial"/>
                <a:ea typeface="Arial"/>
                <a:cs typeface="Arial"/>
              </a:defRPr>
            </a:lvl6pPr>
            <a:lvl7pPr algn="l">
              <a:defRPr sz="5100" b="1">
                <a:solidFill>
                  <a:srgbClr val="14233B"/>
                </a:solidFill>
                <a:latin typeface="Arial"/>
                <a:ea typeface="Arial"/>
                <a:cs typeface="Arial"/>
              </a:defRPr>
            </a:lvl7pPr>
            <a:lvl8pPr algn="l">
              <a:defRPr sz="5100" b="1">
                <a:solidFill>
                  <a:srgbClr val="14233B"/>
                </a:solidFill>
                <a:latin typeface="Arial"/>
                <a:ea typeface="Arial"/>
                <a:cs typeface="Arial"/>
              </a:defRPr>
            </a:lvl8pPr>
            <a:lvl9pPr algn="l">
              <a:defRPr sz="5100" b="1">
                <a:solidFill>
                  <a:srgbClr val="14233B"/>
                </a:solidFill>
                <a:latin typeface="Arial"/>
                <a:ea typeface="Arial"/>
                <a:cs typeface="Arial"/>
              </a:defRPr>
            </a:lvl9pPr>
          </a:lstStyle>
          <a:p xmlns:a="http://schemas.openxmlformats.org/drawingml/2006/main">
            <a:pPr algn="l">
              <a:defRPr sz="5100" b="1">
                <a:solidFill>
                  <a:srgbClr val="14233B"/>
                </a:solidFill>
                <a:latin typeface="Arial"/>
                <a:ea typeface="Arial"/>
                <a:cs typeface="Arial"/>
              </a:defRPr>
            </a:pPr>
            <a:r>
              <a:rPr sz="5100" b="1">
                <a:solidFill>
                  <a:srgbClr val="14233B"/>
                </a:solidFill>
                <a:latin typeface="Arial"/>
                <a:ea typeface="Arial"/>
                <a:cs typeface="Arial"/>
              </a:rPr>
              <a:t>and phase</a:t>
            </a:r>
          </a:p>
        </p:txBody>
      </p:sp>
      <p:sp>
        <p:nvSpPr>
          <p:cNvPr id="5" name="">
            <a:extLst xmlns:a="http://schemas.openxmlformats.org/drawingml/2006/main">
              <a:ext uri="{FF2B5EF4-FFF2-40B4-BE49-F238E27FC236}">
                <a16:creationId xmlns:a16="http://schemas.microsoft.com/office/drawing/2014/main" id="{91B6BFF9-58F4-4109-A1BC-1EB09FDF9587}"/>
              </a:ext>
            </a:extLst>
          </p:cNvPr>
          <p:cNvSpPr>
            <a:spLocks xmlns:a="http://schemas.openxmlformats.org/drawingml/2006/main" noGrp="1"/>
          </p:cNvSpPr>
          <p:nvPr/>
        </p:nvSpPr>
        <p:spPr>
          <a:xfrm xmlns:a="http://schemas.openxmlformats.org/drawingml/2006/main">
            <a:off x="609600" y="4095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S01 · Mathematical foundations</a:t>
            </a:r>
          </a:p>
        </p:txBody>
      </p:sp>
      <p:sp>
        <p:nvSpPr>
          <p:cNvPr id="6" name="">
            <a:extLst xmlns:a="http://schemas.openxmlformats.org/drawingml/2006/main">
              <a:ext uri="{FF2B5EF4-FFF2-40B4-BE49-F238E27FC236}">
                <a16:creationId xmlns:a16="http://schemas.microsoft.com/office/drawing/2014/main" id="{83D0706F-141B-4198-99F9-EE661B0429E4}"/>
              </a:ext>
            </a:extLst>
          </p:cNvPr>
          <p:cNvSpPr>
            <a:spLocks xmlns:a="http://schemas.openxmlformats.org/drawingml/2006/main" noGrp="1"/>
          </p:cNvSpPr>
          <p:nvPr/>
        </p:nvSpPr>
        <p:spPr>
          <a:xfrm xmlns:a="http://schemas.openxmlformats.org/drawingml/2006/main">
            <a:off x="609600" y="4953000"/>
            <a:ext cx="104775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33B"/>
                </a:solidFill>
                <a:latin typeface="Arial"/>
                <a:ea typeface="Arial"/>
                <a:cs typeface="Arial"/>
              </a:defRPr>
            </a:defPPr>
            <a:lvl1pPr algn="l">
              <a:defRPr sz="2100" b="0">
                <a:solidFill>
                  <a:srgbClr val="14233B"/>
                </a:solidFill>
                <a:latin typeface="Arial"/>
                <a:ea typeface="Arial"/>
                <a:cs typeface="Arial"/>
              </a:defRPr>
            </a:lvl1pPr>
            <a:lvl2pPr algn="l">
              <a:defRPr sz="2100" b="0">
                <a:solidFill>
                  <a:srgbClr val="14233B"/>
                </a:solidFill>
                <a:latin typeface="Arial"/>
                <a:ea typeface="Arial"/>
                <a:cs typeface="Arial"/>
              </a:defRPr>
            </a:lvl2pPr>
            <a:lvl3pPr algn="l">
              <a:defRPr sz="2100" b="0">
                <a:solidFill>
                  <a:srgbClr val="14233B"/>
                </a:solidFill>
                <a:latin typeface="Arial"/>
                <a:ea typeface="Arial"/>
                <a:cs typeface="Arial"/>
              </a:defRPr>
            </a:lvl3pPr>
            <a:lvl4pPr algn="l">
              <a:defRPr sz="2100" b="0">
                <a:solidFill>
                  <a:srgbClr val="14233B"/>
                </a:solidFill>
                <a:latin typeface="Arial"/>
                <a:ea typeface="Arial"/>
                <a:cs typeface="Arial"/>
              </a:defRPr>
            </a:lvl4pPr>
            <a:lvl5pPr algn="l">
              <a:defRPr sz="2100" b="0">
                <a:solidFill>
                  <a:srgbClr val="14233B"/>
                </a:solidFill>
                <a:latin typeface="Arial"/>
                <a:ea typeface="Arial"/>
                <a:cs typeface="Arial"/>
              </a:defRPr>
            </a:lvl5pPr>
            <a:lvl6pPr algn="l">
              <a:defRPr sz="2100" b="0">
                <a:solidFill>
                  <a:srgbClr val="14233B"/>
                </a:solidFill>
                <a:latin typeface="Arial"/>
                <a:ea typeface="Arial"/>
                <a:cs typeface="Arial"/>
              </a:defRPr>
            </a:lvl6pPr>
            <a:lvl7pPr algn="l">
              <a:defRPr sz="2100" b="0">
                <a:solidFill>
                  <a:srgbClr val="14233B"/>
                </a:solidFill>
                <a:latin typeface="Arial"/>
                <a:ea typeface="Arial"/>
                <a:cs typeface="Arial"/>
              </a:defRPr>
            </a:lvl7pPr>
            <a:lvl8pPr algn="l">
              <a:defRPr sz="2100" b="0">
                <a:solidFill>
                  <a:srgbClr val="14233B"/>
                </a:solidFill>
                <a:latin typeface="Arial"/>
                <a:ea typeface="Arial"/>
                <a:cs typeface="Arial"/>
              </a:defRPr>
            </a:lvl8pPr>
            <a:lvl9pPr algn="l">
              <a:defRPr sz="2100" b="0">
                <a:solidFill>
                  <a:srgbClr val="14233B"/>
                </a:solidFill>
                <a:latin typeface="Arial"/>
                <a:ea typeface="Arial"/>
                <a:cs typeface="Arial"/>
              </a:defRPr>
            </a:lvl9pPr>
          </a:lstStyle>
          <a:p xmlns:a="http://schemas.openxmlformats.org/drawingml/2006/main">
            <a:pPr algn="l">
              <a:defRPr sz="2100" b="0">
                <a:solidFill>
                  <a:srgbClr val="14233B"/>
                </a:solidFill>
                <a:latin typeface="Arial"/>
                <a:ea typeface="Arial"/>
                <a:cs typeface="Arial"/>
              </a:defRPr>
            </a:pPr>
            <a:r>
              <a:rPr sz="2100" b="0">
                <a:solidFill>
                  <a:srgbClr val="14233B"/>
                </a:solidFill>
                <a:latin typeface="Arial"/>
                <a:ea typeface="Arial"/>
                <a:cs typeface="Arial"/>
              </a:rPr>
              <a:t>Cartesian form, magnitude and phase</a:t>
            </a:r>
          </a:p>
        </p:txBody>
      </p:sp>
      <p:sp>
        <p:nvSpPr>
          <p:cNvPr id="7" name="">
            <a:extLst xmlns:a="http://schemas.openxmlformats.org/drawingml/2006/main">
              <a:ext uri="{FF2B5EF4-FFF2-40B4-BE49-F238E27FC236}">
                <a16:creationId xmlns:a16="http://schemas.microsoft.com/office/drawing/2014/main" id="{A78CFCB6-58F8-41E5-805C-9ABF98655274}"/>
              </a:ext>
            </a:extLst>
          </p:cNvPr>
          <p:cNvSpPr>
            <a:spLocks xmlns:a="http://schemas.openxmlformats.org/drawingml/2006/main" noGrp="1"/>
          </p:cNvSpPr>
          <p:nvPr/>
        </p:nvSpPr>
        <p:spPr>
          <a:xfrm xmlns:a="http://schemas.openxmlformats.org/drawingml/2006/main">
            <a:off x="609600" y="5299710"/>
            <a:ext cx="1047750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33B"/>
                </a:solidFill>
                <a:latin typeface="Arial"/>
                <a:ea typeface="Arial"/>
                <a:cs typeface="Arial"/>
              </a:defRPr>
            </a:defPPr>
            <a:lvl1pPr algn="l">
              <a:defRPr sz="2100" b="0">
                <a:solidFill>
                  <a:srgbClr val="14233B"/>
                </a:solidFill>
                <a:latin typeface="Arial"/>
                <a:ea typeface="Arial"/>
                <a:cs typeface="Arial"/>
              </a:defRPr>
            </a:lvl1pPr>
            <a:lvl2pPr algn="l">
              <a:defRPr sz="2100" b="0">
                <a:solidFill>
                  <a:srgbClr val="14233B"/>
                </a:solidFill>
                <a:latin typeface="Arial"/>
                <a:ea typeface="Arial"/>
                <a:cs typeface="Arial"/>
              </a:defRPr>
            </a:lvl2pPr>
            <a:lvl3pPr algn="l">
              <a:defRPr sz="2100" b="0">
                <a:solidFill>
                  <a:srgbClr val="14233B"/>
                </a:solidFill>
                <a:latin typeface="Arial"/>
                <a:ea typeface="Arial"/>
                <a:cs typeface="Arial"/>
              </a:defRPr>
            </a:lvl3pPr>
            <a:lvl4pPr algn="l">
              <a:defRPr sz="2100" b="0">
                <a:solidFill>
                  <a:srgbClr val="14233B"/>
                </a:solidFill>
                <a:latin typeface="Arial"/>
                <a:ea typeface="Arial"/>
                <a:cs typeface="Arial"/>
              </a:defRPr>
            </a:lvl4pPr>
            <a:lvl5pPr algn="l">
              <a:defRPr sz="2100" b="0">
                <a:solidFill>
                  <a:srgbClr val="14233B"/>
                </a:solidFill>
                <a:latin typeface="Arial"/>
                <a:ea typeface="Arial"/>
                <a:cs typeface="Arial"/>
              </a:defRPr>
            </a:lvl5pPr>
            <a:lvl6pPr algn="l">
              <a:defRPr sz="2100" b="0">
                <a:solidFill>
                  <a:srgbClr val="14233B"/>
                </a:solidFill>
                <a:latin typeface="Arial"/>
                <a:ea typeface="Arial"/>
                <a:cs typeface="Arial"/>
              </a:defRPr>
            </a:lvl6pPr>
            <a:lvl7pPr algn="l">
              <a:defRPr sz="2100" b="0">
                <a:solidFill>
                  <a:srgbClr val="14233B"/>
                </a:solidFill>
                <a:latin typeface="Arial"/>
                <a:ea typeface="Arial"/>
                <a:cs typeface="Arial"/>
              </a:defRPr>
            </a:lvl7pPr>
            <a:lvl8pPr algn="l">
              <a:defRPr sz="2100" b="0">
                <a:solidFill>
                  <a:srgbClr val="14233B"/>
                </a:solidFill>
                <a:latin typeface="Arial"/>
                <a:ea typeface="Arial"/>
                <a:cs typeface="Arial"/>
              </a:defRPr>
            </a:lvl8pPr>
            <a:lvl9pPr algn="l">
              <a:defRPr sz="2100" b="0">
                <a:solidFill>
                  <a:srgbClr val="14233B"/>
                </a:solidFill>
                <a:latin typeface="Arial"/>
                <a:ea typeface="Arial"/>
                <a:cs typeface="Arial"/>
              </a:defRPr>
            </a:lvl9pPr>
          </a:lstStyle>
          <a:p xmlns:a="http://schemas.openxmlformats.org/drawingml/2006/main">
            <a:pPr algn="l">
              <a:defRPr sz="2100" b="0">
                <a:solidFill>
                  <a:srgbClr val="14233B"/>
                </a:solidFill>
                <a:latin typeface="Arial"/>
                <a:ea typeface="Arial"/>
                <a:cs typeface="Arial"/>
              </a:defRPr>
            </a:pPr>
            <a:r>
              <a:rPr sz="2100" b="0">
                <a:solidFill>
                  <a:srgbClr val="14233B"/>
                </a:solidFill>
                <a:latin typeface="Arial"/>
                <a:ea typeface="Arial"/>
                <a:cs typeface="Arial"/>
              </a:rPr>
              <a:t>Step-by-step calculations and Python checks</a:t>
            </a:r>
          </a:p>
        </p:txBody>
      </p:sp>
      <p:sp>
        <p:nvSpPr>
          <p:cNvPr id="8" name="">
            <a:extLst xmlns:a="http://schemas.openxmlformats.org/drawingml/2006/main">
              <a:ext uri="{FF2B5EF4-FFF2-40B4-BE49-F238E27FC236}">
                <a16:creationId xmlns:a16="http://schemas.microsoft.com/office/drawing/2014/main" id="{11A0F9BA-8279-4DCD-9018-811DC5515322}"/>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01 / 24</a:t>
            </a:r>
          </a:p>
        </p:txBody>
      </p:sp>
    </p:spTree>
    <p:extLst>
      <p:ext uri="{BB962C8B-B14F-4D97-AF65-F5344CB8AC3E}">
        <p14:creationId xmlns:p14="http://schemas.microsoft.com/office/powerpoint/2010/main" val="1767184294"/>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AFA2A40-C8D8-4B62-A4F1-348229AD055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D1012127-62EA-494B-A56D-4B9A7CCA548F}"/>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The imaginary unit</a:t>
            </a:r>
          </a:p>
        </p:txBody>
      </p:sp>
      <p:sp>
        <p:nvSpPr>
          <p:cNvPr id="4" name="">
            <a:extLst xmlns:a="http://schemas.openxmlformats.org/drawingml/2006/main">
              <a:ext uri="{FF2B5EF4-FFF2-40B4-BE49-F238E27FC236}">
                <a16:creationId xmlns:a16="http://schemas.microsoft.com/office/drawing/2014/main" id="{17747375-13AC-436B-A29C-EAFF252AA2B6}"/>
              </a:ext>
            </a:extLst>
          </p:cNvPr>
          <p:cNvSpPr>
            <a:spLocks xmlns:a="http://schemas.openxmlformats.org/drawingml/2006/main" noGrp="1"/>
          </p:cNvSpPr>
          <p:nvPr/>
        </p:nvSpPr>
        <p:spPr>
          <a:xfrm xmlns:a="http://schemas.openxmlformats.org/drawingml/2006/main">
            <a:off x="609600" y="18097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i² = −1</a:t>
            </a:r>
          </a:p>
        </p:txBody>
      </p:sp>
      <p:sp>
        <p:nvSpPr>
          <p:cNvPr id="5" name="">
            <a:extLst xmlns:a="http://schemas.openxmlformats.org/drawingml/2006/main">
              <a:ext uri="{FF2B5EF4-FFF2-40B4-BE49-F238E27FC236}">
                <a16:creationId xmlns:a16="http://schemas.microsoft.com/office/drawing/2014/main" id="{C5449C84-E99A-432E-B386-08A3D1ADBC57}"/>
              </a:ext>
            </a:extLst>
          </p:cNvPr>
          <p:cNvSpPr>
            <a:spLocks xmlns:a="http://schemas.openxmlformats.org/drawingml/2006/main" noGrp="1"/>
          </p:cNvSpPr>
          <p:nvPr/>
        </p:nvSpPr>
        <p:spPr>
          <a:xfrm xmlns:a="http://schemas.openxmlformats.org/drawingml/2006/main">
            <a:off x="609600" y="27622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real square cannot equal −1. Complex numbers extend the real numbers.</a:t>
            </a:r>
          </a:p>
        </p:txBody>
      </p:sp>
      <p:sp>
        <p:nvSpPr>
          <p:cNvPr id="6" name="">
            <a:extLst xmlns:a="http://schemas.openxmlformats.org/drawingml/2006/main">
              <a:ext uri="{FF2B5EF4-FFF2-40B4-BE49-F238E27FC236}">
                <a16:creationId xmlns:a16="http://schemas.microsoft.com/office/drawing/2014/main" id="{F035BAD4-3C9C-47EA-8BFE-8C7F6FD44D6E}"/>
              </a:ext>
            </a:extLst>
          </p:cNvPr>
          <p:cNvSpPr>
            <a:spLocks xmlns:a="http://schemas.openxmlformats.org/drawingml/2006/main" noGrp="1"/>
          </p:cNvSpPr>
          <p:nvPr/>
        </p:nvSpPr>
        <p:spPr>
          <a:xfrm xmlns:a="http://schemas.openxmlformats.org/drawingml/2006/main">
            <a:off x="609600" y="3429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In mathematics we write i. In Python we write 1j.</a:t>
            </a:r>
          </a:p>
        </p:txBody>
      </p:sp>
      <p:sp>
        <p:nvSpPr>
          <p:cNvPr id="7" name="">
            <a:extLst xmlns:a="http://schemas.openxmlformats.org/drawingml/2006/main">
              <a:ext uri="{FF2B5EF4-FFF2-40B4-BE49-F238E27FC236}">
                <a16:creationId xmlns:a16="http://schemas.microsoft.com/office/drawing/2014/main" id="{E0107A60-3BAC-4BAA-BD8B-2701DF135E4B}"/>
              </a:ext>
            </a:extLst>
          </p:cNvPr>
          <p:cNvSpPr>
            <a:spLocks xmlns:a="http://schemas.openxmlformats.org/drawingml/2006/main" noGrp="1"/>
          </p:cNvSpPr>
          <p:nvPr/>
        </p:nvSpPr>
        <p:spPr>
          <a:xfrm xmlns:a="http://schemas.openxmlformats.org/drawingml/2006/main">
            <a:off x="609600" y="4095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Example: 3 + 4i in mathematics is 3 + 4j in Python.</a:t>
            </a:r>
          </a:p>
        </p:txBody>
      </p:sp>
      <p:sp>
        <p:nvSpPr>
          <p:cNvPr id="8" name="">
            <a:extLst xmlns:a="http://schemas.openxmlformats.org/drawingml/2006/main">
              <a:ext uri="{FF2B5EF4-FFF2-40B4-BE49-F238E27FC236}">
                <a16:creationId xmlns:a16="http://schemas.microsoft.com/office/drawing/2014/main" id="{EAFFCD92-58B6-4A00-B543-94D9A2AB80D6}"/>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02 / 24</a:t>
            </a:r>
          </a:p>
        </p:txBody>
      </p:sp>
    </p:spTree>
    <p:extLst>
      <p:ext uri="{BB962C8B-B14F-4D97-AF65-F5344CB8AC3E}">
        <p14:creationId xmlns:p14="http://schemas.microsoft.com/office/powerpoint/2010/main" val="1529114061"/>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E927FAA-8E25-4C92-8452-540AA4B7F82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3DDD847B-0556-4A80-80F6-1557294AE8D5}"/>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Cartesian form and arithmetic</a:t>
            </a:r>
          </a:p>
        </p:txBody>
      </p:sp>
      <p:sp>
        <p:nvSpPr>
          <p:cNvPr id="4" name="">
            <a:extLst xmlns:a="http://schemas.openxmlformats.org/drawingml/2006/main">
              <a:ext uri="{FF2B5EF4-FFF2-40B4-BE49-F238E27FC236}">
                <a16:creationId xmlns:a16="http://schemas.microsoft.com/office/drawing/2014/main" id="{E421D704-B079-4D2F-A00F-32611CFC710A}"/>
              </a:ext>
            </a:extLst>
          </p:cNvPr>
          <p:cNvSpPr>
            <a:spLocks xmlns:a="http://schemas.openxmlformats.org/drawingml/2006/main" noGrp="1"/>
          </p:cNvSpPr>
          <p:nvPr/>
        </p:nvSpPr>
        <p:spPr>
          <a:xfrm xmlns:a="http://schemas.openxmlformats.org/drawingml/2006/main">
            <a:off x="609600" y="18097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a + ib</a:t>
            </a:r>
          </a:p>
        </p:txBody>
      </p:sp>
      <p:sp>
        <p:nvSpPr>
          <p:cNvPr id="5" name="">
            <a:extLst xmlns:a="http://schemas.openxmlformats.org/drawingml/2006/main">
              <a:ext uri="{FF2B5EF4-FFF2-40B4-BE49-F238E27FC236}">
                <a16:creationId xmlns:a16="http://schemas.microsoft.com/office/drawing/2014/main" id="{EB8C079A-A18E-406B-966E-BF0728E978A8}"/>
              </a:ext>
            </a:extLst>
          </p:cNvPr>
          <p:cNvSpPr>
            <a:spLocks xmlns:a="http://schemas.openxmlformats.org/drawingml/2006/main" noGrp="1"/>
          </p:cNvSpPr>
          <p:nvPr/>
        </p:nvSpPr>
        <p:spPr>
          <a:xfrm xmlns:a="http://schemas.openxmlformats.org/drawingml/2006/main">
            <a:off x="609600" y="27622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 Re(z) and b = Im(z), with a and b real.</a:t>
            </a:r>
          </a:p>
        </p:txBody>
      </p:sp>
      <p:sp>
        <p:nvSpPr>
          <p:cNvPr id="6" name="">
            <a:extLst xmlns:a="http://schemas.openxmlformats.org/drawingml/2006/main">
              <a:ext uri="{FF2B5EF4-FFF2-40B4-BE49-F238E27FC236}">
                <a16:creationId xmlns:a16="http://schemas.microsoft.com/office/drawing/2014/main" id="{875F0F5B-7682-41B3-B1B3-C3F870F08A70}"/>
              </a:ext>
            </a:extLst>
          </p:cNvPr>
          <p:cNvSpPr>
            <a:spLocks xmlns:a="http://schemas.openxmlformats.org/drawingml/2006/main" noGrp="1"/>
          </p:cNvSpPr>
          <p:nvPr/>
        </p:nvSpPr>
        <p:spPr>
          <a:xfrm xmlns:a="http://schemas.openxmlformats.org/drawingml/2006/main">
            <a:off x="609600" y="3429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 ib) + (c + id) = (a + c) + i(b + d)</a:t>
            </a:r>
          </a:p>
        </p:txBody>
      </p:sp>
      <p:sp>
        <p:nvSpPr>
          <p:cNvPr id="7" name="">
            <a:extLst xmlns:a="http://schemas.openxmlformats.org/drawingml/2006/main">
              <a:ext uri="{FF2B5EF4-FFF2-40B4-BE49-F238E27FC236}">
                <a16:creationId xmlns:a16="http://schemas.microsoft.com/office/drawing/2014/main" id="{649BF5BB-4AB0-4859-A824-96B2DA51A564}"/>
              </a:ext>
            </a:extLst>
          </p:cNvPr>
          <p:cNvSpPr>
            <a:spLocks xmlns:a="http://schemas.openxmlformats.org/drawingml/2006/main" noGrp="1"/>
          </p:cNvSpPr>
          <p:nvPr/>
        </p:nvSpPr>
        <p:spPr>
          <a:xfrm xmlns:a="http://schemas.openxmlformats.org/drawingml/2006/main">
            <a:off x="609600" y="4095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 ib)(c + id) = (ac − bd) + i(ad + bc)</a:t>
            </a:r>
          </a:p>
        </p:txBody>
      </p:sp>
      <p:sp>
        <p:nvSpPr>
          <p:cNvPr id="8" name="">
            <a:extLst xmlns:a="http://schemas.openxmlformats.org/drawingml/2006/main">
              <a:ext uri="{FF2B5EF4-FFF2-40B4-BE49-F238E27FC236}">
                <a16:creationId xmlns:a16="http://schemas.microsoft.com/office/drawing/2014/main" id="{620760A4-BFD1-4889-AD21-B00939755C8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03 / 24</a:t>
            </a:r>
          </a:p>
        </p:txBody>
      </p:sp>
    </p:spTree>
    <p:extLst>
      <p:ext uri="{BB962C8B-B14F-4D97-AF65-F5344CB8AC3E}">
        <p14:creationId xmlns:p14="http://schemas.microsoft.com/office/powerpoint/2010/main" val="484413277"/>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10B95C-9BD2-440F-805B-FD1E57DEC9A9}"/>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78D57BD6-3F74-4E6B-BA2B-27D511C0015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The complex plane</a:t>
            </a:r>
          </a:p>
        </p:txBody>
      </p:sp>
      <p:pic>
        <p:nvPicPr>
          <p:cNvPr id="4" name="">
            <a:extLst xmlns:a="http://schemas.openxmlformats.org/drawingml/2006/main">
              <a:ext uri="{FF2B5EF4-FFF2-40B4-BE49-F238E27FC236}">
                <a16:creationId xmlns:a16="http://schemas.microsoft.com/office/drawing/2014/main" id="{73C00F20-5B34-459A-A912-DAA1942E49C2}"/>
              </a:ext>
            </a:extLst>
          </p:cNvPr>
          <p:cNvPicPr>
            <a:picLocks xmlns:a="http://schemas.openxmlformats.org/drawingml/2006/main" noChangeAspect="1"/>
          </p:cNvPicPr>
          <p:nvPr/>
        </p:nvPicPr>
        <p:blipFill>
          <a:blip xmlns:r="http://schemas.openxmlformats.org/officeDocument/2006/relationships" xmlns:a="http://schemas.openxmlformats.org/drawingml/2006/main" r:embed="R3362b2f532fd4800"/>
          <a:stretch xmlns:a="http://schemas.openxmlformats.org/drawingml/2006/main"/>
        </p:blipFill>
        <p:spPr>
          <a:xfrm xmlns:a="http://schemas.openxmlformats.org/drawingml/2006/main">
            <a:off x="1884163" y="1619250"/>
            <a:ext cx="4213623"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08AC36-8DDF-4150-A2C0-558C0ADB6EDE}"/>
              </a:ext>
            </a:extLst>
          </p:cNvPr>
          <p:cNvSpPr>
            <a:spLocks xmlns:a="http://schemas.openxmlformats.org/drawingml/2006/main" noGrp="1"/>
          </p:cNvSpPr>
          <p:nvPr/>
        </p:nvSpPr>
        <p:spPr>
          <a:xfrm xmlns:a="http://schemas.openxmlformats.org/drawingml/2006/main">
            <a:off x="7810500" y="1809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3 + 4i is the point (3, 4).</a:t>
            </a:r>
          </a:p>
        </p:txBody>
      </p:sp>
      <p:sp>
        <p:nvSpPr>
          <p:cNvPr id="6" name="">
            <a:extLst xmlns:a="http://schemas.openxmlformats.org/drawingml/2006/main">
              <a:ext uri="{FF2B5EF4-FFF2-40B4-BE49-F238E27FC236}">
                <a16:creationId xmlns:a16="http://schemas.microsoft.com/office/drawing/2014/main" id="{EA07A56C-8526-4AAA-9FF9-C5DAE818CED6}"/>
              </a:ext>
            </a:extLst>
          </p:cNvPr>
          <p:cNvSpPr>
            <a:spLocks xmlns:a="http://schemas.openxmlformats.org/drawingml/2006/main" noGrp="1"/>
          </p:cNvSpPr>
          <p:nvPr/>
        </p:nvSpPr>
        <p:spPr>
          <a:xfrm xmlns:a="http://schemas.openxmlformats.org/drawingml/2006/main">
            <a:off x="7810500" y="27622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Horizontal axis: real part</a:t>
            </a:r>
          </a:p>
        </p:txBody>
      </p:sp>
      <p:sp>
        <p:nvSpPr>
          <p:cNvPr id="7" name="">
            <a:extLst xmlns:a="http://schemas.openxmlformats.org/drawingml/2006/main">
              <a:ext uri="{FF2B5EF4-FFF2-40B4-BE49-F238E27FC236}">
                <a16:creationId xmlns:a16="http://schemas.microsoft.com/office/drawing/2014/main" id="{E51471BA-3ACE-452C-B3B0-3920EB08F46B}"/>
              </a:ext>
            </a:extLst>
          </p:cNvPr>
          <p:cNvSpPr>
            <a:spLocks xmlns:a="http://schemas.openxmlformats.org/drawingml/2006/main" noGrp="1"/>
          </p:cNvSpPr>
          <p:nvPr/>
        </p:nvSpPr>
        <p:spPr>
          <a:xfrm xmlns:a="http://schemas.openxmlformats.org/drawingml/2006/main">
            <a:off x="7810500" y="3714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Vertical axis: imaginary part</a:t>
            </a:r>
          </a:p>
        </p:txBody>
      </p:sp>
      <p:sp>
        <p:nvSpPr>
          <p:cNvPr id="8" name="">
            <a:extLst xmlns:a="http://schemas.openxmlformats.org/drawingml/2006/main">
              <a:ext uri="{FF2B5EF4-FFF2-40B4-BE49-F238E27FC236}">
                <a16:creationId xmlns:a16="http://schemas.microsoft.com/office/drawing/2014/main" id="{7C7BEB15-92D5-4926-81B1-322907C1CA0B}"/>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04 / 24</a:t>
            </a:r>
          </a:p>
        </p:txBody>
      </p:sp>
    </p:spTree>
    <p:extLst>
      <p:ext uri="{BB962C8B-B14F-4D97-AF65-F5344CB8AC3E}">
        <p14:creationId xmlns:p14="http://schemas.microsoft.com/office/powerpoint/2010/main" val="686510045"/>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B07D5F-0998-4AED-86A1-42ACF1254A1B}"/>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11DDDC01-505F-4152-96AE-E519DC69F7A3}"/>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Complex conjugation</a:t>
            </a:r>
          </a:p>
        </p:txBody>
      </p:sp>
      <p:sp>
        <p:nvSpPr>
          <p:cNvPr id="4" name="">
            <a:extLst xmlns:a="http://schemas.openxmlformats.org/drawingml/2006/main">
              <a:ext uri="{FF2B5EF4-FFF2-40B4-BE49-F238E27FC236}">
                <a16:creationId xmlns:a16="http://schemas.microsoft.com/office/drawing/2014/main" id="{A5A439B2-7CE7-4686-9176-8BC45B5F63B4}"/>
              </a:ext>
            </a:extLst>
          </p:cNvPr>
          <p:cNvSpPr>
            <a:spLocks xmlns:a="http://schemas.openxmlformats.org/drawingml/2006/main" noGrp="1"/>
          </p:cNvSpPr>
          <p:nvPr/>
        </p:nvSpPr>
        <p:spPr>
          <a:xfrm xmlns:a="http://schemas.openxmlformats.org/drawingml/2006/main">
            <a:off x="609600" y="18097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a − ib</a:t>
            </a:r>
          </a:p>
        </p:txBody>
      </p:sp>
      <p:sp>
        <p:nvSpPr>
          <p:cNvPr id="5" name="">
            <a:extLst xmlns:a="http://schemas.openxmlformats.org/drawingml/2006/main">
              <a:ext uri="{FF2B5EF4-FFF2-40B4-BE49-F238E27FC236}">
                <a16:creationId xmlns:a16="http://schemas.microsoft.com/office/drawing/2014/main" id="{034A951A-AA2A-4F17-BEED-C621D600320C}"/>
              </a:ext>
            </a:extLst>
          </p:cNvPr>
          <p:cNvSpPr>
            <a:spLocks xmlns:a="http://schemas.openxmlformats.org/drawingml/2006/main" noGrp="1"/>
          </p:cNvSpPr>
          <p:nvPr/>
        </p:nvSpPr>
        <p:spPr>
          <a:xfrm xmlns:a="http://schemas.openxmlformats.org/drawingml/2006/main">
            <a:off x="609600" y="27622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Conjugation flips the sign of the imaginary coordinate.</a:t>
            </a:r>
          </a:p>
        </p:txBody>
      </p:sp>
      <p:sp>
        <p:nvSpPr>
          <p:cNvPr id="6" name="">
            <a:extLst xmlns:a="http://schemas.openxmlformats.org/drawingml/2006/main">
              <a:ext uri="{FF2B5EF4-FFF2-40B4-BE49-F238E27FC236}">
                <a16:creationId xmlns:a16="http://schemas.microsoft.com/office/drawing/2014/main" id="{3D6AF13F-0AD9-462E-8190-344941662F0B}"/>
              </a:ext>
            </a:extLst>
          </p:cNvPr>
          <p:cNvSpPr>
            <a:spLocks xmlns:a="http://schemas.openxmlformats.org/drawingml/2006/main" noGrp="1"/>
          </p:cNvSpPr>
          <p:nvPr/>
        </p:nvSpPr>
        <p:spPr>
          <a:xfrm xmlns:a="http://schemas.openxmlformats.org/drawingml/2006/main">
            <a:off x="609600" y="3429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If z = 3 + 4i, then z* = 3 − 4i.</a:t>
            </a:r>
          </a:p>
        </p:txBody>
      </p:sp>
      <p:sp>
        <p:nvSpPr>
          <p:cNvPr id="7" name="">
            <a:extLst xmlns:a="http://schemas.openxmlformats.org/drawingml/2006/main">
              <a:ext uri="{FF2B5EF4-FFF2-40B4-BE49-F238E27FC236}">
                <a16:creationId xmlns:a16="http://schemas.microsoft.com/office/drawing/2014/main" id="{18849358-9310-4834-B4F0-528FA55CEDA7}"/>
              </a:ext>
            </a:extLst>
          </p:cNvPr>
          <p:cNvSpPr>
            <a:spLocks xmlns:a="http://schemas.openxmlformats.org/drawingml/2006/main" noGrp="1"/>
          </p:cNvSpPr>
          <p:nvPr/>
        </p:nvSpPr>
        <p:spPr>
          <a:xfrm xmlns:a="http://schemas.openxmlformats.org/drawingml/2006/main">
            <a:off x="609600" y="4095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Useful check: (z*)* = z.</a:t>
            </a:r>
          </a:p>
        </p:txBody>
      </p:sp>
      <p:sp>
        <p:nvSpPr>
          <p:cNvPr id="8" name="">
            <a:extLst xmlns:a="http://schemas.openxmlformats.org/drawingml/2006/main">
              <a:ext uri="{FF2B5EF4-FFF2-40B4-BE49-F238E27FC236}">
                <a16:creationId xmlns:a16="http://schemas.microsoft.com/office/drawing/2014/main" id="{29CC2AC4-973E-41D3-BE78-75F808F340D1}"/>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05 / 24</a:t>
            </a:r>
          </a:p>
        </p:txBody>
      </p:sp>
    </p:spTree>
    <p:extLst>
      <p:ext uri="{BB962C8B-B14F-4D97-AF65-F5344CB8AC3E}">
        <p14:creationId xmlns:p14="http://schemas.microsoft.com/office/powerpoint/2010/main" val="867579150"/>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A537AD-3535-49AE-83EA-AC4D24A6874E}"/>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DF25983B-29E5-4A46-A258-373A799316C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Squared magnitude, line by line</a:t>
            </a:r>
          </a:p>
        </p:txBody>
      </p:sp>
      <p:sp>
        <p:nvSpPr>
          <p:cNvPr id="4" name="">
            <a:extLst xmlns:a="http://schemas.openxmlformats.org/drawingml/2006/main">
              <a:ext uri="{FF2B5EF4-FFF2-40B4-BE49-F238E27FC236}">
                <a16:creationId xmlns:a16="http://schemas.microsoft.com/office/drawing/2014/main" id="{7AA13288-B2CE-40E4-A15D-DE7B61343E43}"/>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z = (a − ib)(a + ib)</a:t>
            </a:r>
          </a:p>
        </p:txBody>
      </p:sp>
      <p:sp>
        <p:nvSpPr>
          <p:cNvPr id="5" name="">
            <a:extLst xmlns:a="http://schemas.openxmlformats.org/drawingml/2006/main">
              <a:ext uri="{FF2B5EF4-FFF2-40B4-BE49-F238E27FC236}">
                <a16:creationId xmlns:a16="http://schemas.microsoft.com/office/drawing/2014/main" id="{8B4249F7-3195-433A-9A76-ABD5EB25798F}"/>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       = a² + iab − iab − i²b²</a:t>
            </a:r>
          </a:p>
        </p:txBody>
      </p:sp>
      <p:sp>
        <p:nvSpPr>
          <p:cNvPr id="6" name="">
            <a:extLst xmlns:a="http://schemas.openxmlformats.org/drawingml/2006/main">
              <a:ext uri="{FF2B5EF4-FFF2-40B4-BE49-F238E27FC236}">
                <a16:creationId xmlns:a16="http://schemas.microsoft.com/office/drawing/2014/main" id="{E8DA3739-F3F0-414A-987C-FD8D562CCC16}"/>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       = a² + b² = |z|²</a:t>
            </a:r>
          </a:p>
        </p:txBody>
      </p:sp>
      <p:sp>
        <p:nvSpPr>
          <p:cNvPr id="7" name="">
            <a:extLst xmlns:a="http://schemas.openxmlformats.org/drawingml/2006/main">
              <a:ext uri="{FF2B5EF4-FFF2-40B4-BE49-F238E27FC236}">
                <a16:creationId xmlns:a16="http://schemas.microsoft.com/office/drawing/2014/main" id="{48BD6A73-7EBB-4A31-BA29-F515B622D0E5}"/>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cross terms cancel. Since i² = −1, the last term is +b².</a:t>
            </a:r>
          </a:p>
        </p:txBody>
      </p:sp>
      <p:sp>
        <p:nvSpPr>
          <p:cNvPr id="8" name="">
            <a:extLst xmlns:a="http://schemas.openxmlformats.org/drawingml/2006/main">
              <a:ext uri="{FF2B5EF4-FFF2-40B4-BE49-F238E27FC236}">
                <a16:creationId xmlns:a16="http://schemas.microsoft.com/office/drawing/2014/main" id="{70C9F600-4A69-4414-9956-48364A41C9F8}"/>
              </a:ext>
            </a:extLst>
          </p:cNvPr>
          <p:cNvSpPr>
            <a:spLocks xmlns:a="http://schemas.openxmlformats.org/drawingml/2006/main" noGrp="1"/>
          </p:cNvSpPr>
          <p:nvPr/>
        </p:nvSpPr>
        <p:spPr>
          <a:xfrm xmlns:a="http://schemas.openxmlformats.org/drawingml/2006/main">
            <a:off x="609600" y="4610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result is real and nonnegative.</a:t>
            </a:r>
          </a:p>
        </p:txBody>
      </p:sp>
      <p:sp>
        <p:nvSpPr>
          <p:cNvPr id="9" name="">
            <a:extLst xmlns:a="http://schemas.openxmlformats.org/drawingml/2006/main">
              <a:ext uri="{FF2B5EF4-FFF2-40B4-BE49-F238E27FC236}">
                <a16:creationId xmlns:a16="http://schemas.microsoft.com/office/drawing/2014/main" id="{79F8FB2A-7389-4057-BEDE-93E222F3DC2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06 / 24</a:t>
            </a:r>
          </a:p>
        </p:txBody>
      </p:sp>
    </p:spTree>
    <p:extLst>
      <p:ext uri="{BB962C8B-B14F-4D97-AF65-F5344CB8AC3E}">
        <p14:creationId xmlns:p14="http://schemas.microsoft.com/office/powerpoint/2010/main" val="159444005"/>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476C6A6-EE1F-43CA-8CDD-12F972155393}"/>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B3D1A67E-06D6-4B52-827F-201302D70F48}"/>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Amplitude and probability</a:t>
            </a:r>
          </a:p>
        </p:txBody>
      </p:sp>
      <p:sp>
        <p:nvSpPr>
          <p:cNvPr id="4" name="">
            <a:extLst xmlns:a="http://schemas.openxmlformats.org/drawingml/2006/main">
              <a:ext uri="{FF2B5EF4-FFF2-40B4-BE49-F238E27FC236}">
                <a16:creationId xmlns:a16="http://schemas.microsoft.com/office/drawing/2014/main" id="{39A247E5-D25E-4DE4-8E9B-269CBB7D3E65}"/>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p₀ = |α|²       p₁ = |β|²</a:t>
            </a:r>
          </a:p>
        </p:txBody>
      </p:sp>
      <p:sp>
        <p:nvSpPr>
          <p:cNvPr id="5" name="">
            <a:extLst xmlns:a="http://schemas.openxmlformats.org/drawingml/2006/main">
              <a:ext uri="{FF2B5EF4-FFF2-40B4-BE49-F238E27FC236}">
                <a16:creationId xmlns:a16="http://schemas.microsoft.com/office/drawing/2014/main" id="{0BDCC3C4-FE9E-4ACA-93DA-30372DA9C7C8}"/>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|α|² + |β|² = 1</a:t>
            </a:r>
          </a:p>
        </p:txBody>
      </p:sp>
      <p:sp>
        <p:nvSpPr>
          <p:cNvPr id="6" name="">
            <a:extLst xmlns:a="http://schemas.openxmlformats.org/drawingml/2006/main">
              <a:ext uri="{FF2B5EF4-FFF2-40B4-BE49-F238E27FC236}">
                <a16:creationId xmlns:a16="http://schemas.microsoft.com/office/drawing/2014/main" id="{EF07306A-F16A-475E-9D4F-9D3B188AC8B0}"/>
              </a:ext>
            </a:extLst>
          </p:cNvPr>
          <p:cNvSpPr>
            <a:spLocks xmlns:a="http://schemas.openxmlformats.org/drawingml/2006/main" noGrp="1"/>
          </p:cNvSpPr>
          <p:nvPr/>
        </p:nvSpPr>
        <p:spPr>
          <a:xfrm xmlns:a="http://schemas.openxmlformats.org/drawingml/2006/main">
            <a:off x="609600" y="3352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normalized qubit state has amplitudes α and β for outcomes 0 and 1.</a:t>
            </a:r>
          </a:p>
        </p:txBody>
      </p:sp>
      <p:sp>
        <p:nvSpPr>
          <p:cNvPr id="7" name="">
            <a:extLst xmlns:a="http://schemas.openxmlformats.org/drawingml/2006/main">
              <a:ext uri="{FF2B5EF4-FFF2-40B4-BE49-F238E27FC236}">
                <a16:creationId xmlns:a16="http://schemas.microsoft.com/office/drawing/2014/main" id="{4B352ECE-9395-4B36-B2A6-7C458E52DDEC}"/>
              </a:ext>
            </a:extLst>
          </p:cNvPr>
          <p:cNvSpPr>
            <a:spLocks xmlns:a="http://schemas.openxmlformats.org/drawingml/2006/main" noGrp="1"/>
          </p:cNvSpPr>
          <p:nvPr/>
        </p:nvSpPr>
        <p:spPr>
          <a:xfrm xmlns:a="http://schemas.openxmlformats.org/drawingml/2006/main">
            <a:off x="609600" y="4019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An arbitrary complex number need not be a valid normalized amplitude.</a:t>
            </a:r>
          </a:p>
        </p:txBody>
      </p:sp>
      <p:sp>
        <p:nvSpPr>
          <p:cNvPr id="8" name="">
            <a:extLst xmlns:a="http://schemas.openxmlformats.org/drawingml/2006/main">
              <a:ext uri="{FF2B5EF4-FFF2-40B4-BE49-F238E27FC236}">
                <a16:creationId xmlns:a16="http://schemas.microsoft.com/office/drawing/2014/main" id="{44F7D759-4434-45B8-A3D6-4A93EC7BE42C}"/>
              </a:ext>
            </a:extLst>
          </p:cNvPr>
          <p:cNvSpPr>
            <a:spLocks xmlns:a="http://schemas.openxmlformats.org/drawingml/2006/main" noGrp="1"/>
          </p:cNvSpPr>
          <p:nvPr/>
        </p:nvSpPr>
        <p:spPr>
          <a:xfrm xmlns:a="http://schemas.openxmlformats.org/drawingml/2006/main">
            <a:off x="609600" y="46863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Example: |3 + 4i|² = 25, so this alone cannot be a probability.</a:t>
            </a:r>
          </a:p>
        </p:txBody>
      </p:sp>
      <p:sp>
        <p:nvSpPr>
          <p:cNvPr id="9" name="">
            <a:extLst xmlns:a="http://schemas.openxmlformats.org/drawingml/2006/main">
              <a:ext uri="{FF2B5EF4-FFF2-40B4-BE49-F238E27FC236}">
                <a16:creationId xmlns:a16="http://schemas.microsoft.com/office/drawing/2014/main" id="{01D62CAA-996B-41EA-8C2C-98E60805042C}"/>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07 / 24</a:t>
            </a:r>
          </a:p>
        </p:txBody>
      </p:sp>
    </p:spTree>
    <p:extLst>
      <p:ext uri="{BB962C8B-B14F-4D97-AF65-F5344CB8AC3E}">
        <p14:creationId xmlns:p14="http://schemas.microsoft.com/office/powerpoint/2010/main" val="1935262097"/>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3375FD-B3EE-4CA9-B1E7-55DF7EABAAD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65936F89-A3A8-4D5A-9090-3D774BFEFB65}"/>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 complex square is different</a:t>
            </a:r>
          </a:p>
        </p:txBody>
      </p:sp>
      <p:sp>
        <p:nvSpPr>
          <p:cNvPr id="4" name="">
            <a:extLst xmlns:a="http://schemas.openxmlformats.org/drawingml/2006/main">
              <a:ext uri="{FF2B5EF4-FFF2-40B4-BE49-F238E27FC236}">
                <a16:creationId xmlns:a16="http://schemas.microsoft.com/office/drawing/2014/main" id="{D6B465AE-E58A-4F52-97AF-3238A0A4D95E}"/>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(1 + i)/2</a:t>
            </a:r>
          </a:p>
        </p:txBody>
      </p:sp>
      <p:sp>
        <p:nvSpPr>
          <p:cNvPr id="5" name="">
            <a:extLst xmlns:a="http://schemas.openxmlformats.org/drawingml/2006/main">
              <a:ext uri="{FF2B5EF4-FFF2-40B4-BE49-F238E27FC236}">
                <a16:creationId xmlns:a16="http://schemas.microsoft.com/office/drawing/2014/main" id="{8B16901A-950D-4D09-8DE0-7DA3C8360E58}"/>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z² = i/2</a:t>
            </a:r>
          </a:p>
        </p:txBody>
      </p:sp>
      <p:sp>
        <p:nvSpPr>
          <p:cNvPr id="6" name="">
            <a:extLst xmlns:a="http://schemas.openxmlformats.org/drawingml/2006/main">
              <a:ext uri="{FF2B5EF4-FFF2-40B4-BE49-F238E27FC236}">
                <a16:creationId xmlns:a16="http://schemas.microsoft.com/office/drawing/2014/main" id="{F8913062-A5EF-462D-92D9-BD1AF432230F}"/>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|z|² = (1² + 1²)/4 = 1/2</a:t>
            </a:r>
          </a:p>
        </p:txBody>
      </p:sp>
      <p:sp>
        <p:nvSpPr>
          <p:cNvPr id="7" name="">
            <a:extLst xmlns:a="http://schemas.openxmlformats.org/drawingml/2006/main">
              <a:ext uri="{FF2B5EF4-FFF2-40B4-BE49-F238E27FC236}">
                <a16:creationId xmlns:a16="http://schemas.microsoft.com/office/drawing/2014/main" id="{87F6D0A9-0218-4FD8-9462-423A36D79EFE}"/>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z² multiplies z by itself. |z|² multiplies z* by z.</a:t>
            </a:r>
          </a:p>
        </p:txBody>
      </p:sp>
      <p:sp>
        <p:nvSpPr>
          <p:cNvPr id="8" name="">
            <a:extLst xmlns:a="http://schemas.openxmlformats.org/drawingml/2006/main">
              <a:ext uri="{FF2B5EF4-FFF2-40B4-BE49-F238E27FC236}">
                <a16:creationId xmlns:a16="http://schemas.microsoft.com/office/drawing/2014/main" id="{9D93FEB3-5DD0-4F9D-9AE8-51F46FCF0A17}"/>
              </a:ext>
            </a:extLst>
          </p:cNvPr>
          <p:cNvSpPr>
            <a:spLocks xmlns:a="http://schemas.openxmlformats.org/drawingml/2006/main" noGrp="1"/>
          </p:cNvSpPr>
          <p:nvPr/>
        </p:nvSpPr>
        <p:spPr>
          <a:xfrm xmlns:a="http://schemas.openxmlformats.org/drawingml/2006/main">
            <a:off x="609600" y="4610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probability contribution is 1/2, a real number.</a:t>
            </a:r>
          </a:p>
        </p:txBody>
      </p:sp>
      <p:sp>
        <p:nvSpPr>
          <p:cNvPr id="9" name="">
            <a:extLst xmlns:a="http://schemas.openxmlformats.org/drawingml/2006/main">
              <a:ext uri="{FF2B5EF4-FFF2-40B4-BE49-F238E27FC236}">
                <a16:creationId xmlns:a16="http://schemas.microsoft.com/office/drawing/2014/main" id="{8E09051B-92D4-45A5-9FB8-0D1F29028CF4}"/>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08 / 24</a:t>
            </a:r>
          </a:p>
        </p:txBody>
      </p:sp>
    </p:spTree>
    <p:extLst>
      <p:ext uri="{BB962C8B-B14F-4D97-AF65-F5344CB8AC3E}">
        <p14:creationId xmlns:p14="http://schemas.microsoft.com/office/powerpoint/2010/main" val="483993547"/>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D13B42-1A68-4433-9C4A-AE61DC46D3E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042F4DEA-049B-4939-B8AB-555AB599EA7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Polar coordinates and radians</a:t>
            </a:r>
          </a:p>
        </p:txBody>
      </p:sp>
      <p:sp>
        <p:nvSpPr>
          <p:cNvPr id="4" name="">
            <a:extLst xmlns:a="http://schemas.openxmlformats.org/drawingml/2006/main">
              <a:ext uri="{FF2B5EF4-FFF2-40B4-BE49-F238E27FC236}">
                <a16:creationId xmlns:a16="http://schemas.microsoft.com/office/drawing/2014/main" id="{6F819ECC-DA58-440E-B51C-B467875B4EA4}"/>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r(cos φ + i sin φ)</a:t>
            </a:r>
          </a:p>
        </p:txBody>
      </p:sp>
      <p:sp>
        <p:nvSpPr>
          <p:cNvPr id="5" name="">
            <a:extLst xmlns:a="http://schemas.openxmlformats.org/drawingml/2006/main">
              <a:ext uri="{FF2B5EF4-FFF2-40B4-BE49-F238E27FC236}">
                <a16:creationId xmlns:a16="http://schemas.microsoft.com/office/drawing/2014/main" id="{612548B4-1E1D-4C8F-8ED0-8F1425A353B9}"/>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r = |z|       φ = atan2(b, a)</a:t>
            </a:r>
          </a:p>
        </p:txBody>
      </p:sp>
      <p:sp>
        <p:nvSpPr>
          <p:cNvPr id="6" name="">
            <a:extLst xmlns:a="http://schemas.openxmlformats.org/drawingml/2006/main">
              <a:ext uri="{FF2B5EF4-FFF2-40B4-BE49-F238E27FC236}">
                <a16:creationId xmlns:a16="http://schemas.microsoft.com/office/drawing/2014/main" id="{0C7CD485-8DFD-4CC1-BBDE-E5D1D80DE7D9}"/>
              </a:ext>
            </a:extLst>
          </p:cNvPr>
          <p:cNvSpPr>
            <a:spLocks xmlns:a="http://schemas.openxmlformats.org/drawingml/2006/main" noGrp="1"/>
          </p:cNvSpPr>
          <p:nvPr/>
        </p:nvSpPr>
        <p:spPr>
          <a:xfrm xmlns:a="http://schemas.openxmlformats.org/drawingml/2006/main">
            <a:off x="609600" y="3352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r is the distance from the origin. φ is the phase angle.</a:t>
            </a:r>
          </a:p>
        </p:txBody>
      </p:sp>
      <p:sp>
        <p:nvSpPr>
          <p:cNvPr id="7" name="">
            <a:extLst xmlns:a="http://schemas.openxmlformats.org/drawingml/2006/main">
              <a:ext uri="{FF2B5EF4-FFF2-40B4-BE49-F238E27FC236}">
                <a16:creationId xmlns:a16="http://schemas.microsoft.com/office/drawing/2014/main" id="{7E76414F-2EED-41B7-8961-42F547A9D2FA}"/>
              </a:ext>
            </a:extLst>
          </p:cNvPr>
          <p:cNvSpPr>
            <a:spLocks xmlns:a="http://schemas.openxmlformats.org/drawingml/2006/main" noGrp="1"/>
          </p:cNvSpPr>
          <p:nvPr/>
        </p:nvSpPr>
        <p:spPr>
          <a:xfrm xmlns:a="http://schemas.openxmlformats.org/drawingml/2006/main">
            <a:off x="609600" y="4019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π radians = 180°. A full turn is 2π radians.</a:t>
            </a:r>
          </a:p>
        </p:txBody>
      </p:sp>
      <p:sp>
        <p:nvSpPr>
          <p:cNvPr id="8" name="">
            <a:extLst xmlns:a="http://schemas.openxmlformats.org/drawingml/2006/main">
              <a:ext uri="{FF2B5EF4-FFF2-40B4-BE49-F238E27FC236}">
                <a16:creationId xmlns:a16="http://schemas.microsoft.com/office/drawing/2014/main" id="{DA48E819-8250-4519-8E84-20A00F429CEA}"/>
              </a:ext>
            </a:extLst>
          </p:cNvPr>
          <p:cNvSpPr>
            <a:spLocks xmlns:a="http://schemas.openxmlformats.org/drawingml/2006/main" noGrp="1"/>
          </p:cNvSpPr>
          <p:nvPr/>
        </p:nvSpPr>
        <p:spPr>
          <a:xfrm xmlns:a="http://schemas.openxmlformats.org/drawingml/2006/main">
            <a:off x="609600" y="46863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phase of zero is undefined. atan2 preserves the quadrant.</a:t>
            </a:r>
          </a:p>
        </p:txBody>
      </p:sp>
      <p:sp>
        <p:nvSpPr>
          <p:cNvPr id="9" name="">
            <a:extLst xmlns:a="http://schemas.openxmlformats.org/drawingml/2006/main">
              <a:ext uri="{FF2B5EF4-FFF2-40B4-BE49-F238E27FC236}">
                <a16:creationId xmlns:a16="http://schemas.microsoft.com/office/drawing/2014/main" id="{CDD9CAB2-4811-4CB5-9D13-D0D18391ED2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09 / 24</a:t>
            </a:r>
          </a:p>
        </p:txBody>
      </p:sp>
    </p:spTree>
    <p:extLst>
      <p:ext uri="{BB962C8B-B14F-4D97-AF65-F5344CB8AC3E}">
        <p14:creationId xmlns:p14="http://schemas.microsoft.com/office/powerpoint/2010/main" val="984637865"/>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86A96B-53BF-40E9-88FA-3C3421B775D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90C76542-13A7-4EC8-B839-E8D3D47A8D8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Unit magnitude and phase</a:t>
            </a:r>
          </a:p>
        </p:txBody>
      </p:sp>
      <p:pic>
        <p:nvPicPr>
          <p:cNvPr id="4" name="">
            <a:extLst xmlns:a="http://schemas.openxmlformats.org/drawingml/2006/main">
              <a:ext uri="{FF2B5EF4-FFF2-40B4-BE49-F238E27FC236}">
                <a16:creationId xmlns:a16="http://schemas.microsoft.com/office/drawing/2014/main" id="{A31A9478-A832-43B6-9015-2A4EB5F47FBC}"/>
              </a:ext>
            </a:extLst>
          </p:cNvPr>
          <p:cNvPicPr>
            <a:picLocks xmlns:a="http://schemas.openxmlformats.org/drawingml/2006/main" noChangeAspect="1"/>
          </p:cNvPicPr>
          <p:nvPr/>
        </p:nvPicPr>
        <p:blipFill>
          <a:blip xmlns:r="http://schemas.openxmlformats.org/officeDocument/2006/relationships" xmlns:a="http://schemas.openxmlformats.org/drawingml/2006/main" r:embed="Rd2901be0f2f94f3c"/>
          <a:stretch xmlns:a="http://schemas.openxmlformats.org/drawingml/2006/main"/>
        </p:blipFill>
        <p:spPr>
          <a:xfrm xmlns:a="http://schemas.openxmlformats.org/drawingml/2006/main">
            <a:off x="1674896" y="1619250"/>
            <a:ext cx="4632158"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17903A-94C2-4850-9D5E-3C836E86D382}"/>
              </a:ext>
            </a:extLst>
          </p:cNvPr>
          <p:cNvSpPr>
            <a:spLocks xmlns:a="http://schemas.openxmlformats.org/drawingml/2006/main" noGrp="1"/>
          </p:cNvSpPr>
          <p:nvPr/>
        </p:nvSpPr>
        <p:spPr>
          <a:xfrm xmlns:a="http://schemas.openxmlformats.org/drawingml/2006/main">
            <a:off x="7810500" y="1809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r = 1 on the unit circle.</a:t>
            </a:r>
          </a:p>
        </p:txBody>
      </p:sp>
      <p:sp>
        <p:nvSpPr>
          <p:cNvPr id="6" name="">
            <a:extLst xmlns:a="http://schemas.openxmlformats.org/drawingml/2006/main">
              <a:ext uri="{FF2B5EF4-FFF2-40B4-BE49-F238E27FC236}">
                <a16:creationId xmlns:a16="http://schemas.microsoft.com/office/drawing/2014/main" id="{96E1BDA5-528D-41DA-A1F8-213EA179398C}"/>
              </a:ext>
            </a:extLst>
          </p:cNvPr>
          <p:cNvSpPr>
            <a:spLocks xmlns:a="http://schemas.openxmlformats.org/drawingml/2006/main" noGrp="1"/>
          </p:cNvSpPr>
          <p:nvPr/>
        </p:nvSpPr>
        <p:spPr>
          <a:xfrm xmlns:a="http://schemas.openxmlformats.org/drawingml/2006/main">
            <a:off x="7810500" y="27622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φ = 0 gives 1.</a:t>
            </a:r>
          </a:p>
        </p:txBody>
      </p:sp>
      <p:sp>
        <p:nvSpPr>
          <p:cNvPr id="7" name="">
            <a:extLst xmlns:a="http://schemas.openxmlformats.org/drawingml/2006/main">
              <a:ext uri="{FF2B5EF4-FFF2-40B4-BE49-F238E27FC236}">
                <a16:creationId xmlns:a16="http://schemas.microsoft.com/office/drawing/2014/main" id="{DA71EFF1-FFCA-493C-86FB-3C198A4E267E}"/>
              </a:ext>
            </a:extLst>
          </p:cNvPr>
          <p:cNvSpPr>
            <a:spLocks xmlns:a="http://schemas.openxmlformats.org/drawingml/2006/main" noGrp="1"/>
          </p:cNvSpPr>
          <p:nvPr/>
        </p:nvSpPr>
        <p:spPr>
          <a:xfrm xmlns:a="http://schemas.openxmlformats.org/drawingml/2006/main">
            <a:off x="7810500" y="3714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φ = π/2 gives i.</a:t>
            </a:r>
          </a:p>
        </p:txBody>
      </p:sp>
      <p:sp>
        <p:nvSpPr>
          <p:cNvPr id="8" name="">
            <a:extLst xmlns:a="http://schemas.openxmlformats.org/drawingml/2006/main">
              <a:ext uri="{FF2B5EF4-FFF2-40B4-BE49-F238E27FC236}">
                <a16:creationId xmlns:a16="http://schemas.microsoft.com/office/drawing/2014/main" id="{41C10003-68F4-462D-B564-37A74A1C96CE}"/>
              </a:ext>
            </a:extLst>
          </p:cNvPr>
          <p:cNvSpPr>
            <a:spLocks xmlns:a="http://schemas.openxmlformats.org/drawingml/2006/main" noGrp="1"/>
          </p:cNvSpPr>
          <p:nvPr/>
        </p:nvSpPr>
        <p:spPr>
          <a:xfrm xmlns:a="http://schemas.openxmlformats.org/drawingml/2006/main">
            <a:off x="7810500" y="46672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φ = π gives −1.</a:t>
            </a:r>
          </a:p>
        </p:txBody>
      </p:sp>
      <p:sp>
        <p:nvSpPr>
          <p:cNvPr id="9" name="">
            <a:extLst xmlns:a="http://schemas.openxmlformats.org/drawingml/2006/main">
              <a:ext uri="{FF2B5EF4-FFF2-40B4-BE49-F238E27FC236}">
                <a16:creationId xmlns:a16="http://schemas.microsoft.com/office/drawing/2014/main" id="{28C53235-1488-49B2-98BB-98CED8262B28}"/>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10 / 24</a:t>
            </a:r>
          </a:p>
        </p:txBody>
      </p:sp>
    </p:spTree>
    <p:extLst>
      <p:ext uri="{BB962C8B-B14F-4D97-AF65-F5344CB8AC3E}">
        <p14:creationId xmlns:p14="http://schemas.microsoft.com/office/powerpoint/2010/main" val="40298824"/>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A0CFBD-4215-455E-A84B-5DA641EE1FA5}"/>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91C47B0B-6E31-4BCE-A4C0-62709917078D}"/>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Euler’s identity and polar form</a:t>
            </a:r>
          </a:p>
        </p:txBody>
      </p:sp>
      <p:sp>
        <p:nvSpPr>
          <p:cNvPr id="4" name="">
            <a:extLst xmlns:a="http://schemas.openxmlformats.org/drawingml/2006/main">
              <a:ext uri="{FF2B5EF4-FFF2-40B4-BE49-F238E27FC236}">
                <a16:creationId xmlns:a16="http://schemas.microsoft.com/office/drawing/2014/main" id="{65B2DC3D-0A1B-4578-A1C3-55019FEE31F0}"/>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e^(iφ) = cos φ + i sin φ</a:t>
            </a:r>
          </a:p>
        </p:txBody>
      </p:sp>
      <p:sp>
        <p:nvSpPr>
          <p:cNvPr id="5" name="">
            <a:extLst xmlns:a="http://schemas.openxmlformats.org/drawingml/2006/main">
              <a:ext uri="{FF2B5EF4-FFF2-40B4-BE49-F238E27FC236}">
                <a16:creationId xmlns:a16="http://schemas.microsoft.com/office/drawing/2014/main" id="{E14B46E0-BA83-4FCA-BC2B-DEE308F2F95C}"/>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r e^(iφ)</a:t>
            </a:r>
          </a:p>
        </p:txBody>
      </p:sp>
      <p:sp>
        <p:nvSpPr>
          <p:cNvPr id="6" name="">
            <a:extLst xmlns:a="http://schemas.openxmlformats.org/drawingml/2006/main">
              <a:ext uri="{FF2B5EF4-FFF2-40B4-BE49-F238E27FC236}">
                <a16:creationId xmlns:a16="http://schemas.microsoft.com/office/drawing/2014/main" id="{841E8839-294B-4807-9179-7F8DDC166121}"/>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|e^(iφ)|² = cos²φ + sin²φ = 1</a:t>
            </a:r>
          </a:p>
        </p:txBody>
      </p:sp>
      <p:sp>
        <p:nvSpPr>
          <p:cNvPr id="7" name="">
            <a:extLst xmlns:a="http://schemas.openxmlformats.org/drawingml/2006/main">
              <a:ext uri="{FF2B5EF4-FFF2-40B4-BE49-F238E27FC236}">
                <a16:creationId xmlns:a16="http://schemas.microsoft.com/office/drawing/2014/main" id="{1B8D9586-E3F7-4ADB-AB1E-529A97702BFD}"/>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exponential is a compact way to write the same complex number.</a:t>
            </a:r>
          </a:p>
        </p:txBody>
      </p:sp>
      <p:sp>
        <p:nvSpPr>
          <p:cNvPr id="8" name="">
            <a:extLst xmlns:a="http://schemas.openxmlformats.org/drawingml/2006/main">
              <a:ext uri="{FF2B5EF4-FFF2-40B4-BE49-F238E27FC236}">
                <a16:creationId xmlns:a16="http://schemas.microsoft.com/office/drawing/2014/main" id="{449D574F-7E7D-469E-BD8C-EB86699A68D1}"/>
              </a:ext>
            </a:extLst>
          </p:cNvPr>
          <p:cNvSpPr>
            <a:spLocks xmlns:a="http://schemas.openxmlformats.org/drawingml/2006/main" noGrp="1"/>
          </p:cNvSpPr>
          <p:nvPr/>
        </p:nvSpPr>
        <p:spPr>
          <a:xfrm xmlns:a="http://schemas.openxmlformats.org/drawingml/2006/main">
            <a:off x="609600" y="4610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At φ = π: e^(iπ) = −1, hence e^(iπ) + 1 = 0.</a:t>
            </a:r>
          </a:p>
        </p:txBody>
      </p:sp>
      <p:sp>
        <p:nvSpPr>
          <p:cNvPr id="9" name="">
            <a:extLst xmlns:a="http://schemas.openxmlformats.org/drawingml/2006/main">
              <a:ext uri="{FF2B5EF4-FFF2-40B4-BE49-F238E27FC236}">
                <a16:creationId xmlns:a16="http://schemas.microsoft.com/office/drawing/2014/main" id="{FC64105A-AE69-4EEB-85B4-85C1DB12CF8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11 / 24</a:t>
            </a:r>
          </a:p>
        </p:txBody>
      </p:sp>
    </p:spTree>
    <p:extLst>
      <p:ext uri="{BB962C8B-B14F-4D97-AF65-F5344CB8AC3E}">
        <p14:creationId xmlns:p14="http://schemas.microsoft.com/office/powerpoint/2010/main" val="1324476395"/>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30F712-DFFE-483E-AC66-D72FF71D0452}"/>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FC8178D3-9C30-4F30-8067-B90ADAAF9A8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Multiplication adds phase</a:t>
            </a:r>
          </a:p>
        </p:txBody>
      </p:sp>
      <p:sp>
        <p:nvSpPr>
          <p:cNvPr id="4" name="">
            <a:extLst xmlns:a="http://schemas.openxmlformats.org/drawingml/2006/main">
              <a:ext uri="{FF2B5EF4-FFF2-40B4-BE49-F238E27FC236}">
                <a16:creationId xmlns:a16="http://schemas.microsoft.com/office/drawing/2014/main" id="{FEBE0129-9959-46F4-BF39-ABDA07FE84AC}"/>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z₁z₂ = r₁r₂ e^(i(φ₁ + φ₂))</a:t>
            </a:r>
          </a:p>
        </p:txBody>
      </p:sp>
      <p:sp>
        <p:nvSpPr>
          <p:cNvPr id="5" name="">
            <a:extLst xmlns:a="http://schemas.openxmlformats.org/drawingml/2006/main">
              <a:ext uri="{FF2B5EF4-FFF2-40B4-BE49-F238E27FC236}">
                <a16:creationId xmlns:a16="http://schemas.microsoft.com/office/drawing/2014/main" id="{F4E505FB-40DB-4794-8DF0-EA0F87BD5F43}"/>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(r e^(iφ))* = r e^(−iφ)</a:t>
            </a:r>
          </a:p>
        </p:txBody>
      </p:sp>
      <p:sp>
        <p:nvSpPr>
          <p:cNvPr id="6" name="">
            <a:extLst xmlns:a="http://schemas.openxmlformats.org/drawingml/2006/main">
              <a:ext uri="{FF2B5EF4-FFF2-40B4-BE49-F238E27FC236}">
                <a16:creationId xmlns:a16="http://schemas.microsoft.com/office/drawing/2014/main" id="{6FBE5982-7280-4410-A634-63423FE182B2}"/>
              </a:ext>
            </a:extLst>
          </p:cNvPr>
          <p:cNvSpPr>
            <a:spLocks xmlns:a="http://schemas.openxmlformats.org/drawingml/2006/main" noGrp="1"/>
          </p:cNvSpPr>
          <p:nvPr/>
        </p:nvSpPr>
        <p:spPr>
          <a:xfrm xmlns:a="http://schemas.openxmlformats.org/drawingml/2006/main">
            <a:off x="609600" y="3352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Multiplication multiplies magnitudes and adds phases.</a:t>
            </a:r>
          </a:p>
        </p:txBody>
      </p:sp>
      <p:sp>
        <p:nvSpPr>
          <p:cNvPr id="7" name="">
            <a:extLst xmlns:a="http://schemas.openxmlformats.org/drawingml/2006/main">
              <a:ext uri="{FF2B5EF4-FFF2-40B4-BE49-F238E27FC236}">
                <a16:creationId xmlns:a16="http://schemas.microsoft.com/office/drawing/2014/main" id="{04AD9BFE-FC12-4E64-970E-1F6E1796989A}"/>
              </a:ext>
            </a:extLst>
          </p:cNvPr>
          <p:cNvSpPr>
            <a:spLocks xmlns:a="http://schemas.openxmlformats.org/drawingml/2006/main" noGrp="1"/>
          </p:cNvSpPr>
          <p:nvPr/>
        </p:nvSpPr>
        <p:spPr>
          <a:xfrm xmlns:a="http://schemas.openxmlformats.org/drawingml/2006/main">
            <a:off x="609600" y="40195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Conjugation reverses phase while preserving magnitude.</a:t>
            </a:r>
          </a:p>
        </p:txBody>
      </p:sp>
      <p:sp>
        <p:nvSpPr>
          <p:cNvPr id="8" name="">
            <a:extLst xmlns:a="http://schemas.openxmlformats.org/drawingml/2006/main">
              <a:ext uri="{FF2B5EF4-FFF2-40B4-BE49-F238E27FC236}">
                <a16:creationId xmlns:a16="http://schemas.microsoft.com/office/drawing/2014/main" id="{62FA7E50-FCFA-4EEE-B7BF-DC6429EECD38}"/>
              </a:ext>
            </a:extLst>
          </p:cNvPr>
          <p:cNvSpPr>
            <a:spLocks xmlns:a="http://schemas.openxmlformats.org/drawingml/2006/main" noGrp="1"/>
          </p:cNvSpPr>
          <p:nvPr/>
        </p:nvSpPr>
        <p:spPr>
          <a:xfrm xmlns:a="http://schemas.openxmlformats.org/drawingml/2006/main">
            <a:off x="609600" y="46863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Example: (2i)(−i) = 2, with phase π/2 − π/2 = 0.</a:t>
            </a:r>
          </a:p>
        </p:txBody>
      </p:sp>
      <p:sp>
        <p:nvSpPr>
          <p:cNvPr id="9" name="">
            <a:extLst xmlns:a="http://schemas.openxmlformats.org/drawingml/2006/main">
              <a:ext uri="{FF2B5EF4-FFF2-40B4-BE49-F238E27FC236}">
                <a16:creationId xmlns:a16="http://schemas.microsoft.com/office/drawing/2014/main" id="{8D025AD7-2853-4F2F-A72C-02343BE45E6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12 / 24</a:t>
            </a:r>
          </a:p>
        </p:txBody>
      </p:sp>
    </p:spTree>
    <p:extLst>
      <p:ext uri="{BB962C8B-B14F-4D97-AF65-F5344CB8AC3E}">
        <p14:creationId xmlns:p14="http://schemas.microsoft.com/office/powerpoint/2010/main" val="2073150573"/>
      </p:ext>
    </p:extLst>
  </p:cSld>
</p:sld>
</file>

<file path=ppt/slides/slide1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24AA351-A3C5-4D3A-B203-8B4E161419B1}"/>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36514932-C49F-4504-A0DD-222B8F97F54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1 · Cartesian to polar</a:t>
            </a:r>
          </a:p>
        </p:txBody>
      </p:sp>
      <p:sp>
        <p:nvSpPr>
          <p:cNvPr id="4" name="">
            <a:extLst xmlns:a="http://schemas.openxmlformats.org/drawingml/2006/main">
              <a:ext uri="{FF2B5EF4-FFF2-40B4-BE49-F238E27FC236}">
                <a16:creationId xmlns:a16="http://schemas.microsoft.com/office/drawing/2014/main" id="{33885935-E2FD-49B8-AB31-A75901F270AB}"/>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3 + 4i</a:t>
            </a:r>
          </a:p>
        </p:txBody>
      </p:sp>
      <p:sp>
        <p:nvSpPr>
          <p:cNvPr id="5" name="">
            <a:extLst xmlns:a="http://schemas.openxmlformats.org/drawingml/2006/main">
              <a:ext uri="{FF2B5EF4-FFF2-40B4-BE49-F238E27FC236}">
                <a16:creationId xmlns:a16="http://schemas.microsoft.com/office/drawing/2014/main" id="{01A17081-BC47-4F49-9B11-AD81A80BA60B}"/>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r = √(3² + 4²) = 5</a:t>
            </a:r>
          </a:p>
        </p:txBody>
      </p:sp>
      <p:sp>
        <p:nvSpPr>
          <p:cNvPr id="6" name="">
            <a:extLst xmlns:a="http://schemas.openxmlformats.org/drawingml/2006/main">
              <a:ext uri="{FF2B5EF4-FFF2-40B4-BE49-F238E27FC236}">
                <a16:creationId xmlns:a16="http://schemas.microsoft.com/office/drawing/2014/main" id="{8006E553-2232-46EE-BBAB-5319F31389FA}"/>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φ = atan2(4, 3) ≈ 0.927295 rad</a:t>
            </a:r>
          </a:p>
        </p:txBody>
      </p:sp>
      <p:sp>
        <p:nvSpPr>
          <p:cNvPr id="7" name="">
            <a:extLst xmlns:a="http://schemas.openxmlformats.org/drawingml/2006/main">
              <a:ext uri="{FF2B5EF4-FFF2-40B4-BE49-F238E27FC236}">
                <a16:creationId xmlns:a16="http://schemas.microsoft.com/office/drawing/2014/main" id="{744552BF-AEB3-4895-95F1-AA5070B02785}"/>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z ≈ 5 e^(i × 0.927295)</a:t>
            </a:r>
          </a:p>
        </p:txBody>
      </p:sp>
      <p:sp>
        <p:nvSpPr>
          <p:cNvPr id="8" name="">
            <a:extLst xmlns:a="http://schemas.openxmlformats.org/drawingml/2006/main">
              <a:ext uri="{FF2B5EF4-FFF2-40B4-BE49-F238E27FC236}">
                <a16:creationId xmlns:a16="http://schemas.microsoft.com/office/drawing/2014/main" id="{0C0E0108-9FA0-47F8-8CF0-844A1DB4E6FE}"/>
              </a:ext>
            </a:extLst>
          </p:cNvPr>
          <p:cNvSpPr>
            <a:spLocks xmlns:a="http://schemas.openxmlformats.org/drawingml/2006/main" noGrp="1"/>
          </p:cNvSpPr>
          <p:nvPr/>
        </p:nvSpPr>
        <p:spPr>
          <a:xfrm xmlns:a="http://schemas.openxmlformats.org/drawingml/2006/main">
            <a:off x="609600" y="4533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angle is about 53.130°. The exponential uses radians.</a:t>
            </a:r>
          </a:p>
        </p:txBody>
      </p:sp>
      <p:sp>
        <p:nvSpPr>
          <p:cNvPr id="9" name="">
            <a:extLst xmlns:a="http://schemas.openxmlformats.org/drawingml/2006/main">
              <a:ext uri="{FF2B5EF4-FFF2-40B4-BE49-F238E27FC236}">
                <a16:creationId xmlns:a16="http://schemas.microsoft.com/office/drawing/2014/main" id="{99009914-8B5D-429F-8740-5F6BD551EBE2}"/>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13 / 24</a:t>
            </a:r>
          </a:p>
        </p:txBody>
      </p:sp>
    </p:spTree>
    <p:extLst>
      <p:ext uri="{BB962C8B-B14F-4D97-AF65-F5344CB8AC3E}">
        <p14:creationId xmlns:p14="http://schemas.microsoft.com/office/powerpoint/2010/main" val="158184824"/>
      </p:ext>
    </p:extLst>
  </p:cSld>
</p:sld>
</file>

<file path=ppt/slides/slide1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5046A50-1571-4B58-9EE8-DCD9787F825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DCD2DA6F-9C84-404D-B008-07FF53575BA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2 · A probability contribution</a:t>
            </a:r>
          </a:p>
        </p:txBody>
      </p:sp>
      <p:sp>
        <p:nvSpPr>
          <p:cNvPr id="4" name="">
            <a:extLst xmlns:a="http://schemas.openxmlformats.org/drawingml/2006/main">
              <a:ext uri="{FF2B5EF4-FFF2-40B4-BE49-F238E27FC236}">
                <a16:creationId xmlns:a16="http://schemas.microsoft.com/office/drawing/2014/main" id="{36057D3C-AF30-407D-A7FE-8082C495BF1D}"/>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(1 + i)/2</a:t>
            </a:r>
          </a:p>
        </p:txBody>
      </p:sp>
      <p:sp>
        <p:nvSpPr>
          <p:cNvPr id="5" name="">
            <a:extLst xmlns:a="http://schemas.openxmlformats.org/drawingml/2006/main">
              <a:ext uri="{FF2B5EF4-FFF2-40B4-BE49-F238E27FC236}">
                <a16:creationId xmlns:a16="http://schemas.microsoft.com/office/drawing/2014/main" id="{FB9CC02A-3FCD-4C84-AC8B-ED35D6CF41AB}"/>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(1 − i)/2</a:t>
            </a:r>
          </a:p>
        </p:txBody>
      </p:sp>
      <p:sp>
        <p:nvSpPr>
          <p:cNvPr id="6" name="">
            <a:extLst xmlns:a="http://schemas.openxmlformats.org/drawingml/2006/main">
              <a:ext uri="{FF2B5EF4-FFF2-40B4-BE49-F238E27FC236}">
                <a16:creationId xmlns:a16="http://schemas.microsoft.com/office/drawing/2014/main" id="{F8634955-6F69-4145-BBA9-C37B2CD402D4}"/>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|α|² = α*α = (1 + 1)/4 = 1/2</a:t>
            </a:r>
          </a:p>
        </p:txBody>
      </p:sp>
      <p:sp>
        <p:nvSpPr>
          <p:cNvPr id="7" name="">
            <a:extLst xmlns:a="http://schemas.openxmlformats.org/drawingml/2006/main">
              <a:ext uri="{FF2B5EF4-FFF2-40B4-BE49-F238E27FC236}">
                <a16:creationId xmlns:a16="http://schemas.microsoft.com/office/drawing/2014/main" id="{FD9729B0-0374-44F1-98A6-DDC71EB1DABE}"/>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1/√2</a:t>
            </a:r>
          </a:p>
        </p:txBody>
      </p:sp>
      <p:sp>
        <p:nvSpPr>
          <p:cNvPr id="8" name="">
            <a:extLst xmlns:a="http://schemas.openxmlformats.org/drawingml/2006/main">
              <a:ext uri="{FF2B5EF4-FFF2-40B4-BE49-F238E27FC236}">
                <a16:creationId xmlns:a16="http://schemas.microsoft.com/office/drawing/2014/main" id="{3E3FAA5B-7FBD-413E-9B1F-F96CA332129E}"/>
              </a:ext>
            </a:extLst>
          </p:cNvPr>
          <p:cNvSpPr>
            <a:spLocks xmlns:a="http://schemas.openxmlformats.org/drawingml/2006/main" noGrp="1"/>
          </p:cNvSpPr>
          <p:nvPr/>
        </p:nvSpPr>
        <p:spPr>
          <a:xfrm xmlns:a="http://schemas.openxmlformats.org/drawingml/2006/main">
            <a:off x="609600" y="4533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second amplitude with squared magnitude 1/2 completes normalization.</a:t>
            </a:r>
          </a:p>
        </p:txBody>
      </p:sp>
      <p:sp>
        <p:nvSpPr>
          <p:cNvPr id="9" name="">
            <a:extLst xmlns:a="http://schemas.openxmlformats.org/drawingml/2006/main">
              <a:ext uri="{FF2B5EF4-FFF2-40B4-BE49-F238E27FC236}">
                <a16:creationId xmlns:a16="http://schemas.microsoft.com/office/drawing/2014/main" id="{A957499F-8133-4F63-995E-11B740A1C331}"/>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14 / 24</a:t>
            </a:r>
          </a:p>
        </p:txBody>
      </p:sp>
    </p:spTree>
    <p:extLst>
      <p:ext uri="{BB962C8B-B14F-4D97-AF65-F5344CB8AC3E}">
        <p14:creationId xmlns:p14="http://schemas.microsoft.com/office/powerpoint/2010/main" val="1041253529"/>
      </p:ext>
    </p:extLst>
  </p:cSld>
</p:sld>
</file>

<file path=ppt/slides/slide1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971E19A-22BB-4E70-8A2C-109D314D963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BEC1DF88-0A33-42ED-B1C2-D5194514E8A9}"/>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Example 3 · Phase rotation</a:t>
            </a:r>
          </a:p>
        </p:txBody>
      </p:sp>
      <p:sp>
        <p:nvSpPr>
          <p:cNvPr id="4" name="">
            <a:extLst xmlns:a="http://schemas.openxmlformats.org/drawingml/2006/main">
              <a:ext uri="{FF2B5EF4-FFF2-40B4-BE49-F238E27FC236}">
                <a16:creationId xmlns:a16="http://schemas.microsoft.com/office/drawing/2014/main" id="{48C15AFE-EB88-48F1-83F7-9AEE86860D46}"/>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(1 + i)/2       φ = π/2</a:t>
            </a:r>
          </a:p>
        </p:txBody>
      </p:sp>
      <p:sp>
        <p:nvSpPr>
          <p:cNvPr id="5" name="">
            <a:extLst xmlns:a="http://schemas.openxmlformats.org/drawingml/2006/main">
              <a:ext uri="{FF2B5EF4-FFF2-40B4-BE49-F238E27FC236}">
                <a16:creationId xmlns:a16="http://schemas.microsoft.com/office/drawing/2014/main" id="{27DE04EE-6A73-4658-BFDD-280C8285A3ED}"/>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e^(iπ/2) α = i(1 + i)/2</a:t>
            </a:r>
          </a:p>
        </p:txBody>
      </p:sp>
      <p:sp>
        <p:nvSpPr>
          <p:cNvPr id="6" name="">
            <a:extLst xmlns:a="http://schemas.openxmlformats.org/drawingml/2006/main">
              <a:ext uri="{FF2B5EF4-FFF2-40B4-BE49-F238E27FC236}">
                <a16:creationId xmlns:a16="http://schemas.microsoft.com/office/drawing/2014/main" id="{9C12E5A8-CFF2-47C5-BEF7-5BD114215389}"/>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 = (−1 + i)/2</a:t>
            </a:r>
          </a:p>
        </p:txBody>
      </p:sp>
      <p:sp>
        <p:nvSpPr>
          <p:cNvPr id="7" name="">
            <a:extLst xmlns:a="http://schemas.openxmlformats.org/drawingml/2006/main">
              <a:ext uri="{FF2B5EF4-FFF2-40B4-BE49-F238E27FC236}">
                <a16:creationId xmlns:a16="http://schemas.microsoft.com/office/drawing/2014/main" id="{F7777A46-9280-4C0D-8100-36FB76E85311}"/>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|α′|² = 1/2 = |α|²</a:t>
            </a:r>
          </a:p>
        </p:txBody>
      </p:sp>
      <p:sp>
        <p:nvSpPr>
          <p:cNvPr id="8" name="">
            <a:extLst xmlns:a="http://schemas.openxmlformats.org/drawingml/2006/main">
              <a:ext uri="{FF2B5EF4-FFF2-40B4-BE49-F238E27FC236}">
                <a16:creationId xmlns:a16="http://schemas.microsoft.com/office/drawing/2014/main" id="{F4B0F293-FE91-4345-9A34-808C91FA78CA}"/>
              </a:ext>
            </a:extLst>
          </p:cNvPr>
          <p:cNvSpPr>
            <a:spLocks xmlns:a="http://schemas.openxmlformats.org/drawingml/2006/main" noGrp="1"/>
          </p:cNvSpPr>
          <p:nvPr/>
        </p:nvSpPr>
        <p:spPr>
          <a:xfrm xmlns:a="http://schemas.openxmlformats.org/drawingml/2006/main">
            <a:off x="609600" y="4533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Multiplying an amplitude by a unit phase preserves its squared magnitude.</a:t>
            </a:r>
          </a:p>
        </p:txBody>
      </p:sp>
      <p:sp>
        <p:nvSpPr>
          <p:cNvPr id="9" name="">
            <a:extLst xmlns:a="http://schemas.openxmlformats.org/drawingml/2006/main">
              <a:ext uri="{FF2B5EF4-FFF2-40B4-BE49-F238E27FC236}">
                <a16:creationId xmlns:a16="http://schemas.microsoft.com/office/drawing/2014/main" id="{C81B1181-7553-4802-8B4A-10D44A1D0B4E}"/>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15 / 24</a:t>
            </a:r>
          </a:p>
        </p:txBody>
      </p:sp>
    </p:spTree>
    <p:extLst>
      <p:ext uri="{BB962C8B-B14F-4D97-AF65-F5344CB8AC3E}">
        <p14:creationId xmlns:p14="http://schemas.microsoft.com/office/powerpoint/2010/main" val="326555207"/>
      </p:ext>
    </p:extLst>
  </p:cSld>
</p:sld>
</file>

<file path=ppt/slides/slide1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7645F8-A2A0-4813-9423-4CCB28AAD81C}"/>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479E84CD-9710-4A88-A893-E767C935784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Phase can affect an interference result</a:t>
            </a:r>
          </a:p>
        </p:txBody>
      </p:sp>
      <p:pic>
        <p:nvPicPr>
          <p:cNvPr id="4" name="">
            <a:extLst xmlns:a="http://schemas.openxmlformats.org/drawingml/2006/main">
              <a:ext uri="{FF2B5EF4-FFF2-40B4-BE49-F238E27FC236}">
                <a16:creationId xmlns:a16="http://schemas.microsoft.com/office/drawing/2014/main" id="{CA75B226-7793-4BCA-9F30-60BF1079BC35}"/>
              </a:ext>
            </a:extLst>
          </p:cNvPr>
          <p:cNvPicPr>
            <a:picLocks xmlns:a="http://schemas.openxmlformats.org/drawingml/2006/main" noChangeAspect="1"/>
          </p:cNvPicPr>
          <p:nvPr/>
        </p:nvPicPr>
        <p:blipFill>
          <a:blip xmlns:r="http://schemas.openxmlformats.org/officeDocument/2006/relationships" xmlns:a="http://schemas.openxmlformats.org/drawingml/2006/main" r:embed="R20aa3b0982cd465c"/>
          <a:stretch xmlns:a="http://schemas.openxmlformats.org/drawingml/2006/main"/>
        </p:blipFill>
        <p:spPr>
          <a:xfrm xmlns:a="http://schemas.openxmlformats.org/drawingml/2006/main">
            <a:off x="609600" y="1642294"/>
            <a:ext cx="6762750" cy="414491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EAE590-B4BE-4A6D-8866-4CDE338E5F4B}"/>
              </a:ext>
            </a:extLst>
          </p:cNvPr>
          <p:cNvSpPr>
            <a:spLocks xmlns:a="http://schemas.openxmlformats.org/drawingml/2006/main" noGrp="1"/>
          </p:cNvSpPr>
          <p:nvPr/>
        </p:nvSpPr>
        <p:spPr>
          <a:xfrm xmlns:a="http://schemas.openxmlformats.org/drawingml/2006/main">
            <a:off x="7810500" y="1809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 (1 + e^(iφ))/2</a:t>
            </a:r>
          </a:p>
        </p:txBody>
      </p:sp>
      <p:sp>
        <p:nvSpPr>
          <p:cNvPr id="6" name="">
            <a:extLst xmlns:a="http://schemas.openxmlformats.org/drawingml/2006/main">
              <a:ext uri="{FF2B5EF4-FFF2-40B4-BE49-F238E27FC236}">
                <a16:creationId xmlns:a16="http://schemas.microsoft.com/office/drawing/2014/main" id="{D5209F8A-85C2-4841-8F21-6A99539FA251}"/>
              </a:ext>
            </a:extLst>
          </p:cNvPr>
          <p:cNvSpPr>
            <a:spLocks xmlns:a="http://schemas.openxmlformats.org/drawingml/2006/main" noGrp="1"/>
          </p:cNvSpPr>
          <p:nvPr/>
        </p:nvSpPr>
        <p:spPr>
          <a:xfrm xmlns:a="http://schemas.openxmlformats.org/drawingml/2006/main">
            <a:off x="7810500" y="27622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p₊ = |A₊|² = (1 + cos φ)/2</a:t>
            </a:r>
          </a:p>
        </p:txBody>
      </p:sp>
      <p:sp>
        <p:nvSpPr>
          <p:cNvPr id="7" name="">
            <a:extLst xmlns:a="http://schemas.openxmlformats.org/drawingml/2006/main">
              <a:ext uri="{FF2B5EF4-FFF2-40B4-BE49-F238E27FC236}">
                <a16:creationId xmlns:a16="http://schemas.microsoft.com/office/drawing/2014/main" id="{1FC894D3-0DA6-4BC7-8DC8-D47C1EE6FBC9}"/>
              </a:ext>
            </a:extLst>
          </p:cNvPr>
          <p:cNvSpPr>
            <a:spLocks xmlns:a="http://schemas.openxmlformats.org/drawingml/2006/main" noGrp="1"/>
          </p:cNvSpPr>
          <p:nvPr/>
        </p:nvSpPr>
        <p:spPr>
          <a:xfrm xmlns:a="http://schemas.openxmlformats.org/drawingml/2006/main">
            <a:off x="7810500" y="37147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At φ = 0: p₊ = 1</a:t>
            </a:r>
          </a:p>
        </p:txBody>
      </p:sp>
      <p:sp>
        <p:nvSpPr>
          <p:cNvPr id="8" name="">
            <a:extLst xmlns:a="http://schemas.openxmlformats.org/drawingml/2006/main">
              <a:ext uri="{FF2B5EF4-FFF2-40B4-BE49-F238E27FC236}">
                <a16:creationId xmlns:a16="http://schemas.microsoft.com/office/drawing/2014/main" id="{44B4D722-5302-412B-B69A-59DB28B35E74}"/>
              </a:ext>
            </a:extLst>
          </p:cNvPr>
          <p:cNvSpPr>
            <a:spLocks xmlns:a="http://schemas.openxmlformats.org/drawingml/2006/main" noGrp="1"/>
          </p:cNvSpPr>
          <p:nvPr/>
        </p:nvSpPr>
        <p:spPr>
          <a:xfrm xmlns:a="http://schemas.openxmlformats.org/drawingml/2006/main">
            <a:off x="7810500" y="4667250"/>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At φ = π: p₊ = 0</a:t>
            </a:r>
          </a:p>
        </p:txBody>
      </p:sp>
      <p:sp>
        <p:nvSpPr>
          <p:cNvPr id="9" name="">
            <a:extLst xmlns:a="http://schemas.openxmlformats.org/drawingml/2006/main">
              <a:ext uri="{FF2B5EF4-FFF2-40B4-BE49-F238E27FC236}">
                <a16:creationId xmlns:a16="http://schemas.microsoft.com/office/drawing/2014/main" id="{094DA8BC-DC4F-4A61-8D42-13540AC5CB32}"/>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16 / 24</a:t>
            </a:r>
          </a:p>
        </p:txBody>
      </p:sp>
      <p:sp>
        <p:nvSpPr>
          <p:cNvPr id="10" name="">
            <a:extLst xmlns:a="http://schemas.openxmlformats.org/drawingml/2006/main">
              <a:ext uri="{FF2B5EF4-FFF2-40B4-BE49-F238E27FC236}">
                <a16:creationId xmlns:a16="http://schemas.microsoft.com/office/drawing/2014/main" id="{AD24A3C4-9714-4BBB-9D7A-5EA5E9E30589}"/>
              </a:ext>
            </a:extLst>
          </p:cNvPr>
          <p:cNvSpPr>
            <a:spLocks xmlns:a="http://schemas.openxmlformats.org/drawingml/2006/main" noGrp="1"/>
          </p:cNvSpPr>
          <p:nvPr/>
        </p:nvSpPr>
        <p:spPr>
          <a:xfrm xmlns:a="http://schemas.openxmlformats.org/drawingml/2006/main">
            <a:off x="609600" y="6000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725">
                <a:solidFill>
                  <a:srgbClr val="14233B"/>
                </a:solidFill>
                <a:latin typeface="Arial"/>
                <a:ea typeface="Arial"/>
                <a:cs typeface="Arial"/>
              </a:defRPr>
            </a:defPPr>
            <a:lvl1pPr algn="l">
              <a:defRPr sz="1725">
                <a:solidFill>
                  <a:srgbClr val="14233B"/>
                </a:solidFill>
                <a:latin typeface="Arial"/>
                <a:ea typeface="Arial"/>
                <a:cs typeface="Arial"/>
              </a:defRPr>
            </a:lvl1pPr>
            <a:lvl2pPr algn="l">
              <a:defRPr sz="1725">
                <a:solidFill>
                  <a:srgbClr val="14233B"/>
                </a:solidFill>
                <a:latin typeface="Arial"/>
                <a:ea typeface="Arial"/>
                <a:cs typeface="Arial"/>
              </a:defRPr>
            </a:lvl2pPr>
            <a:lvl3pPr algn="l">
              <a:defRPr sz="1725">
                <a:solidFill>
                  <a:srgbClr val="14233B"/>
                </a:solidFill>
                <a:latin typeface="Arial"/>
                <a:ea typeface="Arial"/>
                <a:cs typeface="Arial"/>
              </a:defRPr>
            </a:lvl3pPr>
            <a:lvl4pPr algn="l">
              <a:defRPr sz="1725">
                <a:solidFill>
                  <a:srgbClr val="14233B"/>
                </a:solidFill>
                <a:latin typeface="Arial"/>
                <a:ea typeface="Arial"/>
                <a:cs typeface="Arial"/>
              </a:defRPr>
            </a:lvl4pPr>
            <a:lvl5pPr algn="l">
              <a:defRPr sz="1725">
                <a:solidFill>
                  <a:srgbClr val="14233B"/>
                </a:solidFill>
                <a:latin typeface="Arial"/>
                <a:ea typeface="Arial"/>
                <a:cs typeface="Arial"/>
              </a:defRPr>
            </a:lvl5pPr>
            <a:lvl6pPr algn="l">
              <a:defRPr sz="1725">
                <a:solidFill>
                  <a:srgbClr val="14233B"/>
                </a:solidFill>
                <a:latin typeface="Arial"/>
                <a:ea typeface="Arial"/>
                <a:cs typeface="Arial"/>
              </a:defRPr>
            </a:lvl6pPr>
            <a:lvl7pPr algn="l">
              <a:defRPr sz="1725">
                <a:solidFill>
                  <a:srgbClr val="14233B"/>
                </a:solidFill>
                <a:latin typeface="Arial"/>
                <a:ea typeface="Arial"/>
                <a:cs typeface="Arial"/>
              </a:defRPr>
            </a:lvl7pPr>
            <a:lvl8pPr algn="l">
              <a:defRPr sz="1725">
                <a:solidFill>
                  <a:srgbClr val="14233B"/>
                </a:solidFill>
                <a:latin typeface="Arial"/>
                <a:ea typeface="Arial"/>
                <a:cs typeface="Arial"/>
              </a:defRPr>
            </a:lvl8pPr>
            <a:lvl9pPr algn="l">
              <a:defRPr sz="1725">
                <a:solidFill>
                  <a:srgbClr val="14233B"/>
                </a:solidFill>
                <a:latin typeface="Arial"/>
                <a:ea typeface="Arial"/>
                <a:cs typeface="Arial"/>
              </a:defRPr>
            </a:lvl9pPr>
          </a:lstStyle>
          <a:p xmlns:a="http://schemas.openxmlformats.org/drawingml/2006/main">
            <a:pPr algn="l">
              <a:defRPr sz="1725">
                <a:solidFill>
                  <a:srgbClr val="14233B"/>
                </a:solidFill>
                <a:latin typeface="Arial"/>
                <a:ea typeface="Arial"/>
                <a:cs typeface="Arial"/>
              </a:defRPr>
            </a:pPr>
            <a:r>
              <a:rPr sz="1725">
                <a:solidFill>
                  <a:srgbClr val="14233B"/>
                </a:solidFill>
                <a:latin typeface="Arial"/>
                <a:ea typeface="Arial"/>
                <a:cs typeface="Arial"/>
              </a:rPr>
              <a:t>Amplitudes: 1/√2 and e^(iφ)/√2. Measurement: the plus/minus basis.</a:t>
            </a:r>
          </a:p>
        </p:txBody>
      </p:sp>
    </p:spTree>
    <p:extLst>
      <p:ext uri="{BB962C8B-B14F-4D97-AF65-F5344CB8AC3E}">
        <p14:creationId xmlns:p14="http://schemas.microsoft.com/office/powerpoint/2010/main" val="1165563855"/>
      </p:ext>
    </p:extLst>
  </p:cSld>
</p:sld>
</file>

<file path=ppt/slides/slide1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5594708-A736-4E17-863D-01F84471005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87978AE7-58A2-47AF-8D1F-8669DD6CB08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Code walkthrough 1 · NumPy arithmetic</a:t>
            </a:r>
          </a:p>
        </p:txBody>
      </p:sp>
      <p:sp>
        <p:nvSpPr>
          <p:cNvPr id="4" name="">
            <a:extLst xmlns:a="http://schemas.openxmlformats.org/drawingml/2006/main">
              <a:ext uri="{FF2B5EF4-FFF2-40B4-BE49-F238E27FC236}">
                <a16:creationId xmlns:a16="http://schemas.microsoft.com/office/drawing/2014/main" id="{36D2F790-6799-4831-899F-76ED8261CDBD}"/>
              </a:ext>
            </a:extLst>
          </p:cNvPr>
          <p:cNvSpPr>
            <a:spLocks xmlns:a="http://schemas.openxmlformats.org/drawingml/2006/main" noGrp="1"/>
          </p:cNvSpPr>
          <p:nvPr/>
        </p:nvSpPr>
        <p:spPr>
          <a:xfrm xmlns:a="http://schemas.openxmlformats.org/drawingml/2006/main">
            <a:off x="609600" y="1600200"/>
            <a:ext cx="10972800" cy="323850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6F9AD2-6B92-40AC-8052-8ECD00BD8174}"/>
              </a:ext>
            </a:extLst>
          </p:cNvPr>
          <p:cNvSpPr>
            <a:spLocks xmlns:a="http://schemas.openxmlformats.org/drawingml/2006/main" noGrp="1"/>
          </p:cNvSpPr>
          <p:nvPr/>
        </p:nvSpPr>
        <p:spPr>
          <a:xfrm xmlns:a="http://schemas.openxmlformats.org/drawingml/2006/main">
            <a:off x="800100" y="1809750"/>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import numpy as np</a:t>
            </a:r>
          </a:p>
        </p:txBody>
      </p:sp>
      <p:sp>
        <p:nvSpPr>
          <p:cNvPr id="6" name="">
            <a:extLst xmlns:a="http://schemas.openxmlformats.org/drawingml/2006/main">
              <a:ext uri="{FF2B5EF4-FFF2-40B4-BE49-F238E27FC236}">
                <a16:creationId xmlns:a16="http://schemas.microsoft.com/office/drawing/2014/main" id="{83125BBE-C4AD-4861-BE0D-3E1C88F600B5}"/>
              </a:ext>
            </a:extLst>
          </p:cNvPr>
          <p:cNvSpPr>
            <a:spLocks xmlns:a="http://schemas.openxmlformats.org/drawingml/2006/main" noGrp="1"/>
          </p:cNvSpPr>
          <p:nvPr/>
        </p:nvSpPr>
        <p:spPr>
          <a:xfrm xmlns:a="http://schemas.openxmlformats.org/drawingml/2006/main">
            <a:off x="800100" y="2119313"/>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z = 3 + 4j</a:t>
            </a:r>
          </a:p>
        </p:txBody>
      </p:sp>
      <p:sp>
        <p:nvSpPr>
          <p:cNvPr id="7" name="">
            <a:extLst xmlns:a="http://schemas.openxmlformats.org/drawingml/2006/main">
              <a:ext uri="{FF2B5EF4-FFF2-40B4-BE49-F238E27FC236}">
                <a16:creationId xmlns:a16="http://schemas.microsoft.com/office/drawing/2014/main" id="{CC2A335B-64EF-43D6-98BC-7C8EF3432ABA}"/>
              </a:ext>
            </a:extLst>
          </p:cNvPr>
          <p:cNvSpPr>
            <a:spLocks xmlns:a="http://schemas.openxmlformats.org/drawingml/2006/main" noGrp="1"/>
          </p:cNvSpPr>
          <p:nvPr/>
        </p:nvSpPr>
        <p:spPr>
          <a:xfrm xmlns:a="http://schemas.openxmlformats.org/drawingml/2006/main">
            <a:off x="800100" y="2428875"/>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print(z.real, z.imag)           # 3.0 4.0</a:t>
            </a:r>
          </a:p>
        </p:txBody>
      </p:sp>
      <p:sp>
        <p:nvSpPr>
          <p:cNvPr id="8" name="">
            <a:extLst xmlns:a="http://schemas.openxmlformats.org/drawingml/2006/main">
              <a:ext uri="{FF2B5EF4-FFF2-40B4-BE49-F238E27FC236}">
                <a16:creationId xmlns:a16="http://schemas.microsoft.com/office/drawing/2014/main" id="{CC31B465-F01A-46E0-8AA6-20CA78C66225}"/>
              </a:ext>
            </a:extLst>
          </p:cNvPr>
          <p:cNvSpPr>
            <a:spLocks xmlns:a="http://schemas.openxmlformats.org/drawingml/2006/main" noGrp="1"/>
          </p:cNvSpPr>
          <p:nvPr/>
        </p:nvSpPr>
        <p:spPr>
          <a:xfrm xmlns:a="http://schemas.openxmlformats.org/drawingml/2006/main">
            <a:off x="800100" y="2738438"/>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print(np.conjugate(z))          # (3-4j)</a:t>
            </a:r>
          </a:p>
        </p:txBody>
      </p:sp>
      <p:sp>
        <p:nvSpPr>
          <p:cNvPr id="9" name="">
            <a:extLst xmlns:a="http://schemas.openxmlformats.org/drawingml/2006/main">
              <a:ext uri="{FF2B5EF4-FFF2-40B4-BE49-F238E27FC236}">
                <a16:creationId xmlns:a16="http://schemas.microsoft.com/office/drawing/2014/main" id="{11258975-00B7-4BCA-AA41-DCB5833DAD8B}"/>
              </a:ext>
            </a:extLst>
          </p:cNvPr>
          <p:cNvSpPr>
            <a:spLocks xmlns:a="http://schemas.openxmlformats.org/drawingml/2006/main" noGrp="1"/>
          </p:cNvSpPr>
          <p:nvPr/>
        </p:nvSpPr>
        <p:spPr>
          <a:xfrm xmlns:a="http://schemas.openxmlformats.org/drawingml/2006/main">
            <a:off x="800100" y="3048000"/>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print(abs(z), abs(z)**2)        # 5.0 25.0</a:t>
            </a:r>
          </a:p>
        </p:txBody>
      </p:sp>
      <p:sp>
        <p:nvSpPr>
          <p:cNvPr id="10" name="">
            <a:extLst xmlns:a="http://schemas.openxmlformats.org/drawingml/2006/main">
              <a:ext uri="{FF2B5EF4-FFF2-40B4-BE49-F238E27FC236}">
                <a16:creationId xmlns:a16="http://schemas.microsoft.com/office/drawing/2014/main" id="{32F1686E-8FC4-4DF3-90F5-2CADDDBE39BC}"/>
              </a:ext>
            </a:extLst>
          </p:cNvPr>
          <p:cNvSpPr>
            <a:spLocks xmlns:a="http://schemas.openxmlformats.org/drawingml/2006/main" noGrp="1"/>
          </p:cNvSpPr>
          <p:nvPr/>
        </p:nvSpPr>
        <p:spPr>
          <a:xfrm xmlns:a="http://schemas.openxmlformats.org/drawingml/2006/main">
            <a:off x="800100" y="3357563"/>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print(np.angle(z))              # 0.927295...</a:t>
            </a:r>
          </a:p>
        </p:txBody>
      </p:sp>
      <p:sp>
        <p:nvSpPr>
          <p:cNvPr id="11" name="">
            <a:extLst xmlns:a="http://schemas.openxmlformats.org/drawingml/2006/main">
              <a:ext uri="{FF2B5EF4-FFF2-40B4-BE49-F238E27FC236}">
                <a16:creationId xmlns:a16="http://schemas.microsoft.com/office/drawing/2014/main" id="{4AEF3017-99A0-41E6-84C8-DF680B151B40}"/>
              </a:ext>
            </a:extLst>
          </p:cNvPr>
          <p:cNvSpPr>
            <a:spLocks xmlns:a="http://schemas.openxmlformats.org/drawingml/2006/main" noGrp="1"/>
          </p:cNvSpPr>
          <p:nvPr/>
        </p:nvSpPr>
        <p:spPr>
          <a:xfrm xmlns:a="http://schemas.openxmlformats.org/drawingml/2006/main">
            <a:off x="800100" y="3667125"/>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assert np.isclose(abs(z)**2, 25.0)</a:t>
            </a:r>
          </a:p>
        </p:txBody>
      </p:sp>
      <p:sp>
        <p:nvSpPr>
          <p:cNvPr id="12" name="">
            <a:extLst xmlns:a="http://schemas.openxmlformats.org/drawingml/2006/main">
              <a:ext uri="{FF2B5EF4-FFF2-40B4-BE49-F238E27FC236}">
                <a16:creationId xmlns:a16="http://schemas.microsoft.com/office/drawing/2014/main" id="{7CB7C450-8138-488B-9748-8B1E9CFAE3E5}"/>
              </a:ext>
            </a:extLst>
          </p:cNvPr>
          <p:cNvSpPr>
            <a:spLocks xmlns:a="http://schemas.openxmlformats.org/drawingml/2006/main" noGrp="1"/>
          </p:cNvSpPr>
          <p:nvPr/>
        </p:nvSpPr>
        <p:spPr>
          <a:xfrm xmlns:a="http://schemas.openxmlformats.org/drawingml/2006/main">
            <a:off x="609600" y="5238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Python uses ** for powers. NumPy angles use radians.</a:t>
            </a:r>
          </a:p>
        </p:txBody>
      </p:sp>
      <p:sp>
        <p:nvSpPr>
          <p:cNvPr id="13" name="">
            <a:extLst xmlns:a="http://schemas.openxmlformats.org/drawingml/2006/main">
              <a:ext uri="{FF2B5EF4-FFF2-40B4-BE49-F238E27FC236}">
                <a16:creationId xmlns:a16="http://schemas.microsoft.com/office/drawing/2014/main" id="{5DCE4E77-FF2F-4BE0-B569-3F16A6EBE59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17 / 24</a:t>
            </a:r>
          </a:p>
        </p:txBody>
      </p:sp>
    </p:spTree>
    <p:extLst>
      <p:ext uri="{BB962C8B-B14F-4D97-AF65-F5344CB8AC3E}">
        <p14:creationId xmlns:p14="http://schemas.microsoft.com/office/powerpoint/2010/main" val="1801700474"/>
      </p:ext>
    </p:extLst>
  </p:cSld>
</p:sld>
</file>

<file path=ppt/slides/slide1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1C0C035-F130-4150-9709-444A1CFCFFF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EDCCCE25-DAC0-4B2A-B7F8-5FC711DA86A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Code walkthrough 2 · QuTiP correspondence</a:t>
            </a:r>
          </a:p>
        </p:txBody>
      </p:sp>
      <p:sp>
        <p:nvSpPr>
          <p:cNvPr id="4" name="">
            <a:extLst xmlns:a="http://schemas.openxmlformats.org/drawingml/2006/main">
              <a:ext uri="{FF2B5EF4-FFF2-40B4-BE49-F238E27FC236}">
                <a16:creationId xmlns:a16="http://schemas.microsoft.com/office/drawing/2014/main" id="{BD55B576-B0CE-41DF-AA5E-0DBF82239CC8}"/>
              </a:ext>
            </a:extLst>
          </p:cNvPr>
          <p:cNvSpPr>
            <a:spLocks xmlns:a="http://schemas.openxmlformats.org/drawingml/2006/main" noGrp="1"/>
          </p:cNvSpPr>
          <p:nvPr/>
        </p:nvSpPr>
        <p:spPr>
          <a:xfrm xmlns:a="http://schemas.openxmlformats.org/drawingml/2006/main">
            <a:off x="609600" y="1600200"/>
            <a:ext cx="10972800" cy="323850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8F46F8-CDB4-43DE-9CF8-EAEE3EECDC15}"/>
              </a:ext>
            </a:extLst>
          </p:cNvPr>
          <p:cNvSpPr>
            <a:spLocks xmlns:a="http://schemas.openxmlformats.org/drawingml/2006/main" noGrp="1"/>
          </p:cNvSpPr>
          <p:nvPr/>
        </p:nvSpPr>
        <p:spPr>
          <a:xfrm xmlns:a="http://schemas.openxmlformats.org/drawingml/2006/main">
            <a:off x="800100" y="1809750"/>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import numpy as np</a:t>
            </a:r>
          </a:p>
        </p:txBody>
      </p:sp>
      <p:sp>
        <p:nvSpPr>
          <p:cNvPr id="6" name="">
            <a:extLst xmlns:a="http://schemas.openxmlformats.org/drawingml/2006/main">
              <a:ext uri="{FF2B5EF4-FFF2-40B4-BE49-F238E27FC236}">
                <a16:creationId xmlns:a16="http://schemas.microsoft.com/office/drawing/2014/main" id="{A6E68AFD-E9D8-46F7-AA2F-85FE7BF921D3}"/>
              </a:ext>
            </a:extLst>
          </p:cNvPr>
          <p:cNvSpPr>
            <a:spLocks xmlns:a="http://schemas.openxmlformats.org/drawingml/2006/main" noGrp="1"/>
          </p:cNvSpPr>
          <p:nvPr/>
        </p:nvSpPr>
        <p:spPr>
          <a:xfrm xmlns:a="http://schemas.openxmlformats.org/drawingml/2006/main">
            <a:off x="800100" y="2119313"/>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import qutip as qt</a:t>
            </a:r>
          </a:p>
        </p:txBody>
      </p:sp>
      <p:sp>
        <p:nvSpPr>
          <p:cNvPr id="7" name="">
            <a:extLst xmlns:a="http://schemas.openxmlformats.org/drawingml/2006/main">
              <a:ext uri="{FF2B5EF4-FFF2-40B4-BE49-F238E27FC236}">
                <a16:creationId xmlns:a16="http://schemas.microsoft.com/office/drawing/2014/main" id="{692202EE-F832-4009-9206-ECDEF7D5D7D7}"/>
              </a:ext>
            </a:extLst>
          </p:cNvPr>
          <p:cNvSpPr>
            <a:spLocks xmlns:a="http://schemas.openxmlformats.org/drawingml/2006/main" noGrp="1"/>
          </p:cNvSpPr>
          <p:nvPr/>
        </p:nvSpPr>
        <p:spPr>
          <a:xfrm xmlns:a="http://schemas.openxmlformats.org/drawingml/2006/main">
            <a:off x="800100" y="2428875"/>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a = (1 + 1j) / 2</a:t>
            </a:r>
          </a:p>
        </p:txBody>
      </p:sp>
      <p:sp>
        <p:nvSpPr>
          <p:cNvPr id="8" name="">
            <a:extLst xmlns:a="http://schemas.openxmlformats.org/drawingml/2006/main">
              <a:ext uri="{FF2B5EF4-FFF2-40B4-BE49-F238E27FC236}">
                <a16:creationId xmlns:a16="http://schemas.microsoft.com/office/drawing/2014/main" id="{D470C706-F225-4687-84CF-3759551B47B3}"/>
              </a:ext>
            </a:extLst>
          </p:cNvPr>
          <p:cNvSpPr>
            <a:spLocks xmlns:a="http://schemas.openxmlformats.org/drawingml/2006/main" noGrp="1"/>
          </p:cNvSpPr>
          <p:nvPr/>
        </p:nvSpPr>
        <p:spPr>
          <a:xfrm xmlns:a="http://schemas.openxmlformats.org/drawingml/2006/main">
            <a:off x="800100" y="2738438"/>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b = 1 / np.sqrt(2)</a:t>
            </a:r>
          </a:p>
        </p:txBody>
      </p:sp>
      <p:sp>
        <p:nvSpPr>
          <p:cNvPr id="9" name="">
            <a:extLst xmlns:a="http://schemas.openxmlformats.org/drawingml/2006/main">
              <a:ext uri="{FF2B5EF4-FFF2-40B4-BE49-F238E27FC236}">
                <a16:creationId xmlns:a16="http://schemas.microsoft.com/office/drawing/2014/main" id="{92D32EA2-60DE-4BDB-95A3-DB3D0626BE09}"/>
              </a:ext>
            </a:extLst>
          </p:cNvPr>
          <p:cNvSpPr>
            <a:spLocks xmlns:a="http://schemas.openxmlformats.org/drawingml/2006/main" noGrp="1"/>
          </p:cNvSpPr>
          <p:nvPr/>
        </p:nvSpPr>
        <p:spPr>
          <a:xfrm xmlns:a="http://schemas.openxmlformats.org/drawingml/2006/main">
            <a:off x="800100" y="3048000"/>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psi = a*qt.basis(2, 0) + b*qt.basis(2, 1)</a:t>
            </a:r>
          </a:p>
        </p:txBody>
      </p:sp>
      <p:sp>
        <p:nvSpPr>
          <p:cNvPr id="10" name="">
            <a:extLst xmlns:a="http://schemas.openxmlformats.org/drawingml/2006/main">
              <a:ext uri="{FF2B5EF4-FFF2-40B4-BE49-F238E27FC236}">
                <a16:creationId xmlns:a16="http://schemas.microsoft.com/office/drawing/2014/main" id="{42D16819-EFB4-4B40-ADD1-A9A7F8007F36}"/>
              </a:ext>
            </a:extLst>
          </p:cNvPr>
          <p:cNvSpPr>
            <a:spLocks xmlns:a="http://schemas.openxmlformats.org/drawingml/2006/main" noGrp="1"/>
          </p:cNvSpPr>
          <p:nvPr/>
        </p:nvSpPr>
        <p:spPr>
          <a:xfrm xmlns:a="http://schemas.openxmlformats.org/drawingml/2006/main">
            <a:off x="800100" y="3357563"/>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p0 = qt.expect(qt.basis(2, 0).proj(), psi)</a:t>
            </a:r>
          </a:p>
        </p:txBody>
      </p:sp>
      <p:sp>
        <p:nvSpPr>
          <p:cNvPr id="11" name="">
            <a:extLst xmlns:a="http://schemas.openxmlformats.org/drawingml/2006/main">
              <a:ext uri="{FF2B5EF4-FFF2-40B4-BE49-F238E27FC236}">
                <a16:creationId xmlns:a16="http://schemas.microsoft.com/office/drawing/2014/main" id="{26D23402-C646-4548-B745-4F7D186D8BFB}"/>
              </a:ext>
            </a:extLst>
          </p:cNvPr>
          <p:cNvSpPr>
            <a:spLocks xmlns:a="http://schemas.openxmlformats.org/drawingml/2006/main" noGrp="1"/>
          </p:cNvSpPr>
          <p:nvPr/>
        </p:nvSpPr>
        <p:spPr>
          <a:xfrm xmlns:a="http://schemas.openxmlformats.org/drawingml/2006/main">
            <a:off x="800100" y="3667125"/>
            <a:ext cx="1059180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3EE"/>
                </a:solidFill>
                <a:latin typeface="Consolas"/>
                <a:ea typeface="Consolas"/>
                <a:cs typeface="Consolas"/>
              </a:defRPr>
            </a:defPPr>
            <a:lvl1pPr algn="l">
              <a:defRPr sz="1875" b="0">
                <a:solidFill>
                  <a:srgbClr val="F5F3EE"/>
                </a:solidFill>
                <a:latin typeface="Consolas"/>
                <a:ea typeface="Consolas"/>
                <a:cs typeface="Consolas"/>
              </a:defRPr>
            </a:lvl1pPr>
            <a:lvl2pPr algn="l">
              <a:defRPr sz="1875" b="0">
                <a:solidFill>
                  <a:srgbClr val="F5F3EE"/>
                </a:solidFill>
                <a:latin typeface="Consolas"/>
                <a:ea typeface="Consolas"/>
                <a:cs typeface="Consolas"/>
              </a:defRPr>
            </a:lvl2pPr>
            <a:lvl3pPr algn="l">
              <a:defRPr sz="1875" b="0">
                <a:solidFill>
                  <a:srgbClr val="F5F3EE"/>
                </a:solidFill>
                <a:latin typeface="Consolas"/>
                <a:ea typeface="Consolas"/>
                <a:cs typeface="Consolas"/>
              </a:defRPr>
            </a:lvl3pPr>
            <a:lvl4pPr algn="l">
              <a:defRPr sz="1875" b="0">
                <a:solidFill>
                  <a:srgbClr val="F5F3EE"/>
                </a:solidFill>
                <a:latin typeface="Consolas"/>
                <a:ea typeface="Consolas"/>
                <a:cs typeface="Consolas"/>
              </a:defRPr>
            </a:lvl4pPr>
            <a:lvl5pPr algn="l">
              <a:defRPr sz="1875" b="0">
                <a:solidFill>
                  <a:srgbClr val="F5F3EE"/>
                </a:solidFill>
                <a:latin typeface="Consolas"/>
                <a:ea typeface="Consolas"/>
                <a:cs typeface="Consolas"/>
              </a:defRPr>
            </a:lvl5pPr>
            <a:lvl6pPr algn="l">
              <a:defRPr sz="1875" b="0">
                <a:solidFill>
                  <a:srgbClr val="F5F3EE"/>
                </a:solidFill>
                <a:latin typeface="Consolas"/>
                <a:ea typeface="Consolas"/>
                <a:cs typeface="Consolas"/>
              </a:defRPr>
            </a:lvl6pPr>
            <a:lvl7pPr algn="l">
              <a:defRPr sz="1875" b="0">
                <a:solidFill>
                  <a:srgbClr val="F5F3EE"/>
                </a:solidFill>
                <a:latin typeface="Consolas"/>
                <a:ea typeface="Consolas"/>
                <a:cs typeface="Consolas"/>
              </a:defRPr>
            </a:lvl7pPr>
            <a:lvl8pPr algn="l">
              <a:defRPr sz="1875" b="0">
                <a:solidFill>
                  <a:srgbClr val="F5F3EE"/>
                </a:solidFill>
                <a:latin typeface="Consolas"/>
                <a:ea typeface="Consolas"/>
                <a:cs typeface="Consolas"/>
              </a:defRPr>
            </a:lvl8pPr>
            <a:lvl9pPr algn="l">
              <a:defRPr sz="1875" b="0">
                <a:solidFill>
                  <a:srgbClr val="F5F3EE"/>
                </a:solidFill>
                <a:latin typeface="Consolas"/>
                <a:ea typeface="Consolas"/>
                <a:cs typeface="Consolas"/>
              </a:defRPr>
            </a:lvl9pPr>
          </a:lstStyle>
          <a:p xmlns:a="http://schemas.openxmlformats.org/drawingml/2006/main">
            <a:pPr algn="l">
              <a:defRPr sz="1875" b="0">
                <a:solidFill>
                  <a:srgbClr val="F5F3EE"/>
                </a:solidFill>
                <a:latin typeface="Consolas"/>
                <a:ea typeface="Consolas"/>
                <a:cs typeface="Consolas"/>
              </a:defRPr>
            </a:pPr>
            <a:r>
              <a:rPr sz="1875" b="0">
                <a:solidFill>
                  <a:srgbClr val="F5F3EE"/>
                </a:solidFill>
                <a:latin typeface="Consolas"/>
                <a:ea typeface="Consolas"/>
                <a:cs typeface="Consolas"/>
              </a:rPr>
              <a:t>assert np.isclose(p0, abs(a)**2)</a:t>
            </a:r>
          </a:p>
        </p:txBody>
      </p:sp>
      <p:sp>
        <p:nvSpPr>
          <p:cNvPr id="12" name="">
            <a:extLst xmlns:a="http://schemas.openxmlformats.org/drawingml/2006/main">
              <a:ext uri="{FF2B5EF4-FFF2-40B4-BE49-F238E27FC236}">
                <a16:creationId xmlns:a16="http://schemas.microsoft.com/office/drawing/2014/main" id="{EE58A50F-8AD4-4A11-A17C-EC20F1A6768A}"/>
              </a:ext>
            </a:extLst>
          </p:cNvPr>
          <p:cNvSpPr>
            <a:spLocks xmlns:a="http://schemas.openxmlformats.org/drawingml/2006/main" noGrp="1"/>
          </p:cNvSpPr>
          <p:nvPr/>
        </p:nvSpPr>
        <p:spPr>
          <a:xfrm xmlns:a="http://schemas.openxmlformats.org/drawingml/2006/main">
            <a:off x="609600" y="5238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For this normalized state, both calculations give p₀ = 1/2.</a:t>
            </a:r>
          </a:p>
        </p:txBody>
      </p:sp>
      <p:sp>
        <p:nvSpPr>
          <p:cNvPr id="13" name="">
            <a:extLst xmlns:a="http://schemas.openxmlformats.org/drawingml/2006/main">
              <a:ext uri="{FF2B5EF4-FFF2-40B4-BE49-F238E27FC236}">
                <a16:creationId xmlns:a16="http://schemas.microsoft.com/office/drawing/2014/main" id="{1CFF6138-033B-4A49-AD5C-EE71694E7F5E}"/>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18 / 24</a:t>
            </a:r>
          </a:p>
        </p:txBody>
      </p:sp>
    </p:spTree>
    <p:extLst>
      <p:ext uri="{BB962C8B-B14F-4D97-AF65-F5344CB8AC3E}">
        <p14:creationId xmlns:p14="http://schemas.microsoft.com/office/powerpoint/2010/main" val="1035562534"/>
      </p:ext>
    </p:extLst>
  </p:cSld>
</p:sld>
</file>

<file path=ppt/slides/slide1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41EAB6-ACE2-4081-B95A-ED424C2CD12C}"/>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7AE9966B-5579-4A6C-9C1D-30FB9F18617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Practice · Calculate before running code</a:t>
            </a:r>
          </a:p>
        </p:txBody>
      </p:sp>
      <p:sp>
        <p:nvSpPr>
          <p:cNvPr id="4" name="">
            <a:extLst xmlns:a="http://schemas.openxmlformats.org/drawingml/2006/main">
              <a:ext uri="{FF2B5EF4-FFF2-40B4-BE49-F238E27FC236}">
                <a16:creationId xmlns:a16="http://schemas.microsoft.com/office/drawing/2014/main" id="{6BC20C5A-93BF-4FF3-AB66-D27CF5E448CA}"/>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1. For z = −3 + 4i, find z*, |z|² and its quadrant.</a:t>
            </a:r>
          </a:p>
        </p:txBody>
      </p:sp>
      <p:sp>
        <p:nvSpPr>
          <p:cNvPr id="5" name="">
            <a:extLst xmlns:a="http://schemas.openxmlformats.org/drawingml/2006/main">
              <a:ext uri="{FF2B5EF4-FFF2-40B4-BE49-F238E27FC236}">
                <a16:creationId xmlns:a16="http://schemas.microsoft.com/office/drawing/2014/main" id="{927C6DDB-FCDE-4C00-8154-03D3C9781D7D}"/>
              </a:ext>
            </a:extLst>
          </p:cNvPr>
          <p:cNvSpPr>
            <a:spLocks xmlns:a="http://schemas.openxmlformats.org/drawingml/2006/main" noGrp="1"/>
          </p:cNvSpPr>
          <p:nvPr/>
        </p:nvSpPr>
        <p:spPr>
          <a:xfrm xmlns:a="http://schemas.openxmlformats.org/drawingml/2006/main">
            <a:off x="609600" y="2762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2. For α = (1 − i)/2, compare α² with |α|².</a:t>
            </a:r>
          </a:p>
        </p:txBody>
      </p:sp>
      <p:sp>
        <p:nvSpPr>
          <p:cNvPr id="6" name="">
            <a:extLst xmlns:a="http://schemas.openxmlformats.org/drawingml/2006/main">
              <a:ext uri="{FF2B5EF4-FFF2-40B4-BE49-F238E27FC236}">
                <a16:creationId xmlns:a16="http://schemas.microsoft.com/office/drawing/2014/main" id="{4E4E1755-88F2-4EE6-80EC-1932AD1983B6}"/>
              </a:ext>
            </a:extLst>
          </p:cNvPr>
          <p:cNvSpPr>
            <a:spLocks xmlns:a="http://schemas.openxmlformats.org/drawingml/2006/main" noGrp="1"/>
          </p:cNvSpPr>
          <p:nvPr/>
        </p:nvSpPr>
        <p:spPr>
          <a:xfrm xmlns:a="http://schemas.openxmlformats.org/drawingml/2006/main">
            <a:off x="609600" y="37623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3. For z = 2 e^(iπ/3), find its Cartesian coordinates.</a:t>
            </a:r>
          </a:p>
        </p:txBody>
      </p:sp>
      <p:sp>
        <p:nvSpPr>
          <p:cNvPr id="7" name="">
            <a:extLst xmlns:a="http://schemas.openxmlformats.org/drawingml/2006/main">
              <a:ext uri="{FF2B5EF4-FFF2-40B4-BE49-F238E27FC236}">
                <a16:creationId xmlns:a16="http://schemas.microsoft.com/office/drawing/2014/main" id="{99B9209F-E947-4456-AF3F-D526A181E58F}"/>
              </a:ext>
            </a:extLst>
          </p:cNvPr>
          <p:cNvSpPr>
            <a:spLocks xmlns:a="http://schemas.openxmlformats.org/drawingml/2006/main" noGrp="1"/>
          </p:cNvSpPr>
          <p:nvPr/>
        </p:nvSpPr>
        <p:spPr>
          <a:xfrm xmlns:a="http://schemas.openxmlformats.org/drawingml/2006/main">
            <a:off x="609600" y="4762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4. Complete starter.py and compare with solution.py.</a:t>
            </a:r>
          </a:p>
        </p:txBody>
      </p:sp>
      <p:sp>
        <p:nvSpPr>
          <p:cNvPr id="8" name="">
            <a:extLst xmlns:a="http://schemas.openxmlformats.org/drawingml/2006/main">
              <a:ext uri="{FF2B5EF4-FFF2-40B4-BE49-F238E27FC236}">
                <a16:creationId xmlns:a16="http://schemas.microsoft.com/office/drawing/2014/main" id="{F0BB1409-C6A7-4216-87B8-0EA0A3A1334A}"/>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19 / 24</a:t>
            </a:r>
          </a:p>
        </p:txBody>
      </p:sp>
    </p:spTree>
    <p:extLst>
      <p:ext uri="{BB962C8B-B14F-4D97-AF65-F5344CB8AC3E}">
        <p14:creationId xmlns:p14="http://schemas.microsoft.com/office/powerpoint/2010/main" val="1785710456"/>
      </p:ext>
    </p:extLst>
  </p:cSld>
</p:sld>
</file>

<file path=ppt/slides/slide2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73841B-99E3-4FA9-A417-1E5A61C362F0}"/>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COMPLEX NUMBERS AND PHASE</a:t>
            </a:r>
          </a:p>
        </p:txBody>
      </p:sp>
      <p:sp>
        <p:nvSpPr>
          <p:cNvPr id="3" name="">
            <a:extLst xmlns:a="http://schemas.openxmlformats.org/drawingml/2006/main">
              <a:ext uri="{FF2B5EF4-FFF2-40B4-BE49-F238E27FC236}">
                <a16:creationId xmlns:a16="http://schemas.microsoft.com/office/drawing/2014/main" id="{2F6C4FC9-EC9B-4483-AA06-A5FC74ED554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Exit check and the next lesson</a:t>
            </a:r>
          </a:p>
        </p:txBody>
      </p:sp>
      <p:sp>
        <p:nvSpPr>
          <p:cNvPr id="4" name="">
            <a:extLst xmlns:a="http://schemas.openxmlformats.org/drawingml/2006/main">
              <a:ext uri="{FF2B5EF4-FFF2-40B4-BE49-F238E27FC236}">
                <a16:creationId xmlns:a16="http://schemas.microsoft.com/office/drawing/2014/main" id="{FB06C55F-19FF-4F4A-803E-FF343DB9C678}"/>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Why does conjugation make |z|² real and nonnegative?</a:t>
            </a:r>
          </a:p>
        </p:txBody>
      </p:sp>
      <p:sp>
        <p:nvSpPr>
          <p:cNvPr id="5" name="">
            <a:extLst xmlns:a="http://schemas.openxmlformats.org/drawingml/2006/main">
              <a:ext uri="{FF2B5EF4-FFF2-40B4-BE49-F238E27FC236}">
                <a16:creationId xmlns:a16="http://schemas.microsoft.com/office/drawing/2014/main" id="{A154CA86-DAC5-4464-A3DB-7A145531588D}"/>
              </a:ext>
            </a:extLst>
          </p:cNvPr>
          <p:cNvSpPr>
            <a:spLocks xmlns:a="http://schemas.openxmlformats.org/drawingml/2006/main" noGrp="1"/>
          </p:cNvSpPr>
          <p:nvPr/>
        </p:nvSpPr>
        <p:spPr>
          <a:xfrm xmlns:a="http://schemas.openxmlformats.org/drawingml/2006/main">
            <a:off x="609600" y="2762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Why does multiplying by e^(iφ) preserve a magnitude?</a:t>
            </a:r>
          </a:p>
        </p:txBody>
      </p:sp>
      <p:sp>
        <p:nvSpPr>
          <p:cNvPr id="6" name="">
            <a:extLst xmlns:a="http://schemas.openxmlformats.org/drawingml/2006/main">
              <a:ext uri="{FF2B5EF4-FFF2-40B4-BE49-F238E27FC236}">
                <a16:creationId xmlns:a16="http://schemas.microsoft.com/office/drawing/2014/main" id="{7874C592-E7DD-4371-BC8B-B159FAE82CE6}"/>
              </a:ext>
            </a:extLst>
          </p:cNvPr>
          <p:cNvSpPr>
            <a:spLocks xmlns:a="http://schemas.openxmlformats.org/drawingml/2006/main" noGrp="1"/>
          </p:cNvSpPr>
          <p:nvPr/>
        </p:nvSpPr>
        <p:spPr>
          <a:xfrm xmlns:a="http://schemas.openxmlformats.org/drawingml/2006/main">
            <a:off x="609600" y="37623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How can relative phase change an interference probability?</a:t>
            </a:r>
          </a:p>
        </p:txBody>
      </p:sp>
      <p:sp>
        <p:nvSpPr>
          <p:cNvPr id="7" name="">
            <a:extLst xmlns:a="http://schemas.openxmlformats.org/drawingml/2006/main">
              <a:ext uri="{FF2B5EF4-FFF2-40B4-BE49-F238E27FC236}">
                <a16:creationId xmlns:a16="http://schemas.microsoft.com/office/drawing/2014/main" id="{82DC15A6-059F-43E9-AEB9-A2A1EB21C816}"/>
              </a:ext>
            </a:extLst>
          </p:cNvPr>
          <p:cNvSpPr>
            <a:spLocks xmlns:a="http://schemas.openxmlformats.org/drawingml/2006/main" noGrp="1"/>
          </p:cNvSpPr>
          <p:nvPr/>
        </p:nvSpPr>
        <p:spPr>
          <a:xfrm xmlns:a="http://schemas.openxmlformats.org/drawingml/2006/main">
            <a:off x="609600" y="4762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233B"/>
                </a:solidFill>
                <a:latin typeface="Arial"/>
                <a:ea typeface="Arial"/>
                <a:cs typeface="Arial"/>
              </a:defRPr>
            </a:defPPr>
            <a:lvl1pPr algn="l">
              <a:defRPr sz="2250" b="0">
                <a:solidFill>
                  <a:srgbClr val="14233B"/>
                </a:solidFill>
                <a:latin typeface="Arial"/>
                <a:ea typeface="Arial"/>
                <a:cs typeface="Arial"/>
              </a:defRPr>
            </a:lvl1pPr>
            <a:lvl2pPr algn="l">
              <a:defRPr sz="2250" b="0">
                <a:solidFill>
                  <a:srgbClr val="14233B"/>
                </a:solidFill>
                <a:latin typeface="Arial"/>
                <a:ea typeface="Arial"/>
                <a:cs typeface="Arial"/>
              </a:defRPr>
            </a:lvl2pPr>
            <a:lvl3pPr algn="l">
              <a:defRPr sz="2250" b="0">
                <a:solidFill>
                  <a:srgbClr val="14233B"/>
                </a:solidFill>
                <a:latin typeface="Arial"/>
                <a:ea typeface="Arial"/>
                <a:cs typeface="Arial"/>
              </a:defRPr>
            </a:lvl3pPr>
            <a:lvl4pPr algn="l">
              <a:defRPr sz="2250" b="0">
                <a:solidFill>
                  <a:srgbClr val="14233B"/>
                </a:solidFill>
                <a:latin typeface="Arial"/>
                <a:ea typeface="Arial"/>
                <a:cs typeface="Arial"/>
              </a:defRPr>
            </a:lvl4pPr>
            <a:lvl5pPr algn="l">
              <a:defRPr sz="2250" b="0">
                <a:solidFill>
                  <a:srgbClr val="14233B"/>
                </a:solidFill>
                <a:latin typeface="Arial"/>
                <a:ea typeface="Arial"/>
                <a:cs typeface="Arial"/>
              </a:defRPr>
            </a:lvl5pPr>
            <a:lvl6pPr algn="l">
              <a:defRPr sz="2250" b="0">
                <a:solidFill>
                  <a:srgbClr val="14233B"/>
                </a:solidFill>
                <a:latin typeface="Arial"/>
                <a:ea typeface="Arial"/>
                <a:cs typeface="Arial"/>
              </a:defRPr>
            </a:lvl6pPr>
            <a:lvl7pPr algn="l">
              <a:defRPr sz="2250" b="0">
                <a:solidFill>
                  <a:srgbClr val="14233B"/>
                </a:solidFill>
                <a:latin typeface="Arial"/>
                <a:ea typeface="Arial"/>
                <a:cs typeface="Arial"/>
              </a:defRPr>
            </a:lvl7pPr>
            <a:lvl8pPr algn="l">
              <a:defRPr sz="2250" b="0">
                <a:solidFill>
                  <a:srgbClr val="14233B"/>
                </a:solidFill>
                <a:latin typeface="Arial"/>
                <a:ea typeface="Arial"/>
                <a:cs typeface="Arial"/>
              </a:defRPr>
            </a:lvl8pPr>
            <a:lvl9pPr algn="l">
              <a:defRPr sz="2250" b="0">
                <a:solidFill>
                  <a:srgbClr val="14233B"/>
                </a:solidFill>
                <a:latin typeface="Arial"/>
                <a:ea typeface="Arial"/>
                <a:cs typeface="Arial"/>
              </a:defRPr>
            </a:lvl9pPr>
          </a:lstStyle>
          <a:p xmlns:a="http://schemas.openxmlformats.org/drawingml/2006/main">
            <a:pPr algn="l">
              <a:defRPr sz="2250" b="0">
                <a:solidFill>
                  <a:srgbClr val="14233B"/>
                </a:solidFill>
                <a:latin typeface="Arial"/>
                <a:ea typeface="Arial"/>
                <a:cs typeface="Arial"/>
              </a:defRPr>
            </a:pPr>
            <a:r>
              <a:rPr sz="2250" b="0">
                <a:solidFill>
                  <a:srgbClr val="14233B"/>
                </a:solidFill>
                <a:latin typeface="Arial"/>
                <a:ea typeface="Arial"/>
                <a:cs typeface="Arial"/>
              </a:rPr>
              <a:t>Next: S02 develops vectors, inner products and matrices.</a:t>
            </a:r>
          </a:p>
        </p:txBody>
      </p:sp>
      <p:sp>
        <p:nvSpPr>
          <p:cNvPr id="8" name="">
            <a:extLst xmlns:a="http://schemas.openxmlformats.org/drawingml/2006/main">
              <a:ext uri="{FF2B5EF4-FFF2-40B4-BE49-F238E27FC236}">
                <a16:creationId xmlns:a16="http://schemas.microsoft.com/office/drawing/2014/main" id="{260B82D2-C25B-4D29-86FA-863C349C0B09}"/>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20 / 24</a:t>
            </a:r>
          </a:p>
        </p:txBody>
      </p:sp>
    </p:spTree>
    <p:extLst>
      <p:ext uri="{BB962C8B-B14F-4D97-AF65-F5344CB8AC3E}">
        <p14:creationId xmlns:p14="http://schemas.microsoft.com/office/powerpoint/2010/main" val="1731501408"/>
      </p:ext>
    </p:extLst>
  </p:cSld>
</p:sld>
</file>

<file path=ppt/slides/slide2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232BAB-644C-4E75-BF79-341632028E52}"/>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REFERENCE</a:t>
            </a:r>
          </a:p>
        </p:txBody>
      </p:sp>
      <p:sp>
        <p:nvSpPr>
          <p:cNvPr id="3" name="">
            <a:extLst xmlns:a="http://schemas.openxmlformats.org/drawingml/2006/main">
              <a:ext uri="{FF2B5EF4-FFF2-40B4-BE49-F238E27FC236}">
                <a16:creationId xmlns:a16="http://schemas.microsoft.com/office/drawing/2014/main" id="{23751AF7-463A-43F7-928E-D342CA7934F5}"/>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Worked practice answers</a:t>
            </a:r>
          </a:p>
        </p:txBody>
      </p:sp>
      <p:sp>
        <p:nvSpPr>
          <p:cNvPr id="4" name="">
            <a:extLst xmlns:a="http://schemas.openxmlformats.org/drawingml/2006/main">
              <a:ext uri="{FF2B5EF4-FFF2-40B4-BE49-F238E27FC236}">
                <a16:creationId xmlns:a16="http://schemas.microsoft.com/office/drawing/2014/main" id="{D8275E69-58B6-4514-9429-9A60C1D3911E}"/>
              </a:ext>
            </a:extLst>
          </p:cNvPr>
          <p:cNvSpPr>
            <a:spLocks xmlns:a="http://schemas.openxmlformats.org/drawingml/2006/main" noGrp="1"/>
          </p:cNvSpPr>
          <p:nvPr/>
        </p:nvSpPr>
        <p:spPr>
          <a:xfrm xmlns:a="http://schemas.openxmlformats.org/drawingml/2006/main">
            <a:off x="609600" y="1809750"/>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(−3 + 4i)* = −3 − 4i       |−3 + 4i|² = 25</a:t>
            </a:r>
          </a:p>
        </p:txBody>
      </p:sp>
      <p:sp>
        <p:nvSpPr>
          <p:cNvPr id="5" name="">
            <a:extLst xmlns:a="http://schemas.openxmlformats.org/drawingml/2006/main">
              <a:ext uri="{FF2B5EF4-FFF2-40B4-BE49-F238E27FC236}">
                <a16:creationId xmlns:a16="http://schemas.microsoft.com/office/drawing/2014/main" id="{CA832BFC-3AA1-48A5-AE2C-49B45BD2D685}"/>
              </a:ext>
            </a:extLst>
          </p:cNvPr>
          <p:cNvSpPr>
            <a:spLocks xmlns:a="http://schemas.openxmlformats.org/drawingml/2006/main" noGrp="1"/>
          </p:cNvSpPr>
          <p:nvPr/>
        </p:nvSpPr>
        <p:spPr>
          <a:xfrm xmlns:a="http://schemas.openxmlformats.org/drawingml/2006/main">
            <a:off x="609600" y="2218373"/>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((1 − i)/2)² = −i/2       |(1 − i)/2|² = 1/2</a:t>
            </a:r>
          </a:p>
        </p:txBody>
      </p:sp>
      <p:sp>
        <p:nvSpPr>
          <p:cNvPr id="6" name="">
            <a:extLst xmlns:a="http://schemas.openxmlformats.org/drawingml/2006/main">
              <a:ext uri="{FF2B5EF4-FFF2-40B4-BE49-F238E27FC236}">
                <a16:creationId xmlns:a16="http://schemas.microsoft.com/office/drawing/2014/main" id="{04099167-2ECF-46B0-A1AA-921C4B63FFD4}"/>
              </a:ext>
            </a:extLst>
          </p:cNvPr>
          <p:cNvSpPr>
            <a:spLocks xmlns:a="http://schemas.openxmlformats.org/drawingml/2006/main" noGrp="1"/>
          </p:cNvSpPr>
          <p:nvPr/>
        </p:nvSpPr>
        <p:spPr>
          <a:xfrm xmlns:a="http://schemas.openxmlformats.org/drawingml/2006/main">
            <a:off x="609600" y="2626995"/>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2 e^(iπ/3) = 2(1/2 + i√3/2) = 1 + i√3</a:t>
            </a:r>
          </a:p>
        </p:txBody>
      </p:sp>
      <p:sp>
        <p:nvSpPr>
          <p:cNvPr id="7" name="">
            <a:extLst xmlns:a="http://schemas.openxmlformats.org/drawingml/2006/main">
              <a:ext uri="{FF2B5EF4-FFF2-40B4-BE49-F238E27FC236}">
                <a16:creationId xmlns:a16="http://schemas.microsoft.com/office/drawing/2014/main" id="{F885BD00-CB36-4BAA-A172-B4863C026DA4}"/>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Quadrant II gives atan2(4, −3) ≈ 2.214297 rad.</a:t>
            </a:r>
          </a:p>
        </p:txBody>
      </p:sp>
      <p:sp>
        <p:nvSpPr>
          <p:cNvPr id="8" name="">
            <a:extLst xmlns:a="http://schemas.openxmlformats.org/drawingml/2006/main">
              <a:ext uri="{FF2B5EF4-FFF2-40B4-BE49-F238E27FC236}">
                <a16:creationId xmlns:a16="http://schemas.microsoft.com/office/drawing/2014/main" id="{93E56261-B581-4351-8453-0762C0BFDFD2}"/>
              </a:ext>
            </a:extLst>
          </p:cNvPr>
          <p:cNvSpPr>
            <a:spLocks xmlns:a="http://schemas.openxmlformats.org/drawingml/2006/main" noGrp="1"/>
          </p:cNvSpPr>
          <p:nvPr/>
        </p:nvSpPr>
        <p:spPr>
          <a:xfrm xmlns:a="http://schemas.openxmlformats.org/drawingml/2006/main">
            <a:off x="609600" y="4610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The phase of a nonzero number is equivalent modulo 2π.</a:t>
            </a:r>
          </a:p>
        </p:txBody>
      </p:sp>
      <p:sp>
        <p:nvSpPr>
          <p:cNvPr id="9" name="">
            <a:extLst xmlns:a="http://schemas.openxmlformats.org/drawingml/2006/main">
              <a:ext uri="{FF2B5EF4-FFF2-40B4-BE49-F238E27FC236}">
                <a16:creationId xmlns:a16="http://schemas.microsoft.com/office/drawing/2014/main" id="{64335F26-6EF0-45E0-98B3-0DE90B5D4387}"/>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21 / 24</a:t>
            </a:r>
          </a:p>
        </p:txBody>
      </p:sp>
    </p:spTree>
    <p:extLst>
      <p:ext uri="{BB962C8B-B14F-4D97-AF65-F5344CB8AC3E}">
        <p14:creationId xmlns:p14="http://schemas.microsoft.com/office/powerpoint/2010/main" val="1357757882"/>
      </p:ext>
    </p:extLst>
  </p:cSld>
</p:sld>
</file>

<file path=ppt/slides/slide2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A4BABA3-50D0-4722-B5AB-3165DE2464A0}"/>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REFERENCE</a:t>
            </a:r>
          </a:p>
        </p:txBody>
      </p:sp>
      <p:sp>
        <p:nvSpPr>
          <p:cNvPr id="3" name="">
            <a:extLst xmlns:a="http://schemas.openxmlformats.org/drawingml/2006/main">
              <a:ext uri="{FF2B5EF4-FFF2-40B4-BE49-F238E27FC236}">
                <a16:creationId xmlns:a16="http://schemas.microsoft.com/office/drawing/2014/main" id="{4F840164-0D61-4AD0-BFDE-6A56C076D79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Global and relative phase</a:t>
            </a:r>
          </a:p>
        </p:txBody>
      </p:sp>
      <p:sp>
        <p:nvSpPr>
          <p:cNvPr id="4" name="">
            <a:extLst xmlns:a="http://schemas.openxmlformats.org/drawingml/2006/main">
              <a:ext uri="{FF2B5EF4-FFF2-40B4-BE49-F238E27FC236}">
                <a16:creationId xmlns:a16="http://schemas.microsoft.com/office/drawing/2014/main" id="{D0023C32-28EC-44B4-BFD4-AA0FAB5950C0}"/>
              </a:ext>
            </a:extLst>
          </p:cNvPr>
          <p:cNvSpPr>
            <a:spLocks xmlns:a="http://schemas.openxmlformats.org/drawingml/2006/main" noGrp="1"/>
          </p:cNvSpPr>
          <p:nvPr/>
        </p:nvSpPr>
        <p:spPr>
          <a:xfrm xmlns:a="http://schemas.openxmlformats.org/drawingml/2006/main">
            <a:off x="609600" y="1809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ψ = (α, β)</a:t>
            </a:r>
          </a:p>
        </p:txBody>
      </p:sp>
      <p:sp>
        <p:nvSpPr>
          <p:cNvPr id="5" name="">
            <a:extLst xmlns:a="http://schemas.openxmlformats.org/drawingml/2006/main">
              <a:ext uri="{FF2B5EF4-FFF2-40B4-BE49-F238E27FC236}">
                <a16:creationId xmlns:a16="http://schemas.microsoft.com/office/drawing/2014/main" id="{83F42ED5-6319-4948-84FD-B1DBE3E4B6F0}"/>
              </a:ext>
            </a:extLst>
          </p:cNvPr>
          <p:cNvSpPr>
            <a:spLocks xmlns:a="http://schemas.openxmlformats.org/drawingml/2006/main" noGrp="1"/>
          </p:cNvSpPr>
          <p:nvPr/>
        </p:nvSpPr>
        <p:spPr>
          <a:xfrm xmlns:a="http://schemas.openxmlformats.org/drawingml/2006/main">
            <a:off x="609600" y="2305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Global phase: e^(iχ)ψ = (e^(iχ)α, e^(iχ)β)</a:t>
            </a:r>
          </a:p>
        </p:txBody>
      </p:sp>
      <p:sp>
        <p:nvSpPr>
          <p:cNvPr id="6" name="">
            <a:extLst xmlns:a="http://schemas.openxmlformats.org/drawingml/2006/main">
              <a:ext uri="{FF2B5EF4-FFF2-40B4-BE49-F238E27FC236}">
                <a16:creationId xmlns:a16="http://schemas.microsoft.com/office/drawing/2014/main" id="{8B291A48-1FE9-4F2C-B5EA-A0C1B2700F1A}"/>
              </a:ext>
            </a:extLst>
          </p:cNvPr>
          <p:cNvSpPr>
            <a:spLocks xmlns:a="http://schemas.openxmlformats.org/drawingml/2006/main" noGrp="1"/>
          </p:cNvSpPr>
          <p:nvPr/>
        </p:nvSpPr>
        <p:spPr>
          <a:xfrm xmlns:a="http://schemas.openxmlformats.org/drawingml/2006/main">
            <a:off x="609600" y="2800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33B"/>
                </a:solidFill>
                <a:latin typeface="Arial"/>
                <a:ea typeface="Arial"/>
                <a:cs typeface="Arial"/>
              </a:defRPr>
            </a:defPPr>
            <a:lvl1pPr algn="l">
              <a:defRPr sz="3000" b="1">
                <a:solidFill>
                  <a:srgbClr val="14233B"/>
                </a:solidFill>
                <a:latin typeface="Arial"/>
                <a:ea typeface="Arial"/>
                <a:cs typeface="Arial"/>
              </a:defRPr>
            </a:lvl1pPr>
            <a:lvl2pPr algn="l">
              <a:defRPr sz="3000" b="1">
                <a:solidFill>
                  <a:srgbClr val="14233B"/>
                </a:solidFill>
                <a:latin typeface="Arial"/>
                <a:ea typeface="Arial"/>
                <a:cs typeface="Arial"/>
              </a:defRPr>
            </a:lvl2pPr>
            <a:lvl3pPr algn="l">
              <a:defRPr sz="3000" b="1">
                <a:solidFill>
                  <a:srgbClr val="14233B"/>
                </a:solidFill>
                <a:latin typeface="Arial"/>
                <a:ea typeface="Arial"/>
                <a:cs typeface="Arial"/>
              </a:defRPr>
            </a:lvl3pPr>
            <a:lvl4pPr algn="l">
              <a:defRPr sz="3000" b="1">
                <a:solidFill>
                  <a:srgbClr val="14233B"/>
                </a:solidFill>
                <a:latin typeface="Arial"/>
                <a:ea typeface="Arial"/>
                <a:cs typeface="Arial"/>
              </a:defRPr>
            </a:lvl4pPr>
            <a:lvl5pPr algn="l">
              <a:defRPr sz="3000" b="1">
                <a:solidFill>
                  <a:srgbClr val="14233B"/>
                </a:solidFill>
                <a:latin typeface="Arial"/>
                <a:ea typeface="Arial"/>
                <a:cs typeface="Arial"/>
              </a:defRPr>
            </a:lvl5pPr>
            <a:lvl6pPr algn="l">
              <a:defRPr sz="3000" b="1">
                <a:solidFill>
                  <a:srgbClr val="14233B"/>
                </a:solidFill>
                <a:latin typeface="Arial"/>
                <a:ea typeface="Arial"/>
                <a:cs typeface="Arial"/>
              </a:defRPr>
            </a:lvl6pPr>
            <a:lvl7pPr algn="l">
              <a:defRPr sz="3000" b="1">
                <a:solidFill>
                  <a:srgbClr val="14233B"/>
                </a:solidFill>
                <a:latin typeface="Arial"/>
                <a:ea typeface="Arial"/>
                <a:cs typeface="Arial"/>
              </a:defRPr>
            </a:lvl7pPr>
            <a:lvl8pPr algn="l">
              <a:defRPr sz="3000" b="1">
                <a:solidFill>
                  <a:srgbClr val="14233B"/>
                </a:solidFill>
                <a:latin typeface="Arial"/>
                <a:ea typeface="Arial"/>
                <a:cs typeface="Arial"/>
              </a:defRPr>
            </a:lvl8pPr>
            <a:lvl9pPr algn="l">
              <a:defRPr sz="3000" b="1">
                <a:solidFill>
                  <a:srgbClr val="14233B"/>
                </a:solidFill>
                <a:latin typeface="Arial"/>
                <a:ea typeface="Arial"/>
                <a:cs typeface="Arial"/>
              </a:defRPr>
            </a:lvl9pPr>
          </a:lstStyle>
          <a:p xmlns:a="http://schemas.openxmlformats.org/drawingml/2006/main">
            <a:pPr algn="l">
              <a:defRPr sz="3000" b="1">
                <a:solidFill>
                  <a:srgbClr val="14233B"/>
                </a:solidFill>
                <a:latin typeface="Arial"/>
                <a:ea typeface="Arial"/>
                <a:cs typeface="Arial"/>
              </a:defRPr>
            </a:pPr>
            <a:r>
              <a:rPr sz="3000" b="1">
                <a:solidFill>
                  <a:srgbClr val="14233B"/>
                </a:solidFill>
                <a:latin typeface="Arial"/>
                <a:ea typeface="Arial"/>
                <a:cs typeface="Arial"/>
              </a:rPr>
              <a:t>Relative phase change: (α, e^(iφ)β)</a:t>
            </a:r>
          </a:p>
        </p:txBody>
      </p:sp>
      <p:sp>
        <p:nvSpPr>
          <p:cNvPr id="7" name="">
            <a:extLst xmlns:a="http://schemas.openxmlformats.org/drawingml/2006/main">
              <a:ext uri="{FF2B5EF4-FFF2-40B4-BE49-F238E27FC236}">
                <a16:creationId xmlns:a16="http://schemas.microsoft.com/office/drawing/2014/main" id="{615A0C3B-F69A-43C3-A139-F3EED34E82C7}"/>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common phase cancels from every measurement probability.</a:t>
            </a:r>
          </a:p>
        </p:txBody>
      </p:sp>
      <p:sp>
        <p:nvSpPr>
          <p:cNvPr id="8" name="">
            <a:extLst xmlns:a="http://schemas.openxmlformats.org/drawingml/2006/main">
              <a:ext uri="{FF2B5EF4-FFF2-40B4-BE49-F238E27FC236}">
                <a16:creationId xmlns:a16="http://schemas.microsoft.com/office/drawing/2014/main" id="{0EE81DDF-82FE-41B0-A094-F9B3F1CE42C6}"/>
              </a:ext>
            </a:extLst>
          </p:cNvPr>
          <p:cNvSpPr>
            <a:spLocks xmlns:a="http://schemas.openxmlformats.org/drawingml/2006/main" noGrp="1"/>
          </p:cNvSpPr>
          <p:nvPr/>
        </p:nvSpPr>
        <p:spPr>
          <a:xfrm xmlns:a="http://schemas.openxmlformats.org/drawingml/2006/main">
            <a:off x="609600" y="46101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A relative phase can change probabilities in another measurement basis.</a:t>
            </a:r>
          </a:p>
        </p:txBody>
      </p:sp>
      <p:sp>
        <p:nvSpPr>
          <p:cNvPr id="9" name="">
            <a:extLst xmlns:a="http://schemas.openxmlformats.org/drawingml/2006/main">
              <a:ext uri="{FF2B5EF4-FFF2-40B4-BE49-F238E27FC236}">
                <a16:creationId xmlns:a16="http://schemas.microsoft.com/office/drawing/2014/main" id="{3DE1E9CD-F77C-4F0C-A439-60E7D5108B9D}"/>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22 / 24</a:t>
            </a:r>
          </a:p>
        </p:txBody>
      </p:sp>
    </p:spTree>
    <p:extLst>
      <p:ext uri="{BB962C8B-B14F-4D97-AF65-F5344CB8AC3E}">
        <p14:creationId xmlns:p14="http://schemas.microsoft.com/office/powerpoint/2010/main" val="406848858"/>
      </p:ext>
    </p:extLst>
  </p:cSld>
</p:sld>
</file>

<file path=ppt/slides/slide2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AE75CA6-B9D2-4ED6-8F38-870EC7D04B5A}"/>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REFERENCE</a:t>
            </a:r>
          </a:p>
        </p:txBody>
      </p:sp>
      <p:sp>
        <p:nvSpPr>
          <p:cNvPr id="3" name="">
            <a:extLst xmlns:a="http://schemas.openxmlformats.org/drawingml/2006/main">
              <a:ext uri="{FF2B5EF4-FFF2-40B4-BE49-F238E27FC236}">
                <a16:creationId xmlns:a16="http://schemas.microsoft.com/office/drawing/2014/main" id="{9750CABD-8028-4A41-B0E6-FB5601A3260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Why Euler’s formula works</a:t>
            </a:r>
          </a:p>
        </p:txBody>
      </p:sp>
      <p:sp>
        <p:nvSpPr>
          <p:cNvPr id="4" name="">
            <a:extLst xmlns:a="http://schemas.openxmlformats.org/drawingml/2006/main">
              <a:ext uri="{FF2B5EF4-FFF2-40B4-BE49-F238E27FC236}">
                <a16:creationId xmlns:a16="http://schemas.microsoft.com/office/drawing/2014/main" id="{26512472-6450-4B9F-935C-28E1FF351301}"/>
              </a:ext>
            </a:extLst>
          </p:cNvPr>
          <p:cNvSpPr>
            <a:spLocks xmlns:a="http://schemas.openxmlformats.org/drawingml/2006/main" noGrp="1"/>
          </p:cNvSpPr>
          <p:nvPr/>
        </p:nvSpPr>
        <p:spPr>
          <a:xfrm xmlns:a="http://schemas.openxmlformats.org/drawingml/2006/main">
            <a:off x="609600" y="1809750"/>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e^(iφ) = 1 + iφ + (iφ)²/2! + (iφ)³/3! + ⋯</a:t>
            </a:r>
          </a:p>
        </p:txBody>
      </p:sp>
      <p:sp>
        <p:nvSpPr>
          <p:cNvPr id="5" name="">
            <a:extLst xmlns:a="http://schemas.openxmlformats.org/drawingml/2006/main">
              <a:ext uri="{FF2B5EF4-FFF2-40B4-BE49-F238E27FC236}">
                <a16:creationId xmlns:a16="http://schemas.microsoft.com/office/drawing/2014/main" id="{EFCC1451-2490-4755-9AE2-4AB3219CD07B}"/>
              </a:ext>
            </a:extLst>
          </p:cNvPr>
          <p:cNvSpPr>
            <a:spLocks xmlns:a="http://schemas.openxmlformats.org/drawingml/2006/main" noGrp="1"/>
          </p:cNvSpPr>
          <p:nvPr/>
        </p:nvSpPr>
        <p:spPr>
          <a:xfrm xmlns:a="http://schemas.openxmlformats.org/drawingml/2006/main">
            <a:off x="609600" y="2218373"/>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Real terms: 1 − φ²/2! + φ⁴/4! − ⋯ = cos φ</a:t>
            </a:r>
          </a:p>
        </p:txBody>
      </p:sp>
      <p:sp>
        <p:nvSpPr>
          <p:cNvPr id="6" name="">
            <a:extLst xmlns:a="http://schemas.openxmlformats.org/drawingml/2006/main">
              <a:ext uri="{FF2B5EF4-FFF2-40B4-BE49-F238E27FC236}">
                <a16:creationId xmlns:a16="http://schemas.microsoft.com/office/drawing/2014/main" id="{FB861E41-6678-4F35-B7C7-0161821B1959}"/>
              </a:ext>
            </a:extLst>
          </p:cNvPr>
          <p:cNvSpPr>
            <a:spLocks xmlns:a="http://schemas.openxmlformats.org/drawingml/2006/main" noGrp="1"/>
          </p:cNvSpPr>
          <p:nvPr/>
        </p:nvSpPr>
        <p:spPr>
          <a:xfrm xmlns:a="http://schemas.openxmlformats.org/drawingml/2006/main">
            <a:off x="609600" y="2626995"/>
            <a:ext cx="109728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4233B"/>
                </a:solidFill>
                <a:latin typeface="Arial"/>
                <a:ea typeface="Arial"/>
                <a:cs typeface="Arial"/>
              </a:defRPr>
            </a:defPPr>
            <a:lvl1pPr algn="l">
              <a:defRPr sz="2475" b="1">
                <a:solidFill>
                  <a:srgbClr val="14233B"/>
                </a:solidFill>
                <a:latin typeface="Arial"/>
                <a:ea typeface="Arial"/>
                <a:cs typeface="Arial"/>
              </a:defRPr>
            </a:lvl1pPr>
            <a:lvl2pPr algn="l">
              <a:defRPr sz="2475" b="1">
                <a:solidFill>
                  <a:srgbClr val="14233B"/>
                </a:solidFill>
                <a:latin typeface="Arial"/>
                <a:ea typeface="Arial"/>
                <a:cs typeface="Arial"/>
              </a:defRPr>
            </a:lvl2pPr>
            <a:lvl3pPr algn="l">
              <a:defRPr sz="2475" b="1">
                <a:solidFill>
                  <a:srgbClr val="14233B"/>
                </a:solidFill>
                <a:latin typeface="Arial"/>
                <a:ea typeface="Arial"/>
                <a:cs typeface="Arial"/>
              </a:defRPr>
            </a:lvl3pPr>
            <a:lvl4pPr algn="l">
              <a:defRPr sz="2475" b="1">
                <a:solidFill>
                  <a:srgbClr val="14233B"/>
                </a:solidFill>
                <a:latin typeface="Arial"/>
                <a:ea typeface="Arial"/>
                <a:cs typeface="Arial"/>
              </a:defRPr>
            </a:lvl4pPr>
            <a:lvl5pPr algn="l">
              <a:defRPr sz="2475" b="1">
                <a:solidFill>
                  <a:srgbClr val="14233B"/>
                </a:solidFill>
                <a:latin typeface="Arial"/>
                <a:ea typeface="Arial"/>
                <a:cs typeface="Arial"/>
              </a:defRPr>
            </a:lvl5pPr>
            <a:lvl6pPr algn="l">
              <a:defRPr sz="2475" b="1">
                <a:solidFill>
                  <a:srgbClr val="14233B"/>
                </a:solidFill>
                <a:latin typeface="Arial"/>
                <a:ea typeface="Arial"/>
                <a:cs typeface="Arial"/>
              </a:defRPr>
            </a:lvl6pPr>
            <a:lvl7pPr algn="l">
              <a:defRPr sz="2475" b="1">
                <a:solidFill>
                  <a:srgbClr val="14233B"/>
                </a:solidFill>
                <a:latin typeface="Arial"/>
                <a:ea typeface="Arial"/>
                <a:cs typeface="Arial"/>
              </a:defRPr>
            </a:lvl7pPr>
            <a:lvl8pPr algn="l">
              <a:defRPr sz="2475" b="1">
                <a:solidFill>
                  <a:srgbClr val="14233B"/>
                </a:solidFill>
                <a:latin typeface="Arial"/>
                <a:ea typeface="Arial"/>
                <a:cs typeface="Arial"/>
              </a:defRPr>
            </a:lvl8pPr>
            <a:lvl9pPr algn="l">
              <a:defRPr sz="2475" b="1">
                <a:solidFill>
                  <a:srgbClr val="14233B"/>
                </a:solidFill>
                <a:latin typeface="Arial"/>
                <a:ea typeface="Arial"/>
                <a:cs typeface="Arial"/>
              </a:defRPr>
            </a:lvl9pPr>
          </a:lstStyle>
          <a:p xmlns:a="http://schemas.openxmlformats.org/drawingml/2006/main">
            <a:pPr algn="l">
              <a:defRPr sz="2475" b="1">
                <a:solidFill>
                  <a:srgbClr val="14233B"/>
                </a:solidFill>
                <a:latin typeface="Arial"/>
                <a:ea typeface="Arial"/>
                <a:cs typeface="Arial"/>
              </a:defRPr>
            </a:pPr>
            <a:r>
              <a:rPr sz="2475" b="1">
                <a:solidFill>
                  <a:srgbClr val="14233B"/>
                </a:solidFill>
                <a:latin typeface="Arial"/>
                <a:ea typeface="Arial"/>
                <a:cs typeface="Arial"/>
              </a:rPr>
              <a:t>Imaginary terms: i(φ − φ³/3! + ⋯) = i sin φ</a:t>
            </a:r>
          </a:p>
        </p:txBody>
      </p:sp>
      <p:sp>
        <p:nvSpPr>
          <p:cNvPr id="7" name="">
            <a:extLst xmlns:a="http://schemas.openxmlformats.org/drawingml/2006/main">
              <a:ext uri="{FF2B5EF4-FFF2-40B4-BE49-F238E27FC236}">
                <a16:creationId xmlns:a16="http://schemas.microsoft.com/office/drawing/2014/main" id="{2B38C0F0-ADEC-4C03-B133-524D21C05C0D}"/>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33B"/>
                </a:solidFill>
                <a:latin typeface="Arial"/>
                <a:ea typeface="Arial"/>
                <a:cs typeface="Arial"/>
              </a:defRPr>
            </a:defPPr>
            <a:lvl1pPr algn="l">
              <a:defRPr sz="2025" b="0">
                <a:solidFill>
                  <a:srgbClr val="14233B"/>
                </a:solidFill>
                <a:latin typeface="Arial"/>
                <a:ea typeface="Arial"/>
                <a:cs typeface="Arial"/>
              </a:defRPr>
            </a:lvl1pPr>
            <a:lvl2pPr algn="l">
              <a:defRPr sz="2025" b="0">
                <a:solidFill>
                  <a:srgbClr val="14233B"/>
                </a:solidFill>
                <a:latin typeface="Arial"/>
                <a:ea typeface="Arial"/>
                <a:cs typeface="Arial"/>
              </a:defRPr>
            </a:lvl2pPr>
            <a:lvl3pPr algn="l">
              <a:defRPr sz="2025" b="0">
                <a:solidFill>
                  <a:srgbClr val="14233B"/>
                </a:solidFill>
                <a:latin typeface="Arial"/>
                <a:ea typeface="Arial"/>
                <a:cs typeface="Arial"/>
              </a:defRPr>
            </a:lvl3pPr>
            <a:lvl4pPr algn="l">
              <a:defRPr sz="2025" b="0">
                <a:solidFill>
                  <a:srgbClr val="14233B"/>
                </a:solidFill>
                <a:latin typeface="Arial"/>
                <a:ea typeface="Arial"/>
                <a:cs typeface="Arial"/>
              </a:defRPr>
            </a:lvl4pPr>
            <a:lvl5pPr algn="l">
              <a:defRPr sz="2025" b="0">
                <a:solidFill>
                  <a:srgbClr val="14233B"/>
                </a:solidFill>
                <a:latin typeface="Arial"/>
                <a:ea typeface="Arial"/>
                <a:cs typeface="Arial"/>
              </a:defRPr>
            </a:lvl5pPr>
            <a:lvl6pPr algn="l">
              <a:defRPr sz="2025" b="0">
                <a:solidFill>
                  <a:srgbClr val="14233B"/>
                </a:solidFill>
                <a:latin typeface="Arial"/>
                <a:ea typeface="Arial"/>
                <a:cs typeface="Arial"/>
              </a:defRPr>
            </a:lvl6pPr>
            <a:lvl7pPr algn="l">
              <a:defRPr sz="2025" b="0">
                <a:solidFill>
                  <a:srgbClr val="14233B"/>
                </a:solidFill>
                <a:latin typeface="Arial"/>
                <a:ea typeface="Arial"/>
                <a:cs typeface="Arial"/>
              </a:defRPr>
            </a:lvl7pPr>
            <a:lvl8pPr algn="l">
              <a:defRPr sz="2025" b="0">
                <a:solidFill>
                  <a:srgbClr val="14233B"/>
                </a:solidFill>
                <a:latin typeface="Arial"/>
                <a:ea typeface="Arial"/>
                <a:cs typeface="Arial"/>
              </a:defRPr>
            </a:lvl8pPr>
            <a:lvl9pPr algn="l">
              <a:defRPr sz="2025" b="0">
                <a:solidFill>
                  <a:srgbClr val="14233B"/>
                </a:solidFill>
                <a:latin typeface="Arial"/>
                <a:ea typeface="Arial"/>
                <a:cs typeface="Arial"/>
              </a:defRPr>
            </a:lvl9pPr>
          </a:lstStyle>
          <a:p xmlns:a="http://schemas.openxmlformats.org/drawingml/2006/main">
            <a:pPr algn="l">
              <a:defRPr sz="2025" b="0">
                <a:solidFill>
                  <a:srgbClr val="14233B"/>
                </a:solidFill>
                <a:latin typeface="Arial"/>
                <a:ea typeface="Arial"/>
                <a:cs typeface="Arial"/>
              </a:defRPr>
            </a:pPr>
            <a:r>
              <a:rPr sz="2025" b="0">
                <a:solidFill>
                  <a:srgbClr val="14233B"/>
                </a:solidFill>
                <a:latin typeface="Arial"/>
                <a:ea typeface="Arial"/>
                <a:cs typeface="Arial"/>
              </a:rPr>
              <a:t>Powers of i repeat: 1, i, −1, −i, then 1 again.</a:t>
            </a:r>
          </a:p>
        </p:txBody>
      </p:sp>
      <p:sp>
        <p:nvSpPr>
          <p:cNvPr id="8" name="">
            <a:extLst xmlns:a="http://schemas.openxmlformats.org/drawingml/2006/main">
              <a:ext uri="{FF2B5EF4-FFF2-40B4-BE49-F238E27FC236}">
                <a16:creationId xmlns:a16="http://schemas.microsoft.com/office/drawing/2014/main" id="{802C8A57-9DD9-43E0-AB44-33C5517EA925}"/>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23 / 24</a:t>
            </a:r>
          </a:p>
        </p:txBody>
      </p:sp>
    </p:spTree>
    <p:extLst>
      <p:ext uri="{BB962C8B-B14F-4D97-AF65-F5344CB8AC3E}">
        <p14:creationId xmlns:p14="http://schemas.microsoft.com/office/powerpoint/2010/main" val="1006307552"/>
      </p:ext>
    </p:extLst>
  </p:cSld>
</p:sld>
</file>

<file path=ppt/slides/slide2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835602C-BDE2-4347-9E17-71CFE378FDEE}"/>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68A84"/>
                </a:solidFill>
                <a:latin typeface="Arial"/>
                <a:ea typeface="Arial"/>
                <a:cs typeface="Arial"/>
              </a:defRPr>
            </a:defPPr>
            <a:lvl1pPr algn="l">
              <a:defRPr sz="1350" b="1">
                <a:solidFill>
                  <a:srgbClr val="168A84"/>
                </a:solidFill>
                <a:latin typeface="Arial"/>
                <a:ea typeface="Arial"/>
                <a:cs typeface="Arial"/>
              </a:defRPr>
            </a:lvl1pPr>
            <a:lvl2pPr algn="l">
              <a:defRPr sz="1350" b="1">
                <a:solidFill>
                  <a:srgbClr val="168A84"/>
                </a:solidFill>
                <a:latin typeface="Arial"/>
                <a:ea typeface="Arial"/>
                <a:cs typeface="Arial"/>
              </a:defRPr>
            </a:lvl2pPr>
            <a:lvl3pPr algn="l">
              <a:defRPr sz="1350" b="1">
                <a:solidFill>
                  <a:srgbClr val="168A84"/>
                </a:solidFill>
                <a:latin typeface="Arial"/>
                <a:ea typeface="Arial"/>
                <a:cs typeface="Arial"/>
              </a:defRPr>
            </a:lvl3pPr>
            <a:lvl4pPr algn="l">
              <a:defRPr sz="1350" b="1">
                <a:solidFill>
                  <a:srgbClr val="168A84"/>
                </a:solidFill>
                <a:latin typeface="Arial"/>
                <a:ea typeface="Arial"/>
                <a:cs typeface="Arial"/>
              </a:defRPr>
            </a:lvl4pPr>
            <a:lvl5pPr algn="l">
              <a:defRPr sz="1350" b="1">
                <a:solidFill>
                  <a:srgbClr val="168A84"/>
                </a:solidFill>
                <a:latin typeface="Arial"/>
                <a:ea typeface="Arial"/>
                <a:cs typeface="Arial"/>
              </a:defRPr>
            </a:lvl5pPr>
            <a:lvl6pPr algn="l">
              <a:defRPr sz="1350" b="1">
                <a:solidFill>
                  <a:srgbClr val="168A84"/>
                </a:solidFill>
                <a:latin typeface="Arial"/>
                <a:ea typeface="Arial"/>
                <a:cs typeface="Arial"/>
              </a:defRPr>
            </a:lvl6pPr>
            <a:lvl7pPr algn="l">
              <a:defRPr sz="1350" b="1">
                <a:solidFill>
                  <a:srgbClr val="168A84"/>
                </a:solidFill>
                <a:latin typeface="Arial"/>
                <a:ea typeface="Arial"/>
                <a:cs typeface="Arial"/>
              </a:defRPr>
            </a:lvl7pPr>
            <a:lvl8pPr algn="l">
              <a:defRPr sz="1350" b="1">
                <a:solidFill>
                  <a:srgbClr val="168A84"/>
                </a:solidFill>
                <a:latin typeface="Arial"/>
                <a:ea typeface="Arial"/>
                <a:cs typeface="Arial"/>
              </a:defRPr>
            </a:lvl8pPr>
            <a:lvl9pPr algn="l">
              <a:defRPr sz="1350" b="1">
                <a:solidFill>
                  <a:srgbClr val="168A84"/>
                </a:solidFill>
                <a:latin typeface="Arial"/>
                <a:ea typeface="Arial"/>
                <a:cs typeface="Arial"/>
              </a:defRPr>
            </a:lvl9pPr>
          </a:lstStyle>
          <a:p xmlns:a="http://schemas.openxmlformats.org/drawingml/2006/main">
            <a:pPr algn="l">
              <a:defRPr sz="1350" b="1">
                <a:solidFill>
                  <a:srgbClr val="168A84"/>
                </a:solidFill>
                <a:latin typeface="Arial"/>
                <a:ea typeface="Arial"/>
                <a:cs typeface="Arial"/>
              </a:defRPr>
            </a:pPr>
            <a:r>
              <a:rPr sz="1350" b="1">
                <a:solidFill>
                  <a:srgbClr val="168A84"/>
                </a:solidFill>
                <a:latin typeface="Arial"/>
                <a:ea typeface="Arial"/>
                <a:cs typeface="Arial"/>
              </a:rPr>
              <a:t>S01  /  REFERENCE</a:t>
            </a:r>
          </a:p>
        </p:txBody>
      </p:sp>
      <p:sp>
        <p:nvSpPr>
          <p:cNvPr id="3" name="">
            <a:extLst xmlns:a="http://schemas.openxmlformats.org/drawingml/2006/main">
              <a:ext uri="{FF2B5EF4-FFF2-40B4-BE49-F238E27FC236}">
                <a16:creationId xmlns:a16="http://schemas.microsoft.com/office/drawing/2014/main" id="{DA64CCED-59F0-402F-B461-DBAE68BC7BE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33B"/>
                </a:solidFill>
                <a:latin typeface="Arial"/>
                <a:ea typeface="Arial"/>
                <a:cs typeface="Arial"/>
              </a:defRPr>
            </a:defPPr>
            <a:lvl1pPr algn="l">
              <a:defRPr sz="3300" b="1">
                <a:solidFill>
                  <a:srgbClr val="14233B"/>
                </a:solidFill>
                <a:latin typeface="Arial"/>
                <a:ea typeface="Arial"/>
                <a:cs typeface="Arial"/>
              </a:defRPr>
            </a:lvl1pPr>
            <a:lvl2pPr algn="l">
              <a:defRPr sz="3300" b="1">
                <a:solidFill>
                  <a:srgbClr val="14233B"/>
                </a:solidFill>
                <a:latin typeface="Arial"/>
                <a:ea typeface="Arial"/>
                <a:cs typeface="Arial"/>
              </a:defRPr>
            </a:lvl2pPr>
            <a:lvl3pPr algn="l">
              <a:defRPr sz="3300" b="1">
                <a:solidFill>
                  <a:srgbClr val="14233B"/>
                </a:solidFill>
                <a:latin typeface="Arial"/>
                <a:ea typeface="Arial"/>
                <a:cs typeface="Arial"/>
              </a:defRPr>
            </a:lvl3pPr>
            <a:lvl4pPr algn="l">
              <a:defRPr sz="3300" b="1">
                <a:solidFill>
                  <a:srgbClr val="14233B"/>
                </a:solidFill>
                <a:latin typeface="Arial"/>
                <a:ea typeface="Arial"/>
                <a:cs typeface="Arial"/>
              </a:defRPr>
            </a:lvl4pPr>
            <a:lvl5pPr algn="l">
              <a:defRPr sz="3300" b="1">
                <a:solidFill>
                  <a:srgbClr val="14233B"/>
                </a:solidFill>
                <a:latin typeface="Arial"/>
                <a:ea typeface="Arial"/>
                <a:cs typeface="Arial"/>
              </a:defRPr>
            </a:lvl5pPr>
            <a:lvl6pPr algn="l">
              <a:defRPr sz="3300" b="1">
                <a:solidFill>
                  <a:srgbClr val="14233B"/>
                </a:solidFill>
                <a:latin typeface="Arial"/>
                <a:ea typeface="Arial"/>
                <a:cs typeface="Arial"/>
              </a:defRPr>
            </a:lvl6pPr>
            <a:lvl7pPr algn="l">
              <a:defRPr sz="3300" b="1">
                <a:solidFill>
                  <a:srgbClr val="14233B"/>
                </a:solidFill>
                <a:latin typeface="Arial"/>
                <a:ea typeface="Arial"/>
                <a:cs typeface="Arial"/>
              </a:defRPr>
            </a:lvl7pPr>
            <a:lvl8pPr algn="l">
              <a:defRPr sz="3300" b="1">
                <a:solidFill>
                  <a:srgbClr val="14233B"/>
                </a:solidFill>
                <a:latin typeface="Arial"/>
                <a:ea typeface="Arial"/>
                <a:cs typeface="Arial"/>
              </a:defRPr>
            </a:lvl8pPr>
            <a:lvl9pPr algn="l">
              <a:defRPr sz="3300" b="1">
                <a:solidFill>
                  <a:srgbClr val="14233B"/>
                </a:solidFill>
                <a:latin typeface="Arial"/>
                <a:ea typeface="Arial"/>
                <a:cs typeface="Arial"/>
              </a:defRPr>
            </a:lvl9pPr>
          </a:lstStyle>
          <a:p xmlns:a="http://schemas.openxmlformats.org/drawingml/2006/main">
            <a:pPr algn="l">
              <a:defRPr sz="3300" b="1">
                <a:solidFill>
                  <a:srgbClr val="14233B"/>
                </a:solidFill>
                <a:latin typeface="Arial"/>
                <a:ea typeface="Arial"/>
                <a:cs typeface="Arial"/>
              </a:defRPr>
            </a:pPr>
            <a:r>
              <a:rPr sz="3300" b="1">
                <a:solidFill>
                  <a:srgbClr val="14233B"/>
                </a:solidFill>
                <a:latin typeface="Arial"/>
                <a:ea typeface="Arial"/>
                <a:cs typeface="Arial"/>
              </a:rPr>
              <a:t>Appendix · Running the supplied files</a:t>
            </a:r>
          </a:p>
        </p:txBody>
      </p:sp>
      <p:sp>
        <p:nvSpPr>
          <p:cNvPr id="4" name="">
            <a:extLst xmlns:a="http://schemas.openxmlformats.org/drawingml/2006/main">
              <a:ext uri="{FF2B5EF4-FFF2-40B4-BE49-F238E27FC236}">
                <a16:creationId xmlns:a16="http://schemas.microsoft.com/office/drawing/2014/main" id="{139FB75A-38DC-49E8-BDEF-B00D68AD6129}"/>
              </a:ext>
            </a:extLst>
          </p:cNvPr>
          <p:cNvSpPr>
            <a:spLocks xmlns:a="http://schemas.openxmlformats.org/drawingml/2006/main" noGrp="1"/>
          </p:cNvSpPr>
          <p:nvPr/>
        </p:nvSpPr>
        <p:spPr>
          <a:xfrm xmlns:a="http://schemas.openxmlformats.org/drawingml/2006/main">
            <a:off x="609600" y="1600200"/>
            <a:ext cx="10972800" cy="3238500"/>
          </a:xfrm>
          <a:prstGeom xmlns:a="http://schemas.openxmlformats.org/drawingml/2006/main" prst="rect">
            <a:avLst/>
          </a:prstGeom>
          <a:solidFill xmlns:a="http://schemas.openxmlformats.org/drawingml/2006/main">
            <a:srgbClr val="14233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89736C-1BB1-46ED-8A22-4BA8B2D05F89}"/>
              </a:ext>
            </a:extLst>
          </p:cNvPr>
          <p:cNvSpPr>
            <a:spLocks xmlns:a="http://schemas.openxmlformats.org/drawingml/2006/main" noGrp="1"/>
          </p:cNvSpPr>
          <p:nvPr/>
        </p:nvSpPr>
        <p:spPr>
          <a:xfrm xmlns:a="http://schemas.openxmlformats.org/drawingml/2006/main">
            <a:off x="800100" y="1809750"/>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Windows · PowerShell (from the repository root)</a:t>
            </a:r>
          </a:p>
        </p:txBody>
      </p:sp>
      <p:sp>
        <p:nvSpPr>
          <p:cNvPr id="6" name="">
            <a:extLst xmlns:a="http://schemas.openxmlformats.org/drawingml/2006/main">
              <a:ext uri="{FF2B5EF4-FFF2-40B4-BE49-F238E27FC236}">
                <a16:creationId xmlns:a16="http://schemas.microsoft.com/office/drawing/2014/main" id="{EF2078A4-F241-44E8-BBE1-716ECE3BA558}"/>
              </a:ext>
            </a:extLst>
          </p:cNvPr>
          <p:cNvSpPr>
            <a:spLocks xmlns:a="http://schemas.openxmlformats.org/drawingml/2006/main" noGrp="1"/>
          </p:cNvSpPr>
          <p:nvPr/>
        </p:nvSpPr>
        <p:spPr>
          <a:xfrm xmlns:a="http://schemas.openxmlformats.org/drawingml/2006/main">
            <a:off x="800100" y="2094548"/>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lectures/S01-complex-numbers/examples.py</a:t>
            </a:r>
          </a:p>
        </p:txBody>
      </p:sp>
      <p:sp>
        <p:nvSpPr>
          <p:cNvPr id="7" name="">
            <a:extLst xmlns:a="http://schemas.openxmlformats.org/drawingml/2006/main">
              <a:ext uri="{FF2B5EF4-FFF2-40B4-BE49-F238E27FC236}">
                <a16:creationId xmlns:a16="http://schemas.microsoft.com/office/drawing/2014/main" id="{96CED472-2060-43F2-9198-3D8FC9F27AC9}"/>
              </a:ext>
            </a:extLst>
          </p:cNvPr>
          <p:cNvSpPr>
            <a:spLocks xmlns:a="http://schemas.openxmlformats.org/drawingml/2006/main" noGrp="1"/>
          </p:cNvSpPr>
          <p:nvPr/>
        </p:nvSpPr>
        <p:spPr>
          <a:xfrm xmlns:a="http://schemas.openxmlformats.org/drawingml/2006/main">
            <a:off x="800100" y="2379345"/>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.\.venv\Scripts\python.exe lectures/S01-complex-numbers/starter.py</a:t>
            </a:r>
          </a:p>
        </p:txBody>
      </p:sp>
      <p:sp>
        <p:nvSpPr>
          <p:cNvPr id="8" name="">
            <a:extLst xmlns:a="http://schemas.openxmlformats.org/drawingml/2006/main">
              <a:ext uri="{FF2B5EF4-FFF2-40B4-BE49-F238E27FC236}">
                <a16:creationId xmlns:a16="http://schemas.microsoft.com/office/drawing/2014/main" id="{92DBA0C9-AF52-46FC-AC1E-4ACC2F060751}"/>
              </a:ext>
            </a:extLst>
          </p:cNvPr>
          <p:cNvSpPr>
            <a:spLocks xmlns:a="http://schemas.openxmlformats.org/drawingml/2006/main" noGrp="1"/>
          </p:cNvSpPr>
          <p:nvPr/>
        </p:nvSpPr>
        <p:spPr>
          <a:xfrm xmlns:a="http://schemas.openxmlformats.org/drawingml/2006/main">
            <a:off x="800100" y="2664143"/>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3DE2543B-DD05-4F57-93A7-2E012E053CE3}"/>
              </a:ext>
            </a:extLst>
          </p:cNvPr>
          <p:cNvSpPr>
            <a:spLocks xmlns:a="http://schemas.openxmlformats.org/drawingml/2006/main" noGrp="1"/>
          </p:cNvSpPr>
          <p:nvPr/>
        </p:nvSpPr>
        <p:spPr>
          <a:xfrm xmlns:a="http://schemas.openxmlformats.org/drawingml/2006/main">
            <a:off x="800100" y="2948940"/>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Ubuntu · Bash (from the repository root)</a:t>
            </a:r>
          </a:p>
        </p:txBody>
      </p:sp>
      <p:sp>
        <p:nvSpPr>
          <p:cNvPr id="10" name="">
            <a:extLst xmlns:a="http://schemas.openxmlformats.org/drawingml/2006/main">
              <a:ext uri="{FF2B5EF4-FFF2-40B4-BE49-F238E27FC236}">
                <a16:creationId xmlns:a16="http://schemas.microsoft.com/office/drawing/2014/main" id="{F3A1DC1E-8FFC-4FD0-8FBF-044CBABD8EE6}"/>
              </a:ext>
            </a:extLst>
          </p:cNvPr>
          <p:cNvSpPr>
            <a:spLocks xmlns:a="http://schemas.openxmlformats.org/drawingml/2006/main" noGrp="1"/>
          </p:cNvSpPr>
          <p:nvPr/>
        </p:nvSpPr>
        <p:spPr>
          <a:xfrm xmlns:a="http://schemas.openxmlformats.org/drawingml/2006/main">
            <a:off x="800100" y="3233738"/>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lectures/S01-complex-numbers/examples.py</a:t>
            </a:r>
          </a:p>
        </p:txBody>
      </p:sp>
      <p:sp>
        <p:nvSpPr>
          <p:cNvPr id="11" name="">
            <a:extLst xmlns:a="http://schemas.openxmlformats.org/drawingml/2006/main">
              <a:ext uri="{FF2B5EF4-FFF2-40B4-BE49-F238E27FC236}">
                <a16:creationId xmlns:a16="http://schemas.microsoft.com/office/drawing/2014/main" id="{3CB3A4A1-8D58-44DE-A415-EDFE810B5925}"/>
              </a:ext>
            </a:extLst>
          </p:cNvPr>
          <p:cNvSpPr>
            <a:spLocks xmlns:a="http://schemas.openxmlformats.org/drawingml/2006/main" noGrp="1"/>
          </p:cNvSpPr>
          <p:nvPr/>
        </p:nvSpPr>
        <p:spPr>
          <a:xfrm xmlns:a="http://schemas.openxmlformats.org/drawingml/2006/main">
            <a:off x="800100" y="3518535"/>
            <a:ext cx="1059180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3EE"/>
                </a:solidFill>
                <a:latin typeface="Consolas"/>
                <a:ea typeface="Consolas"/>
                <a:cs typeface="Consolas"/>
              </a:defRPr>
            </a:defPPr>
            <a:lvl1pPr algn="l">
              <a:defRPr sz="1725" b="0">
                <a:solidFill>
                  <a:srgbClr val="F5F3EE"/>
                </a:solidFill>
                <a:latin typeface="Consolas"/>
                <a:ea typeface="Consolas"/>
                <a:cs typeface="Consolas"/>
              </a:defRPr>
            </a:lvl1pPr>
            <a:lvl2pPr algn="l">
              <a:defRPr sz="1725" b="0">
                <a:solidFill>
                  <a:srgbClr val="F5F3EE"/>
                </a:solidFill>
                <a:latin typeface="Consolas"/>
                <a:ea typeface="Consolas"/>
                <a:cs typeface="Consolas"/>
              </a:defRPr>
            </a:lvl2pPr>
            <a:lvl3pPr algn="l">
              <a:defRPr sz="1725" b="0">
                <a:solidFill>
                  <a:srgbClr val="F5F3EE"/>
                </a:solidFill>
                <a:latin typeface="Consolas"/>
                <a:ea typeface="Consolas"/>
                <a:cs typeface="Consolas"/>
              </a:defRPr>
            </a:lvl3pPr>
            <a:lvl4pPr algn="l">
              <a:defRPr sz="1725" b="0">
                <a:solidFill>
                  <a:srgbClr val="F5F3EE"/>
                </a:solidFill>
                <a:latin typeface="Consolas"/>
                <a:ea typeface="Consolas"/>
                <a:cs typeface="Consolas"/>
              </a:defRPr>
            </a:lvl4pPr>
            <a:lvl5pPr algn="l">
              <a:defRPr sz="1725" b="0">
                <a:solidFill>
                  <a:srgbClr val="F5F3EE"/>
                </a:solidFill>
                <a:latin typeface="Consolas"/>
                <a:ea typeface="Consolas"/>
                <a:cs typeface="Consolas"/>
              </a:defRPr>
            </a:lvl5pPr>
            <a:lvl6pPr algn="l">
              <a:defRPr sz="1725" b="0">
                <a:solidFill>
                  <a:srgbClr val="F5F3EE"/>
                </a:solidFill>
                <a:latin typeface="Consolas"/>
                <a:ea typeface="Consolas"/>
                <a:cs typeface="Consolas"/>
              </a:defRPr>
            </a:lvl6pPr>
            <a:lvl7pPr algn="l">
              <a:defRPr sz="1725" b="0">
                <a:solidFill>
                  <a:srgbClr val="F5F3EE"/>
                </a:solidFill>
                <a:latin typeface="Consolas"/>
                <a:ea typeface="Consolas"/>
                <a:cs typeface="Consolas"/>
              </a:defRPr>
            </a:lvl7pPr>
            <a:lvl8pPr algn="l">
              <a:defRPr sz="1725" b="0">
                <a:solidFill>
                  <a:srgbClr val="F5F3EE"/>
                </a:solidFill>
                <a:latin typeface="Consolas"/>
                <a:ea typeface="Consolas"/>
                <a:cs typeface="Consolas"/>
              </a:defRPr>
            </a:lvl8pPr>
            <a:lvl9pPr algn="l">
              <a:defRPr sz="1725" b="0">
                <a:solidFill>
                  <a:srgbClr val="F5F3EE"/>
                </a:solidFill>
                <a:latin typeface="Consolas"/>
                <a:ea typeface="Consolas"/>
                <a:cs typeface="Consolas"/>
              </a:defRPr>
            </a:lvl9pPr>
          </a:lstStyle>
          <a:p xmlns:a="http://schemas.openxmlformats.org/drawingml/2006/main">
            <a:pPr algn="l">
              <a:defRPr sz="1725" b="0">
                <a:solidFill>
                  <a:srgbClr val="F5F3EE"/>
                </a:solidFill>
                <a:latin typeface="Consolas"/>
                <a:ea typeface="Consolas"/>
                <a:cs typeface="Consolas"/>
              </a:defRPr>
            </a:pPr>
            <a:r>
              <a:rPr sz="1725" b="0">
                <a:solidFill>
                  <a:srgbClr val="F5F3EE"/>
                </a:solidFill>
                <a:latin typeface="Consolas"/>
                <a:ea typeface="Consolas"/>
                <a:cs typeface="Consolas"/>
              </a:rPr>
              <a:t>./.venv/bin/python lectures/S01-complex-numbers/starter.py</a:t>
            </a:r>
          </a:p>
        </p:txBody>
      </p:sp>
      <p:sp>
        <p:nvSpPr>
          <p:cNvPr id="12" name="">
            <a:extLst xmlns:a="http://schemas.openxmlformats.org/drawingml/2006/main">
              <a:ext uri="{FF2B5EF4-FFF2-40B4-BE49-F238E27FC236}">
                <a16:creationId xmlns:a16="http://schemas.microsoft.com/office/drawing/2014/main" id="{6EC9F9D0-C88F-4206-9530-5C0FB3432E1C}"/>
              </a:ext>
            </a:extLst>
          </p:cNvPr>
          <p:cNvSpPr>
            <a:spLocks xmlns:a="http://schemas.openxmlformats.org/drawingml/2006/main" noGrp="1"/>
          </p:cNvSpPr>
          <p:nvPr/>
        </p:nvSpPr>
        <p:spPr>
          <a:xfrm xmlns:a="http://schemas.openxmlformats.org/drawingml/2006/main">
            <a:off x="609600" y="5238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33B"/>
                </a:solidFill>
                <a:latin typeface="Arial"/>
                <a:ea typeface="Arial"/>
                <a:cs typeface="Arial"/>
              </a:defRPr>
            </a:defPPr>
            <a:lvl1pPr algn="l">
              <a:defRPr sz="1950" b="0">
                <a:solidFill>
                  <a:srgbClr val="14233B"/>
                </a:solidFill>
                <a:latin typeface="Arial"/>
                <a:ea typeface="Arial"/>
                <a:cs typeface="Arial"/>
              </a:defRPr>
            </a:lvl1pPr>
            <a:lvl2pPr algn="l">
              <a:defRPr sz="1950" b="0">
                <a:solidFill>
                  <a:srgbClr val="14233B"/>
                </a:solidFill>
                <a:latin typeface="Arial"/>
                <a:ea typeface="Arial"/>
                <a:cs typeface="Arial"/>
              </a:defRPr>
            </a:lvl2pPr>
            <a:lvl3pPr algn="l">
              <a:defRPr sz="1950" b="0">
                <a:solidFill>
                  <a:srgbClr val="14233B"/>
                </a:solidFill>
                <a:latin typeface="Arial"/>
                <a:ea typeface="Arial"/>
                <a:cs typeface="Arial"/>
              </a:defRPr>
            </a:lvl3pPr>
            <a:lvl4pPr algn="l">
              <a:defRPr sz="1950" b="0">
                <a:solidFill>
                  <a:srgbClr val="14233B"/>
                </a:solidFill>
                <a:latin typeface="Arial"/>
                <a:ea typeface="Arial"/>
                <a:cs typeface="Arial"/>
              </a:defRPr>
            </a:lvl4pPr>
            <a:lvl5pPr algn="l">
              <a:defRPr sz="1950" b="0">
                <a:solidFill>
                  <a:srgbClr val="14233B"/>
                </a:solidFill>
                <a:latin typeface="Arial"/>
                <a:ea typeface="Arial"/>
                <a:cs typeface="Arial"/>
              </a:defRPr>
            </a:lvl5pPr>
            <a:lvl6pPr algn="l">
              <a:defRPr sz="1950" b="0">
                <a:solidFill>
                  <a:srgbClr val="14233B"/>
                </a:solidFill>
                <a:latin typeface="Arial"/>
                <a:ea typeface="Arial"/>
                <a:cs typeface="Arial"/>
              </a:defRPr>
            </a:lvl6pPr>
            <a:lvl7pPr algn="l">
              <a:defRPr sz="1950" b="0">
                <a:solidFill>
                  <a:srgbClr val="14233B"/>
                </a:solidFill>
                <a:latin typeface="Arial"/>
                <a:ea typeface="Arial"/>
                <a:cs typeface="Arial"/>
              </a:defRPr>
            </a:lvl7pPr>
            <a:lvl8pPr algn="l">
              <a:defRPr sz="1950" b="0">
                <a:solidFill>
                  <a:srgbClr val="14233B"/>
                </a:solidFill>
                <a:latin typeface="Arial"/>
                <a:ea typeface="Arial"/>
                <a:cs typeface="Arial"/>
              </a:defRPr>
            </a:lvl8pPr>
            <a:lvl9pPr algn="l">
              <a:defRPr sz="1950" b="0">
                <a:solidFill>
                  <a:srgbClr val="14233B"/>
                </a:solidFill>
                <a:latin typeface="Arial"/>
                <a:ea typeface="Arial"/>
                <a:cs typeface="Arial"/>
              </a:defRPr>
            </a:lvl9pPr>
          </a:lstStyle>
          <a:p xmlns:a="http://schemas.openxmlformats.org/drawingml/2006/main">
            <a:pPr algn="l">
              <a:defRPr sz="1950" b="0">
                <a:solidFill>
                  <a:srgbClr val="14233B"/>
                </a:solidFill>
                <a:latin typeface="Arial"/>
                <a:ea typeface="Arial"/>
                <a:cs typeface="Arial"/>
              </a:defRPr>
            </a:pPr>
            <a:r>
              <a:rPr sz="1950" b="0">
                <a:solidFill>
                  <a:srgbClr val="14233B"/>
                </a:solidFill>
                <a:latin typeface="Arial"/>
                <a:ea typeface="Arial"/>
                <a:cs typeface="Arial"/>
              </a:rPr>
              <a:t>Use solution.py in place of starter.py to check the reference.</a:t>
            </a:r>
          </a:p>
        </p:txBody>
      </p:sp>
      <p:sp>
        <p:nvSpPr>
          <p:cNvPr id="13" name="">
            <a:extLst xmlns:a="http://schemas.openxmlformats.org/drawingml/2006/main">
              <a:ext uri="{FF2B5EF4-FFF2-40B4-BE49-F238E27FC236}">
                <a16:creationId xmlns:a16="http://schemas.microsoft.com/office/drawing/2014/main" id="{284003CE-7691-4316-A4B0-2F24CB214670}"/>
              </a:ext>
            </a:extLst>
          </p:cNvPr>
          <p:cNvSpPr>
            <a:spLocks xmlns:a="http://schemas.openxmlformats.org/drawingml/2006/main" noGrp="1"/>
          </p:cNvSpPr>
          <p:nvPr/>
        </p:nvSpPr>
        <p:spPr>
          <a:xfrm xmlns:a="http://schemas.openxmlformats.org/drawingml/2006/main">
            <a:off x="10668000" y="6477000"/>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4A5B6B"/>
                </a:solidFill>
                <a:latin typeface="Arial"/>
                <a:ea typeface="Arial"/>
                <a:cs typeface="Arial"/>
              </a:defRPr>
            </a:defPPr>
            <a:lvl1pPr algn="l">
              <a:defRPr sz="1200" b="0">
                <a:solidFill>
                  <a:srgbClr val="4A5B6B"/>
                </a:solidFill>
                <a:latin typeface="Arial"/>
                <a:ea typeface="Arial"/>
                <a:cs typeface="Arial"/>
              </a:defRPr>
            </a:lvl1pPr>
            <a:lvl2pPr algn="l">
              <a:defRPr sz="1200" b="0">
                <a:solidFill>
                  <a:srgbClr val="4A5B6B"/>
                </a:solidFill>
                <a:latin typeface="Arial"/>
                <a:ea typeface="Arial"/>
                <a:cs typeface="Arial"/>
              </a:defRPr>
            </a:lvl2pPr>
            <a:lvl3pPr algn="l">
              <a:defRPr sz="1200" b="0">
                <a:solidFill>
                  <a:srgbClr val="4A5B6B"/>
                </a:solidFill>
                <a:latin typeface="Arial"/>
                <a:ea typeface="Arial"/>
                <a:cs typeface="Arial"/>
              </a:defRPr>
            </a:lvl3pPr>
            <a:lvl4pPr algn="l">
              <a:defRPr sz="1200" b="0">
                <a:solidFill>
                  <a:srgbClr val="4A5B6B"/>
                </a:solidFill>
                <a:latin typeface="Arial"/>
                <a:ea typeface="Arial"/>
                <a:cs typeface="Arial"/>
              </a:defRPr>
            </a:lvl4pPr>
            <a:lvl5pPr algn="l">
              <a:defRPr sz="1200" b="0">
                <a:solidFill>
                  <a:srgbClr val="4A5B6B"/>
                </a:solidFill>
                <a:latin typeface="Arial"/>
                <a:ea typeface="Arial"/>
                <a:cs typeface="Arial"/>
              </a:defRPr>
            </a:lvl5pPr>
            <a:lvl6pPr algn="l">
              <a:defRPr sz="1200" b="0">
                <a:solidFill>
                  <a:srgbClr val="4A5B6B"/>
                </a:solidFill>
                <a:latin typeface="Arial"/>
                <a:ea typeface="Arial"/>
                <a:cs typeface="Arial"/>
              </a:defRPr>
            </a:lvl6pPr>
            <a:lvl7pPr algn="l">
              <a:defRPr sz="1200" b="0">
                <a:solidFill>
                  <a:srgbClr val="4A5B6B"/>
                </a:solidFill>
                <a:latin typeface="Arial"/>
                <a:ea typeface="Arial"/>
                <a:cs typeface="Arial"/>
              </a:defRPr>
            </a:lvl7pPr>
            <a:lvl8pPr algn="l">
              <a:defRPr sz="1200" b="0">
                <a:solidFill>
                  <a:srgbClr val="4A5B6B"/>
                </a:solidFill>
                <a:latin typeface="Arial"/>
                <a:ea typeface="Arial"/>
                <a:cs typeface="Arial"/>
              </a:defRPr>
            </a:lvl8pPr>
            <a:lvl9pPr algn="l">
              <a:defRPr sz="1200" b="0">
                <a:solidFill>
                  <a:srgbClr val="4A5B6B"/>
                </a:solidFill>
                <a:latin typeface="Arial"/>
                <a:ea typeface="Arial"/>
                <a:cs typeface="Arial"/>
              </a:defRPr>
            </a:lvl9pPr>
          </a:lstStyle>
          <a:p xmlns:a="http://schemas.openxmlformats.org/drawingml/2006/main">
            <a:pPr algn="l">
              <a:defRPr sz="1200" b="0">
                <a:solidFill>
                  <a:srgbClr val="4A5B6B"/>
                </a:solidFill>
                <a:latin typeface="Arial"/>
                <a:ea typeface="Arial"/>
                <a:cs typeface="Arial"/>
              </a:defRPr>
            </a:pPr>
            <a:r>
              <a:rPr sz="1200" b="0">
                <a:solidFill>
                  <a:srgbClr val="4A5B6B"/>
                </a:solidFill>
                <a:latin typeface="Arial"/>
                <a:ea typeface="Arial"/>
                <a:cs typeface="Arial"/>
              </a:rPr>
              <a:t>24 / 24</a:t>
            </a:r>
          </a:p>
        </p:txBody>
      </p:sp>
    </p:spTree>
    <p:extLst>
      <p:ext uri="{BB962C8B-B14F-4D97-AF65-F5344CB8AC3E}">
        <p14:creationId xmlns:p14="http://schemas.microsoft.com/office/powerpoint/2010/main" val="4140867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2026-10-20T09:49:41.6530000Z</dcterms:created>
  <dcterms:modified xsi:type="dcterms:W3CDTF">2026-10-20T09:49:41.6530000Z</dcterms:modified>
</coreProperties>
</file>